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9" r:id="rId3"/>
    <p:sldId id="260" r:id="rId4"/>
    <p:sldId id="257" r:id="rId5"/>
    <p:sldId id="258" r:id="rId6"/>
    <p:sldId id="262" r:id="rId7"/>
    <p:sldId id="264" r:id="rId8"/>
    <p:sldId id="263" r:id="rId9"/>
    <p:sldId id="265" r:id="rId10"/>
    <p:sldId id="266" r:id="rId11"/>
    <p:sldId id="267" r:id="rId12"/>
    <p:sldId id="261" r:id="rId13"/>
    <p:sldId id="269" r:id="rId14"/>
    <p:sldId id="271" r:id="rId15"/>
    <p:sldId id="272" r:id="rId16"/>
    <p:sldId id="273" r:id="rId17"/>
    <p:sldId id="276" r:id="rId18"/>
    <p:sldId id="274" r:id="rId19"/>
    <p:sldId id="268" r:id="rId20"/>
    <p:sldId id="270" r:id="rId21"/>
    <p:sldId id="277" r:id="rId22"/>
    <p:sldId id="278" r:id="rId23"/>
    <p:sldId id="279" r:id="rId24"/>
    <p:sldId id="285" r:id="rId25"/>
    <p:sldId id="286" r:id="rId26"/>
    <p:sldId id="287" r:id="rId27"/>
    <p:sldId id="280" r:id="rId28"/>
    <p:sldId id="281" r:id="rId29"/>
    <p:sldId id="282" r:id="rId30"/>
    <p:sldId id="283" r:id="rId31"/>
    <p:sldId id="284" r:id="rId32"/>
    <p:sldId id="288" r:id="rId33"/>
    <p:sldId id="289" r:id="rId34"/>
    <p:sldId id="290" r:id="rId35"/>
    <p:sldId id="291" r:id="rId36"/>
    <p:sldId id="292" r:id="rId37"/>
    <p:sldId id="294" r:id="rId38"/>
    <p:sldId id="293" r:id="rId39"/>
    <p:sldId id="296" r:id="rId40"/>
    <p:sldId id="302" r:id="rId41"/>
    <p:sldId id="303" r:id="rId42"/>
    <p:sldId id="306" r:id="rId43"/>
    <p:sldId id="308" r:id="rId44"/>
    <p:sldId id="309" r:id="rId45"/>
    <p:sldId id="310" r:id="rId46"/>
    <p:sldId id="298" r:id="rId47"/>
    <p:sldId id="299" r:id="rId48"/>
    <p:sldId id="311" r:id="rId49"/>
    <p:sldId id="313" r:id="rId50"/>
    <p:sldId id="312" r:id="rId51"/>
    <p:sldId id="314" r:id="rId52"/>
    <p:sldId id="315" r:id="rId53"/>
  </p:sldIdLst>
  <p:sldSz cx="12192000" cy="6858000"/>
  <p:notesSz cx="6858000" cy="9144000"/>
  <p:embeddedFontLst>
    <p:embeddedFont>
      <p:font typeface="Cambria Math" panose="02040503050406030204" pitchFamily="18" charset="0"/>
      <p:regular r:id="rId55"/>
    </p:embeddedFont>
    <p:embeddedFont>
      <p:font typeface="Paperlogy 3 Light" pitchFamily="2" charset="-127"/>
      <p:regular r:id="rId56"/>
    </p:embeddedFont>
    <p:embeddedFont>
      <p:font typeface="Paperlogy 4 Regular" pitchFamily="2" charset="-127"/>
      <p:regular r:id="rId57"/>
    </p:embeddedFont>
    <p:embeddedFont>
      <p:font typeface="Paperlogy 7 Bold" pitchFamily="2" charset="-127"/>
      <p:bold r:id="rId58"/>
    </p:embeddedFont>
    <p:embeddedFont>
      <p:font typeface="Paperlogy 9 Black" pitchFamily="2" charset="-127"/>
      <p:bold r:id="rId59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14"/>
  </p:normalViewPr>
  <p:slideViewPr>
    <p:cSldViewPr snapToGrid="0">
      <p:cViewPr varScale="1">
        <p:scale>
          <a:sx n="96" d="100"/>
          <a:sy n="96" d="100"/>
        </p:scale>
        <p:origin x="17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49A8D-5982-C34F-95E4-3637ABCD973B}" type="datetimeFigureOut">
              <a:rPr kumimoji="1" lang="ko-Kore-KR" altLang="en-US" smtClean="0"/>
              <a:t>2026. 3. 16.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B682E-406B-C642-919A-E41317146CC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71942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B682E-406B-C642-919A-E41317146CC6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73080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B682E-406B-C642-919A-E41317146CC6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20233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B682E-406B-C642-919A-E41317146CC6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25050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B682E-406B-C642-919A-E41317146CC6}" type="slidenum">
              <a:rPr kumimoji="1" lang="ko-Kore-KR" altLang="en-US" smtClean="0"/>
              <a:t>22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68518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B682E-406B-C642-919A-E41317146CC6}" type="slidenum">
              <a:rPr kumimoji="1" lang="ko-Kore-KR" altLang="en-US" smtClean="0"/>
              <a:t>27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00461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B682E-406B-C642-919A-E41317146CC6}" type="slidenum">
              <a:rPr kumimoji="1" lang="ko-Kore-KR" altLang="en-US" smtClean="0"/>
              <a:t>30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47503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B682E-406B-C642-919A-E41317146CC6}" type="slidenum">
              <a:rPr kumimoji="1" lang="ko-Kore-KR" altLang="en-US" smtClean="0"/>
              <a:t>33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4162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B682E-406B-C642-919A-E41317146CC6}" type="slidenum">
              <a:rPr kumimoji="1" lang="ko-Kore-KR" altLang="en-US" smtClean="0"/>
              <a:t>38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85692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B682E-406B-C642-919A-E41317146CC6}" type="slidenum">
              <a:rPr kumimoji="1" lang="ko-Kore-KR" altLang="en-US" smtClean="0"/>
              <a:t>47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00451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9372734B-2A09-4AA1-669D-38EDA9449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D3835E-BD92-E87C-ACD8-3934D53E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88B2-AB52-3F4A-9B68-2A6FDD157811}" type="datetime1">
              <a:rPr kumimoji="1" lang="ko-Kore-KR" altLang="en-US" smtClean="0"/>
              <a:t>2026. 3. 16.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B3E5D8-61B5-DFE5-B94B-8E5035A68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 dirty="0" err="1"/>
              <a:t>부채널</a:t>
            </a:r>
            <a:r>
              <a:rPr kumimoji="1" lang="ko-KR" altLang="en-US" dirty="0"/>
              <a:t> 공모전</a:t>
            </a:r>
            <a:r>
              <a:rPr kumimoji="1" lang="en-US" altLang="ko-KR" dirty="0"/>
              <a:t>: </a:t>
            </a:r>
            <a:r>
              <a:rPr kumimoji="1" lang="en" altLang="ko-Kore-KR" dirty="0"/>
              <a:t>AI </a:t>
            </a:r>
            <a:r>
              <a:rPr kumimoji="1" lang="ko-KR" altLang="en-US" dirty="0"/>
              <a:t>기반 </a:t>
            </a:r>
            <a:r>
              <a:rPr kumimoji="1" lang="en" altLang="ko-Kore-KR" dirty="0"/>
              <a:t>KCMVP </a:t>
            </a:r>
            <a:r>
              <a:rPr kumimoji="1" lang="ko-KR" altLang="en-US" dirty="0"/>
              <a:t>사전 적합성 검증 도구</a:t>
            </a:r>
            <a:endParaRPr kumimoji="1" lang="ko-Kore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70CC9-BDA0-D1E2-1760-E96835016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D5EFCD4A-0499-4B8B-13FE-6CC397851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5299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6D88B-17BD-CFA5-54B0-305AC6323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E4F668-8CD4-9B12-1301-7E417D9D6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5A3C93-E347-2B64-562D-EEE4EEBC6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B89E-6822-0843-A80A-9CDBB9B66311}" type="datetime1">
              <a:rPr kumimoji="1" lang="ko-Kore-KR" altLang="en-US" smtClean="0"/>
              <a:t>2026. 3. 16.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F661EB-C6FF-F73E-46AA-D5BE60B18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36CC0E-C05F-9DCE-B4C8-273DA01E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80618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39C9F2-88D9-A581-9B00-0D5F00DA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2BEC00-D69E-0482-EEEB-FD2BFFF01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2D8C6E-2DD5-1B18-39F5-8D080A8FA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9B7EC-8419-7D44-83B7-58B45E3A05ED}" type="datetime1">
              <a:rPr kumimoji="1" lang="ko-Kore-KR" altLang="en-US" smtClean="0"/>
              <a:t>2026. 3. 16.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DF0C4D-BFB6-D2B3-8A80-D5B59E54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2EFBCC-E14F-E4A1-391B-168DFE94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21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FBB2D7-3745-26C9-0CE8-2D1802BE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8EDCE0-ACF6-9FB7-73FF-BBCFB22273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6F2F08-1E34-9E2E-6097-3E1BDC7A6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783FF1-B649-845D-B0F2-799F8173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20D4-B0BB-7C4F-B0E1-03E22F5D2DA5}" type="datetime1">
              <a:rPr kumimoji="1" lang="ko-Kore-KR" altLang="en-US" smtClean="0"/>
              <a:t>2026. 3. 16.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36D8DE-DFA1-46F8-6C82-9ACCD3C8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7CDE83-EE27-3E0C-E751-D766BEA3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711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4F317-E43C-5595-FF61-793F975EB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0ABF65-0155-8D92-7CD4-A5DD914AD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1CC496-845E-3C99-9543-AC56E1828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109880-62E1-98A6-19EC-427E1F465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AE26E2-1AAB-2874-8D72-AF19ABD0C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2DF181-94E0-0B2A-AC8C-141994A24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C054C-30AD-1C44-A729-2AFE3951A891}" type="datetime1">
              <a:rPr kumimoji="1" lang="ko-Kore-KR" altLang="en-US" smtClean="0"/>
              <a:t>2026. 3. 16.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34BF516-38D7-198C-0490-F4868DF00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2BF605D-7CD5-0872-0CE7-02A78647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09865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3F768C-E0D3-3F39-7831-45F95C561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032140-B133-A577-D09E-FDC37497B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EC7B-9503-5D45-8148-7FCCCAAB0749}" type="datetime1">
              <a:rPr kumimoji="1" lang="ko-Kore-KR" altLang="en-US" smtClean="0"/>
              <a:t>2026. 3. 16.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575310-9E88-FE26-EC88-309A8A24E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99B918-6357-0721-1FFF-66C12A541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03801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4F5464-C8D0-078A-F76A-E68A3D195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04558-5BD8-8A41-A840-8F9B4988B6A9}" type="datetime1">
              <a:rPr kumimoji="1" lang="ko-Kore-KR" altLang="en-US" smtClean="0"/>
              <a:t>2026. 3. 16.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B7EE4C-0ADE-EE61-5B01-7B9747D56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8BF5CA-C985-B2D0-62AA-3EB5DEDC7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7025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F1C6DE-EC7F-4CCD-04F7-3A1D39CD4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285295-D5C1-E088-2B56-60BD0D5B8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DD947F-C3D2-14B4-DE49-29B903B98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44F95-DD56-5BB3-BC5F-B2758B727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C5BC7-20B3-B54B-ACA4-96D92113E0DD}" type="datetime1">
              <a:rPr kumimoji="1" lang="ko-Kore-KR" altLang="en-US" smtClean="0"/>
              <a:t>2026. 3. 16.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EA4E26-08AE-846C-E48A-D14AE886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41F452-BED2-FA35-C3A3-BB75178D2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7451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1C305-2E44-D75C-C2A2-2AE476019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C3F3CBC-6CA2-33E7-CE70-5B226525AE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12118-CC81-F60B-372D-9BA66D578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FE707D-909A-3C23-8E5C-7F0381DC9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F657-B428-1741-A1C6-D408C03D7AEA}" type="datetime1">
              <a:rPr kumimoji="1" lang="ko-Kore-KR" altLang="en-US" smtClean="0"/>
              <a:t>2026. 3. 16.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604508-21A4-C2EE-8362-A752E684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805A78-4FC6-AE6F-0F28-16EDA780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35173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AA584-6C83-9388-D831-D772D8BE8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426441-D44E-D63F-0457-657D515B1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4A88BE-8864-C680-5884-FF899F5F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9BFA-62F8-A74E-BF42-A25DED82E3A2}" type="datetime1">
              <a:rPr kumimoji="1" lang="ko-Kore-KR" altLang="en-US" smtClean="0"/>
              <a:t>2026. 3. 16.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1C8821-7253-B599-3FF6-DA564070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316C66-FFFF-716A-8BD0-F80AEB7C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4854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572494-3CA5-0620-6AD8-A2D8ACD85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865343-361A-2A09-4B21-D12B2CBFB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F1E1C8-E95D-A23D-D4A2-138DE2FEC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AE26-276D-B842-AC50-FD33CA089DFF}" type="datetime1">
              <a:rPr kumimoji="1" lang="ko-Kore-KR" altLang="en-US" smtClean="0"/>
              <a:t>2026. 3. 16.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7B1404-A675-6557-0FC7-19D655D69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51A1A-12DC-E443-6BEC-11DDA603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22488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184D87-E449-F2EA-4FE2-65302A4B9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2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A91C2B-FADB-F61A-BCF8-41664E9A4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87736"/>
            <a:ext cx="10515600" cy="4789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B10FBD-EE45-8D2E-A013-4C396A0E4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Paperlogy 3 Light" pitchFamily="2" charset="-127"/>
                <a:ea typeface="Paperlogy 3 Light" pitchFamily="2" charset="-127"/>
              </a:defRPr>
            </a:lvl1pPr>
          </a:lstStyle>
          <a:p>
            <a:fld id="{B7710A4B-80D0-6043-9AFE-F895AD3CD9B6}" type="datetime1">
              <a:rPr kumimoji="1" lang="ko-Kore-KR" altLang="en-US" smtClean="0"/>
              <a:t>2026. 3. 16.</a:t>
            </a:fld>
            <a:endParaRPr kumimoji="1" lang="ko-Kore-KR" altLang="en-US" dirty="0">
              <a:latin typeface="Paperlogy 3 Light" pitchFamily="2" charset="-127"/>
              <a:ea typeface="Paperlogy 3 Light" pitchFamily="2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6DAD1E-A25C-3B8F-5FF3-5D071F9E1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Paperlogy 3 Light" pitchFamily="2" charset="-127"/>
                <a:ea typeface="Paperlogy 3 Light" pitchFamily="2" charset="-127"/>
              </a:defRPr>
            </a:lvl1pPr>
          </a:lstStyle>
          <a:p>
            <a:r>
              <a:rPr kumimoji="1" lang="ko-Kore-KR" altLang="en-US" dirty="0">
                <a:latin typeface="Paperlogy 3 Light" pitchFamily="2" charset="-127"/>
                <a:ea typeface="Paperlogy 3 Light" pitchFamily="2" charset="-127"/>
              </a:rPr>
              <a:t>부채널</a:t>
            </a:r>
            <a:r>
              <a:rPr kumimoji="1" lang="ko-KR" altLang="en-US" dirty="0">
                <a:latin typeface="Paperlogy 3 Light" pitchFamily="2" charset="-127"/>
                <a:ea typeface="Paperlogy 3 Light" pitchFamily="2" charset="-127"/>
              </a:rPr>
              <a:t> 공모전</a:t>
            </a:r>
            <a:r>
              <a:rPr kumimoji="1" lang="en-US" altLang="ko-KR" dirty="0">
                <a:latin typeface="Paperlogy 3 Light" pitchFamily="2" charset="-127"/>
                <a:ea typeface="Paperlogy 3 Light" pitchFamily="2" charset="-127"/>
              </a:rPr>
              <a:t>:</a:t>
            </a:r>
            <a:r>
              <a:rPr kumimoji="1" lang="ko-KR" altLang="en-US" dirty="0">
                <a:latin typeface="Paperlogy 3 Light" pitchFamily="2" charset="-127"/>
                <a:ea typeface="Paperlogy 3 Light" pitchFamily="2" charset="-127"/>
              </a:rPr>
              <a:t> </a:t>
            </a:r>
            <a:r>
              <a:rPr kumimoji="1" lang="en-US" altLang="ko-KR" dirty="0">
                <a:latin typeface="Paperlogy 3 Light" pitchFamily="2" charset="-127"/>
                <a:ea typeface="Paperlogy 3 Light" pitchFamily="2" charset="-127"/>
              </a:rPr>
              <a:t>AI</a:t>
            </a:r>
            <a:r>
              <a:rPr kumimoji="1" lang="ko-KR" altLang="en-US" dirty="0">
                <a:latin typeface="Paperlogy 3 Light" pitchFamily="2" charset="-127"/>
                <a:ea typeface="Paperlogy 3 Light" pitchFamily="2" charset="-127"/>
              </a:rPr>
              <a:t> 기반</a:t>
            </a:r>
            <a:r>
              <a:rPr kumimoji="1" lang="en-US" altLang="ko-KR" dirty="0">
                <a:latin typeface="Paperlogy 3 Light" pitchFamily="2" charset="-127"/>
                <a:ea typeface="Paperlogy 3 Light" pitchFamily="2" charset="-127"/>
              </a:rPr>
              <a:t> KCMVP</a:t>
            </a:r>
            <a:r>
              <a:rPr kumimoji="1" lang="ko-KR" altLang="en-US" dirty="0">
                <a:latin typeface="Paperlogy 3 Light" pitchFamily="2" charset="-127"/>
                <a:ea typeface="Paperlogy 3 Light" pitchFamily="2" charset="-127"/>
              </a:rPr>
              <a:t> 사전 점검</a:t>
            </a:r>
            <a:endParaRPr kumimoji="1" lang="ko-Kore-KR" altLang="en-US" dirty="0">
              <a:latin typeface="Paperlogy 3 Light" pitchFamily="2" charset="-127"/>
              <a:ea typeface="Paperlogy 3 Light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C5AD39-7269-DF25-3789-CC648EC5F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Paperlogy 3 Light" pitchFamily="2" charset="-127"/>
                <a:ea typeface="Paperlogy 3 Light" pitchFamily="2" charset="-127"/>
              </a:defRPr>
            </a:lvl1pPr>
          </a:lstStyle>
          <a:p>
            <a:fld id="{017FB9F7-4046-8E4D-9F94-47686FFB4962}" type="slidenum">
              <a:rPr kumimoji="1" lang="ko-Kore-KR" altLang="en-US" smtClean="0"/>
              <a:pPr/>
              <a:t>‹#›</a:t>
            </a:fld>
            <a:endParaRPr kumimoji="1" lang="ko-Kore-KR" altLang="en-US" dirty="0">
              <a:latin typeface="Paperlogy 3 Light" pitchFamily="2" charset="-127"/>
              <a:ea typeface="Paperlogy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9096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Paperlogy 7 Bold" pitchFamily="2" charset="-127"/>
          <a:ea typeface="Paperlogy 7 Bold" pitchFamily="2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Paperlogy 3 Light" pitchFamily="2" charset="-127"/>
          <a:ea typeface="Paperlogy 3 Light" pitchFamily="2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aperlogy 3 Light" pitchFamily="2" charset="-127"/>
          <a:ea typeface="Paperlogy 3 Light" pitchFamily="2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Paperlogy 3 Light" pitchFamily="2" charset="-127"/>
          <a:ea typeface="Paperlogy 3 Light" pitchFamily="2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aperlogy 3 Light" pitchFamily="2" charset="-127"/>
          <a:ea typeface="Paperlogy 3 Light" pitchFamily="2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aperlogy 3 Light" pitchFamily="2" charset="-127"/>
          <a:ea typeface="Paperlogy 3 Light" pitchFamily="2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eed.kisa.or.kr/kisa/kcmvp/EgovSummary.do" TargetMode="External"/><Relationship Id="rId2" Type="http://schemas.openxmlformats.org/officeDocument/2006/relationships/hyperlink" Target="https://www.ncsc.go.kr/PageLink.do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ed.kisa.or.kr/kisa/algorithm/EgovLeaInfo.do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eed.kisa.or.kr/kisa/Board/203/detailView.do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min.ai/" TargetMode="External"/><Relationship Id="rId2" Type="http://schemas.openxmlformats.org/officeDocument/2006/relationships/hyperlink" Target="https://cloud.google.com/document-ai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csc.go.kr/PageLink.do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mistralai/Mistral-7B-Instruct-v0.3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FA31C-DABD-D946-3C92-0A8CC82AF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97429"/>
            <a:ext cx="9144000" cy="1212533"/>
          </a:xfrm>
        </p:spPr>
        <p:txBody>
          <a:bodyPr/>
          <a:lstStyle/>
          <a:p>
            <a:pPr algn="ctr"/>
            <a:r>
              <a:rPr kumimoji="1" lang="en-US" altLang="ko-Kore-KR" dirty="0"/>
              <a:t>AI </a:t>
            </a:r>
            <a:r>
              <a:rPr kumimoji="1" lang="ko-KR" altLang="en-US" dirty="0"/>
              <a:t>기반 </a:t>
            </a:r>
            <a:r>
              <a:rPr kumimoji="1" lang="en-US" altLang="ko-KR" dirty="0"/>
              <a:t>KCMVP </a:t>
            </a:r>
            <a:r>
              <a:rPr kumimoji="1" lang="ko-KR" altLang="en-US" dirty="0"/>
              <a:t>사전 적합성 검증 도구</a:t>
            </a:r>
            <a:endParaRPr kumimoji="1" lang="ko-Kore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E9EF27-23E1-6D78-A58E-383C3C77AC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ore-KR" dirty="0"/>
              <a:t>2</a:t>
            </a:r>
            <a:r>
              <a:rPr kumimoji="1" lang="en-US" altLang="ko-KR" dirty="0"/>
              <a:t>026.02.25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부채널</a:t>
            </a:r>
            <a:r>
              <a:rPr kumimoji="1" lang="ko-KR" altLang="en-US" dirty="0"/>
              <a:t> 공모전 </a:t>
            </a:r>
            <a:r>
              <a:rPr kumimoji="1" lang="en-US" altLang="ko-KR" dirty="0"/>
              <a:t>Project L3</a:t>
            </a:r>
          </a:p>
          <a:p>
            <a:r>
              <a:rPr kumimoji="1" lang="ko-KR" altLang="en-US" b="1" dirty="0">
                <a:solidFill>
                  <a:schemeClr val="bg1"/>
                </a:solidFill>
                <a:highlight>
                  <a:srgbClr val="000000"/>
                </a:highlight>
              </a:rPr>
              <a:t>로드맵 및 개요 작성</a:t>
            </a:r>
            <a:endParaRPr kumimoji="1" lang="en-US" altLang="ko-KR" b="1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kumimoji="1" lang="en-US" altLang="ko-KR" dirty="0"/>
              <a:t>2394025</a:t>
            </a:r>
            <a:r>
              <a:rPr kumimoji="1" lang="ko-KR" altLang="en-US" dirty="0"/>
              <a:t> 조수빈</a:t>
            </a:r>
            <a:endParaRPr kumimoji="1" lang="en-US" altLang="ko-KR" dirty="0"/>
          </a:p>
          <a:p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B64255-C695-0216-ED11-32EB80FA7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DAF1E0-7C1A-1211-7EFD-23F7FDD3F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81441-690E-674E-27FE-5EEB5981FD7B}"/>
              </a:ext>
            </a:extLst>
          </p:cNvPr>
          <p:cNvSpPr txBox="1"/>
          <p:nvPr/>
        </p:nvSpPr>
        <p:spPr>
          <a:xfrm>
            <a:off x="4892233" y="1024879"/>
            <a:ext cx="24075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8800" b="1" dirty="0">
                <a:latin typeface="Paperlogy 9 Black" pitchFamily="2" charset="-127"/>
                <a:ea typeface="Paperlogy 9 Black" pitchFamily="2" charset="-127"/>
              </a:rPr>
              <a:t>1</a:t>
            </a:r>
            <a:endParaRPr kumimoji="1" lang="ko-Kore-KR" altLang="en-US" sz="8800" b="1" dirty="0">
              <a:latin typeface="Paperlogy 9 Black" pitchFamily="2" charset="-127"/>
              <a:ea typeface="Paperlogy 9 Black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288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00"/>
    </mc:Choice>
    <mc:Fallback xmlns="">
      <p:transition spd="slow" advTm="58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7CAE1-255E-2D56-AC4C-EAFB2D68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4AEBA9-D96F-B08E-A491-6AD75D9A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B6BD04-73AA-0AC6-17F3-A5EDA2FA6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  <p:pic>
        <p:nvPicPr>
          <p:cNvPr id="11" name="내용 개체 틀 10" descr="텍스트, 폰트, 번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E3C022-1A32-ECC2-6A81-510481689D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099" y="256208"/>
            <a:ext cx="10989109" cy="61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5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9"/>
    </mc:Choice>
    <mc:Fallback xmlns="">
      <p:transition spd="slow" advTm="290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0CD37-9F7B-9C99-B374-DE0082910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ore-KR" altLang="en-US"/>
          </a:p>
        </p:txBody>
      </p:sp>
      <p:pic>
        <p:nvPicPr>
          <p:cNvPr id="7" name="내용 개체 틀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F6B5BF-E459-8F8D-4882-044248174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2443" y="203717"/>
            <a:ext cx="10867113" cy="6111069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A15D6E-D714-116F-150F-4064CB1E6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51CF40-FFEC-BB89-1328-97DF5AA7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95138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A2DF47-5255-EA9E-7744-8765A7787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</a:t>
            </a:r>
            <a:r>
              <a:rPr kumimoji="1" lang="en-US" altLang="ko-Kore-KR" dirty="0"/>
              <a:t>KCMVP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BBE827D-3F36-7649-A5AC-887D5D2EE8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ko-KR" altLang="en-US" b="1" dirty="0"/>
                  <a:t>한국형 </a:t>
                </a:r>
                <a:r>
                  <a:rPr kumimoji="1" lang="ko-KR" altLang="en-US" b="1" dirty="0" err="1"/>
                  <a:t>암호모듈</a:t>
                </a:r>
                <a:r>
                  <a:rPr kumimoji="1" lang="ko-KR" altLang="en-US" b="1" dirty="0"/>
                  <a:t> 검증제도</a:t>
                </a:r>
                <a:r>
                  <a:rPr kumimoji="1" lang="en-US" altLang="ko-KR" b="1" dirty="0"/>
                  <a:t>(KCMVP)</a:t>
                </a:r>
              </a:p>
              <a:p>
                <a:pPr lvl="1"/>
                <a:r>
                  <a:rPr kumimoji="1" lang="en-US" altLang="ko-KR" dirty="0"/>
                  <a:t>(KCMVP, Korea Cryptographic Module Validation Program)</a:t>
                </a:r>
              </a:p>
              <a:p>
                <a:pPr lvl="1"/>
                <a:r>
                  <a:rPr kumimoji="1" lang="en-US" altLang="ko-KR" dirty="0"/>
                  <a:t>2009</a:t>
                </a:r>
                <a:r>
                  <a:rPr kumimoji="1" lang="ko-KR" altLang="en-US" dirty="0"/>
                  <a:t>년부터 시행하고 있으며</a:t>
                </a:r>
                <a:r>
                  <a:rPr kumimoji="1" lang="en-US" altLang="ko-KR" dirty="0"/>
                  <a:t>,</a:t>
                </a:r>
                <a:r>
                  <a:rPr kumimoji="1" lang="ko-KR" altLang="en-US" dirty="0"/>
                  <a:t> 정보보호를 위해 국가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kumimoji="1" lang="ko-KR" altLang="en-US" b="0" dirty="0"/>
                  <a:t>공공기관에서  비밀이 아닌 업무 자료를 보호하기 위해서는</a:t>
                </a:r>
                <a:r>
                  <a:rPr kumimoji="1" lang="en-US" altLang="ko-KR" b="0" dirty="0"/>
                  <a:t> KCMVP</a:t>
                </a:r>
                <a:r>
                  <a:rPr kumimoji="1" lang="ko-KR" altLang="en-US" b="0" dirty="0"/>
                  <a:t>에서 </a:t>
                </a:r>
                <a:r>
                  <a:rPr kumimoji="1" lang="ko-KR" altLang="en-US" b="0" dirty="0" err="1"/>
                  <a:t>인증받은</a:t>
                </a:r>
                <a:r>
                  <a:rPr kumimoji="1" lang="ko-KR" altLang="en-US" b="0" dirty="0"/>
                  <a:t> </a:t>
                </a:r>
                <a:r>
                  <a:rPr kumimoji="1" lang="ko-KR" altLang="en-US" b="0" dirty="0" err="1"/>
                  <a:t>암호모듈의</a:t>
                </a:r>
                <a:r>
                  <a:rPr kumimoji="1" lang="ko-KR" altLang="en-US" b="0" dirty="0"/>
                  <a:t> 사용을 요구하고 있음</a:t>
                </a:r>
                <a:endParaRPr kumimoji="1" lang="en-US" altLang="ko-KR" b="0" dirty="0"/>
              </a:p>
              <a:p>
                <a:pPr lvl="1"/>
                <a:endParaRPr kumimoji="1" lang="en-US" altLang="ko-KR" b="0" dirty="0"/>
              </a:p>
              <a:p>
                <a:r>
                  <a:rPr kumimoji="1" lang="ko-KR" altLang="en-US" b="1" dirty="0"/>
                  <a:t>검증필 </a:t>
                </a:r>
                <a:r>
                  <a:rPr kumimoji="1" lang="ko-KR" altLang="en-US" b="1" dirty="0" err="1"/>
                  <a:t>암호모듈</a:t>
                </a:r>
                <a:endParaRPr kumimoji="1" lang="en-US" altLang="ko-KR" b="1" dirty="0"/>
              </a:p>
              <a:p>
                <a:pPr lvl="1"/>
                <a:r>
                  <a:rPr kumimoji="1" lang="ko-KR" altLang="en-US" dirty="0"/>
                  <a:t>암호 기술이 안전하게 구현되었는지 국가</a:t>
                </a:r>
                <a:r>
                  <a:rPr kumimoji="1" lang="en-US" altLang="ko-KR" dirty="0"/>
                  <a:t>(</a:t>
                </a:r>
                <a:r>
                  <a:rPr kumimoji="1" lang="ko-KR" altLang="en-US" dirty="0"/>
                  <a:t>국정원</a:t>
                </a:r>
                <a:r>
                  <a:rPr kumimoji="1" lang="en-US" altLang="ko-KR" dirty="0"/>
                  <a:t>)</a:t>
                </a:r>
                <a:r>
                  <a:rPr kumimoji="1" lang="ko-KR" altLang="en-US" dirty="0"/>
                  <a:t>가 확인하고 승인한 제품</a:t>
                </a:r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KCMVP </a:t>
                </a:r>
                <a:r>
                  <a:rPr kumimoji="1" lang="ko-KR" altLang="en-US" dirty="0"/>
                  <a:t>인증 통과</a:t>
                </a:r>
                <a:r>
                  <a:rPr kumimoji="1" lang="en-US" altLang="ko-KR" dirty="0"/>
                  <a:t>•</a:t>
                </a:r>
                <a:r>
                  <a:rPr kumimoji="1" lang="ko-KR" altLang="en-US" dirty="0"/>
                  <a:t>표준 암호 알고리즘 사용이 통과되어야 함</a:t>
                </a:r>
                <a:endParaRPr kumimoji="1" lang="en-US" altLang="ko-KR" dirty="0"/>
              </a:p>
              <a:p>
                <a:pPr lvl="1"/>
                <a:r>
                  <a:rPr kumimoji="1" lang="ko-KR" altLang="en-US" dirty="0"/>
                  <a:t>국가</a:t>
                </a:r>
                <a:r>
                  <a:rPr kumimoji="1" lang="en-US" altLang="ko-KR" dirty="0"/>
                  <a:t>•</a:t>
                </a:r>
                <a:r>
                  <a:rPr kumimoji="1" lang="ko-KR" altLang="en-US" dirty="0"/>
                  <a:t>공공기관 사업에서는 검증필 </a:t>
                </a:r>
                <a:r>
                  <a:rPr kumimoji="1" lang="ko-KR" altLang="en-US" dirty="0" err="1"/>
                  <a:t>암호모듈</a:t>
                </a:r>
                <a:r>
                  <a:rPr kumimoji="1" lang="ko-KR" altLang="en-US" dirty="0"/>
                  <a:t> 필수 탑재가 원칙</a:t>
                </a:r>
                <a:endParaRPr kumimoji="1" lang="en-US" altLang="ko-KR" dirty="0"/>
              </a:p>
              <a:p>
                <a:pPr lvl="1"/>
                <a:endParaRPr kumimoji="1"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BBE827D-3F36-7649-A5AC-887D5D2EE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116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DBDCD5-1E42-A909-1F26-89ECD8FF3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BF1285-107B-8F9A-637C-7C430B1D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8640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E182B0-DCEF-F69F-6BF8-B6C3BC3A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2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ko-Kore-KR" altLang="en-US" dirty="0"/>
              <a:t>기존</a:t>
            </a:r>
            <a:r>
              <a:rPr kumimoji="1" lang="ko-KR" altLang="en-US" dirty="0"/>
              <a:t> </a:t>
            </a:r>
            <a:r>
              <a:rPr kumimoji="1" lang="en-US" altLang="ko-KR" dirty="0"/>
              <a:t>KCMVP </a:t>
            </a:r>
            <a:r>
              <a:rPr kumimoji="1" lang="ko-KR" altLang="en-US" dirty="0"/>
              <a:t>검증 절차의 문제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E329C3-3942-9324-E90E-C37FD7C57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48375"/>
            <a:ext cx="10515600" cy="2423825"/>
          </a:xfrm>
        </p:spPr>
        <p:txBody>
          <a:bodyPr>
            <a:normAutofit lnSpcReduction="10000"/>
          </a:bodyPr>
          <a:lstStyle/>
          <a:p>
            <a:r>
              <a:rPr kumimoji="1" lang="ko-Kore-KR" altLang="en-US" sz="2000" dirty="0"/>
              <a:t>업체</a:t>
            </a:r>
            <a:r>
              <a:rPr kumimoji="1" lang="ko-KR" altLang="en-US" sz="2000" dirty="0"/>
              <a:t> 내부에서 개발하고 문서를 준비하는 시간에 상당한 시간 소요</a:t>
            </a:r>
            <a:endParaRPr kumimoji="1" lang="en-US" altLang="ko-KR" sz="2000" dirty="0"/>
          </a:p>
          <a:p>
            <a:r>
              <a:rPr kumimoji="1" lang="ko-KR" altLang="en-US" sz="2000" dirty="0"/>
              <a:t>기관에서 검증 받는 기간이 평균 </a:t>
            </a:r>
            <a:r>
              <a:rPr kumimoji="1" lang="en-US" altLang="ko-KR" sz="2000" dirty="0"/>
              <a:t>6</a:t>
            </a:r>
            <a:r>
              <a:rPr kumimoji="1" lang="ko-KR" altLang="en-US" sz="2000" dirty="0"/>
              <a:t>개월 </a:t>
            </a:r>
            <a:r>
              <a:rPr kumimoji="1" lang="en-US" altLang="ko-KR" sz="2000" dirty="0"/>
              <a:t>~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1</a:t>
            </a:r>
            <a:r>
              <a:rPr kumimoji="1" lang="ko-KR" altLang="en-US" sz="2000" dirty="0"/>
              <a:t>년의 상당한 시간 소요</a:t>
            </a:r>
            <a:endParaRPr kumimoji="1" lang="en-US" altLang="ko-KR" sz="2000" dirty="0"/>
          </a:p>
          <a:p>
            <a:r>
              <a:rPr kumimoji="1" lang="ko-KR" altLang="en-US" sz="2000" dirty="0"/>
              <a:t>만약 보완 요구나 반려가 된다면 또다시 이를 수정하여 재시험 및 검증을 받아야 함</a:t>
            </a:r>
            <a:endParaRPr kumimoji="1" lang="en-US" altLang="ko-KR" sz="2000" dirty="0"/>
          </a:p>
          <a:p>
            <a:r>
              <a:rPr kumimoji="1" lang="ko-KR" altLang="en-US" sz="2000" dirty="0"/>
              <a:t>이를 다른 기업에 맡겨서 보완하려고 하면 매우 큰 비용이 소모됨</a:t>
            </a:r>
            <a:endParaRPr kumimoji="1" lang="en-US" altLang="ko-KR" sz="2000" dirty="0"/>
          </a:p>
          <a:p>
            <a:r>
              <a:rPr kumimoji="1" lang="ko-KR" altLang="en-US" b="1" dirty="0"/>
              <a:t>따라서 사전 점검을 통해 우리의 프로젝트 도구가 제출 전 단 </a:t>
            </a:r>
            <a:r>
              <a:rPr kumimoji="1" lang="en-US" altLang="ko-KR" b="1" dirty="0"/>
              <a:t>1~2</a:t>
            </a:r>
            <a:r>
              <a:rPr kumimoji="1" lang="ko-KR" altLang="en-US" b="1" dirty="0"/>
              <a:t>회의 보완 요구만 줄여주더라도</a:t>
            </a:r>
            <a:r>
              <a:rPr kumimoji="1" lang="en-US" altLang="ko-KR" b="1" dirty="0"/>
              <a:t>,</a:t>
            </a:r>
            <a:r>
              <a:rPr kumimoji="1" lang="ko-KR" altLang="en-US" b="1" dirty="0"/>
              <a:t> 출시 기간과 인건비를 매우 단축할 수 있음</a:t>
            </a:r>
            <a:endParaRPr kumimoji="1" lang="ko-Kore-KR" altLang="en-US" b="1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247507-8072-97F3-83E0-A8537A112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3A0D85-29EC-A403-1D92-C15AAF1B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pic>
        <p:nvPicPr>
          <p:cNvPr id="8" name="그림 7" descr="1. 시험신청:신청기관(개발업체)-&gt;시험기관 2. 시험계약:시험기관-&gt;신청기관(개발업체) 3. 시험결과보고:시험기관-&gt;검증기관(국가정보원) 4. 시험·검증 결과 심의 의결:검증기관(국가정보원)-&gt;암호모듈검증위원회 5. 심의결과통보:검증기관(국가정보원)-&gt;시험기관 6. 목록등재:검증기관(국가정보원)-&gt;검증필 암호 모듈 목록 공개">
            <a:extLst>
              <a:ext uri="{FF2B5EF4-FFF2-40B4-BE49-F238E27FC236}">
                <a16:creationId xmlns:a16="http://schemas.microsoft.com/office/drawing/2014/main" id="{AD506056-6D5F-5E11-0EAC-FA5692E38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940" y="1345476"/>
            <a:ext cx="9112120" cy="240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08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7A8322-AE56-1F59-0C75-2135619F4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구현 목표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1C92FA-CEE8-5625-09E2-07DCFAC7A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b="1" dirty="0"/>
              <a:t>AI </a:t>
            </a:r>
            <a:r>
              <a:rPr kumimoji="1" lang="ko-KR" altLang="en-US" b="1" dirty="0"/>
              <a:t>기반 </a:t>
            </a:r>
            <a:r>
              <a:rPr kumimoji="1" lang="en-US" altLang="ko-Kore-KR" b="1" dirty="0"/>
              <a:t>KCMVP </a:t>
            </a:r>
            <a:r>
              <a:rPr kumimoji="1" lang="ko-KR" altLang="en-US" b="1" dirty="0"/>
              <a:t>사전 적합성 점검 도구 </a:t>
            </a:r>
            <a:endParaRPr kumimoji="1" lang="en-US" altLang="ko-KR" b="1" dirty="0"/>
          </a:p>
          <a:p>
            <a:pPr lvl="1"/>
            <a:r>
              <a:rPr kumimoji="1" lang="en-US" altLang="ko-Kore-KR" dirty="0"/>
              <a:t>KCMVP </a:t>
            </a:r>
            <a:r>
              <a:rPr kumimoji="1" lang="ko-KR" altLang="en-US" dirty="0"/>
              <a:t>가이드라인을 학습한 </a:t>
            </a:r>
            <a:r>
              <a:rPr kumimoji="1" lang="en-US" altLang="ko-KR" dirty="0"/>
              <a:t>AI </a:t>
            </a:r>
            <a:r>
              <a:rPr kumimoji="1" lang="en-US" altLang="ko-KR" dirty="0">
                <a:sym typeface="Wingdings" pitchFamily="2" charset="2"/>
              </a:rPr>
              <a:t> </a:t>
            </a:r>
            <a:r>
              <a:rPr kumimoji="1" lang="ko-KR" altLang="en-US" dirty="0">
                <a:sym typeface="Wingdings" pitchFamily="2" charset="2"/>
              </a:rPr>
              <a:t>소스코드를 분석 </a:t>
            </a:r>
            <a:r>
              <a:rPr kumimoji="1" lang="en-US" altLang="ko-KR" dirty="0">
                <a:sym typeface="Wingdings" pitchFamily="2" charset="2"/>
              </a:rPr>
              <a:t></a:t>
            </a:r>
            <a:r>
              <a:rPr kumimoji="1" lang="ko-KR" altLang="en-US" dirty="0">
                <a:sym typeface="Wingdings" pitchFamily="2" charset="2"/>
              </a:rPr>
              <a:t> 보안 결함 찾아서 보고서와 </a:t>
            </a:r>
            <a:r>
              <a:rPr kumimoji="1" lang="ko-KR" altLang="en-US" dirty="0" err="1">
                <a:sym typeface="Wingdings" pitchFamily="2" charset="2"/>
              </a:rPr>
              <a:t>수정패치</a:t>
            </a:r>
            <a:r>
              <a:rPr kumimoji="1" lang="en-US" altLang="ko-KR" dirty="0">
                <a:sym typeface="Wingdings" pitchFamily="2" charset="2"/>
              </a:rPr>
              <a:t>(.md) </a:t>
            </a:r>
            <a:r>
              <a:rPr kumimoji="1" lang="ko-KR" altLang="en-US" dirty="0">
                <a:sym typeface="Wingdings" pitchFamily="2" charset="2"/>
              </a:rPr>
              <a:t>제안 </a:t>
            </a:r>
            <a:endParaRPr kumimoji="1" lang="en-US" altLang="ko-Kore-KR" dirty="0">
              <a:sym typeface="Wingdings" pitchFamily="2" charset="2"/>
            </a:endParaRPr>
          </a:p>
          <a:p>
            <a:r>
              <a:rPr kumimoji="1" lang="ko-Kore-KR" altLang="en-US" b="1" dirty="0"/>
              <a:t>제출물</a:t>
            </a:r>
            <a:endParaRPr kumimoji="1" lang="en-US" altLang="ko-Kore-KR" b="1" dirty="0"/>
          </a:p>
          <a:p>
            <a:pPr lvl="1"/>
            <a:r>
              <a:rPr kumimoji="1" lang="en-US" altLang="ko-Kore-KR" dirty="0"/>
              <a:t>AI</a:t>
            </a:r>
            <a:r>
              <a:rPr kumimoji="1" lang="ko-KR" altLang="en-US" dirty="0"/>
              <a:t>가 참조할 </a:t>
            </a:r>
            <a:r>
              <a:rPr kumimoji="1" lang="en-US" altLang="ko-KR" dirty="0"/>
              <a:t>KCMVP </a:t>
            </a:r>
            <a:r>
              <a:rPr kumimoji="1" lang="ko-KR" altLang="en-US" dirty="0"/>
              <a:t>기반 </a:t>
            </a:r>
            <a:r>
              <a:rPr kumimoji="1" lang="ko-KR" altLang="en-US" dirty="0" err="1"/>
              <a:t>룰셋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프로토타입 툴 </a:t>
            </a:r>
            <a:r>
              <a:rPr kumimoji="1" lang="en-US" altLang="ko-KR" dirty="0"/>
              <a:t>(</a:t>
            </a:r>
            <a:r>
              <a:rPr kumimoji="1" lang="ko-KR" altLang="en-US" dirty="0"/>
              <a:t>아마 웹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툴을 통한 </a:t>
            </a:r>
            <a:r>
              <a:rPr kumimoji="1" lang="ko-KR" altLang="en-US" dirty="0" err="1"/>
              <a:t>수정패치</a:t>
            </a:r>
            <a:r>
              <a:rPr kumimoji="1" lang="ko-KR" altLang="en-US" dirty="0"/>
              <a:t> 예시 </a:t>
            </a:r>
            <a:r>
              <a:rPr kumimoji="1" lang="en-US" altLang="ko-KR" dirty="0"/>
              <a:t>(</a:t>
            </a:r>
            <a:r>
              <a:rPr kumimoji="1" lang="ko-KR" altLang="en-US" dirty="0"/>
              <a:t>실제 툴을 통한 출력물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최종 보고서 </a:t>
            </a:r>
            <a:r>
              <a:rPr kumimoji="1" lang="en-US" altLang="ko-KR" dirty="0"/>
              <a:t>(</a:t>
            </a:r>
            <a:r>
              <a:rPr kumimoji="1" lang="ko-KR" altLang="en-US" dirty="0"/>
              <a:t>성능 평가 포함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>
                <a:sym typeface="Wingdings" pitchFamily="2" charset="2"/>
              </a:rPr>
              <a:t></a:t>
            </a:r>
            <a:r>
              <a:rPr kumimoji="1" lang="ko-KR" altLang="en-US" dirty="0">
                <a:sym typeface="Wingdings" pitchFamily="2" charset="2"/>
              </a:rPr>
              <a:t> 논문으로 고도화 진행해야 함 </a:t>
            </a:r>
            <a:endParaRPr kumimoji="1" lang="en-US" altLang="ko-Kore-KR" dirty="0"/>
          </a:p>
          <a:p>
            <a:r>
              <a:rPr kumimoji="1" lang="ko-Kore-KR" altLang="en-US" b="1" dirty="0"/>
              <a:t>대상</a:t>
            </a:r>
            <a:endParaRPr kumimoji="1" lang="en-US" altLang="ko-Kore-KR" b="1" dirty="0"/>
          </a:p>
          <a:p>
            <a:pPr lvl="1"/>
            <a:r>
              <a:rPr kumimoji="1" lang="ko-Kore-KR" altLang="en-US" dirty="0"/>
              <a:t>대칭키</a:t>
            </a:r>
            <a:r>
              <a:rPr kumimoji="1" lang="ko-KR" altLang="en-US" dirty="0"/>
              <a:t> 암호 우선 진행 </a:t>
            </a:r>
            <a:r>
              <a:rPr kumimoji="1" lang="en-US" altLang="ko-KR" dirty="0"/>
              <a:t>+</a:t>
            </a:r>
            <a:r>
              <a:rPr kumimoji="1" lang="ko-KR" altLang="en-US" dirty="0"/>
              <a:t> </a:t>
            </a:r>
            <a:r>
              <a:rPr kumimoji="1" lang="en-US" altLang="ko-KR" dirty="0"/>
              <a:t>LEA</a:t>
            </a:r>
            <a:r>
              <a:rPr kumimoji="1" lang="ko-KR" altLang="en-US" dirty="0"/>
              <a:t>로 진행</a:t>
            </a: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CE987-CD40-5558-1354-47AD5902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52F23F-387F-4008-A7CE-3239195CB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65074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2F314-BFB6-B8D7-4FAF-365BF7E8E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BBE619-FBDA-7AA8-74E6-F20501DB3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ore-KR" dirty="0"/>
              <a:t>4</a:t>
            </a:r>
            <a:r>
              <a:rPr kumimoji="1" lang="en-US" altLang="ko-KR" dirty="0"/>
              <a:t>.1.</a:t>
            </a:r>
            <a:r>
              <a:rPr kumimoji="1" lang="ko-KR" altLang="en-US" dirty="0"/>
              <a:t> 구체화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AI </a:t>
            </a:r>
            <a:r>
              <a:rPr kumimoji="1" lang="ko-Kore-KR" altLang="en-US" dirty="0"/>
              <a:t>룰셋</a:t>
            </a:r>
            <a:r>
              <a:rPr kumimoji="1" lang="ko-KR" altLang="en-US" dirty="0"/>
              <a:t> 설계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7E5473-BDC2-73F0-985E-BD9595A3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ore-KR" altLang="en-US" dirty="0"/>
              <a:t>여러</a:t>
            </a:r>
            <a:r>
              <a:rPr kumimoji="1" lang="ko-KR" altLang="en-US" dirty="0"/>
              <a:t> 개 암호 한다고 가정</a:t>
            </a:r>
            <a:endParaRPr kumimoji="1" lang="en-US" altLang="ko-KR" dirty="0"/>
          </a:p>
          <a:p>
            <a:pPr marL="514350" indent="-514350">
              <a:buAutoNum type="arabicParenR"/>
            </a:pPr>
            <a:r>
              <a:rPr kumimoji="1" lang="ko-KR" altLang="en-US" b="1" dirty="0"/>
              <a:t>공통 보안 </a:t>
            </a:r>
            <a:r>
              <a:rPr kumimoji="1" lang="ko-KR" altLang="en-US" b="1" dirty="0" err="1"/>
              <a:t>룰셋</a:t>
            </a:r>
            <a:endParaRPr kumimoji="1" lang="en-US" altLang="ko-KR" b="1" dirty="0"/>
          </a:p>
          <a:p>
            <a:pPr lvl="1">
              <a:buFontTx/>
              <a:buChar char="-"/>
            </a:pPr>
            <a:r>
              <a:rPr kumimoji="1" lang="ko-KR" altLang="en-US" dirty="0"/>
              <a:t>알고리즘이나 운영 모드에 상관 없이 </a:t>
            </a:r>
            <a:r>
              <a:rPr kumimoji="1" lang="en-US" altLang="ko-KR" dirty="0"/>
              <a:t>KCMVP </a:t>
            </a:r>
            <a:r>
              <a:rPr kumimoji="1" lang="ko-KR" altLang="en-US" dirty="0"/>
              <a:t>인증을 위해 반드시 </a:t>
            </a:r>
            <a:r>
              <a:rPr kumimoji="1" lang="ko-KR" altLang="en-US" dirty="0" err="1"/>
              <a:t>지켜야할</a:t>
            </a:r>
            <a:r>
              <a:rPr kumimoji="1" lang="ko-KR" altLang="en-US" dirty="0"/>
              <a:t> 룰</a:t>
            </a:r>
            <a:endParaRPr kumimoji="1" lang="en-US" altLang="ko-KR" dirty="0"/>
          </a:p>
          <a:p>
            <a:pPr lvl="1">
              <a:buFontTx/>
              <a:buChar char="-"/>
            </a:pPr>
            <a:r>
              <a:rPr kumimoji="1" lang="en-US" altLang="ko-KR" dirty="0"/>
              <a:t>Ex)</a:t>
            </a:r>
            <a:r>
              <a:rPr kumimoji="1" lang="ko-KR" altLang="en-US" dirty="0"/>
              <a:t> 잔존 정보 제거 여부</a:t>
            </a:r>
            <a:r>
              <a:rPr kumimoji="1" lang="en-US" altLang="ko-KR" dirty="0"/>
              <a:t>,</a:t>
            </a:r>
            <a:r>
              <a:rPr kumimoji="1" lang="ko-KR" altLang="en-US" dirty="0"/>
              <a:t> 에러 처리 여부 </a:t>
            </a:r>
            <a:endParaRPr kumimoji="1" lang="en-US" altLang="ko-Kore-KR" dirty="0"/>
          </a:p>
          <a:p>
            <a:pPr marL="514350" indent="-514350">
              <a:buAutoNum type="arabicParenR"/>
            </a:pPr>
            <a:r>
              <a:rPr kumimoji="1" lang="ko-KR" altLang="en-US" b="1" dirty="0"/>
              <a:t>알고리즘 공통 </a:t>
            </a:r>
            <a:r>
              <a:rPr kumimoji="1" lang="ko-KR" altLang="en-US" b="1" dirty="0" err="1"/>
              <a:t>룰셋</a:t>
            </a:r>
            <a:endParaRPr kumimoji="1" lang="en-US" altLang="ko-KR" b="1" dirty="0"/>
          </a:p>
          <a:p>
            <a:pPr lvl="1">
              <a:buFontTx/>
              <a:buChar char="-"/>
            </a:pPr>
            <a:r>
              <a:rPr kumimoji="1" lang="ko-KR" altLang="en-US" dirty="0"/>
              <a:t>같은 알고리즘 내에서 알고리즘 자체의 구현이 잘 지켜졌는지 여부에 대한 룰</a:t>
            </a:r>
            <a:endParaRPr kumimoji="1" lang="en-US" altLang="ko-KR" dirty="0"/>
          </a:p>
          <a:p>
            <a:pPr lvl="1">
              <a:buFontTx/>
              <a:buChar char="-"/>
            </a:pPr>
            <a:r>
              <a:rPr kumimoji="1" lang="en-US" altLang="ko-Kore-KR" dirty="0"/>
              <a:t>Ex) </a:t>
            </a:r>
            <a:r>
              <a:rPr kumimoji="1" lang="ko-KR" altLang="en-US" dirty="0"/>
              <a:t>키 스케줄링 </a:t>
            </a:r>
            <a:r>
              <a:rPr kumimoji="1" lang="ko-KR" altLang="en-US" dirty="0" err="1"/>
              <a:t>올바른가</a:t>
            </a:r>
            <a:r>
              <a:rPr kumimoji="1" lang="en-US" altLang="ko-KR" dirty="0"/>
              <a:t>?</a:t>
            </a:r>
            <a:r>
              <a:rPr kumimoji="1" lang="ko-KR" altLang="en-US" dirty="0"/>
              <a:t> 라운드 연산이 </a:t>
            </a:r>
            <a:r>
              <a:rPr kumimoji="1" lang="ko-KR" altLang="en-US" dirty="0" err="1"/>
              <a:t>올바른가</a:t>
            </a:r>
            <a:r>
              <a:rPr kumimoji="1" lang="en-US" altLang="ko-KR" dirty="0"/>
              <a:t>?</a:t>
            </a:r>
            <a:r>
              <a:rPr kumimoji="1" lang="ko-KR" altLang="en-US" dirty="0"/>
              <a:t> 여부 </a:t>
            </a:r>
            <a:endParaRPr kumimoji="1" lang="en-US" altLang="ko-Kore-KR" dirty="0"/>
          </a:p>
          <a:p>
            <a:pPr marL="514350" indent="-514350">
              <a:buAutoNum type="arabicParenR"/>
            </a:pPr>
            <a:r>
              <a:rPr kumimoji="1" lang="ko-KR" altLang="en-US" b="1" dirty="0"/>
              <a:t>운영 모드 특화 </a:t>
            </a:r>
            <a:r>
              <a:rPr kumimoji="1" lang="ko-KR" altLang="en-US" b="1" dirty="0" err="1"/>
              <a:t>룰셋</a:t>
            </a:r>
            <a:endParaRPr kumimoji="1" lang="en-US" altLang="ko-KR" b="1" dirty="0"/>
          </a:p>
          <a:p>
            <a:pPr lvl="1">
              <a:buFontTx/>
              <a:buChar char="-"/>
            </a:pPr>
            <a:r>
              <a:rPr kumimoji="1" lang="ko-KR" altLang="en-US" dirty="0"/>
              <a:t>공통 알고리즘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ex.LEA</a:t>
            </a:r>
            <a:r>
              <a:rPr kumimoji="1" lang="en-US" altLang="ko-KR" dirty="0"/>
              <a:t>)</a:t>
            </a:r>
            <a:r>
              <a:rPr kumimoji="1" lang="ko-KR" altLang="en-US" dirty="0"/>
              <a:t> 내에서도 다양한 운영 모드가 존재하므로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운영 모드에 따른 운영 모드 특화 룰 </a:t>
            </a:r>
            <a:endParaRPr kumimoji="1" lang="en-US" altLang="ko-KR" dirty="0"/>
          </a:p>
          <a:p>
            <a:pPr lvl="1">
              <a:buFontTx/>
              <a:buChar char="-"/>
            </a:pPr>
            <a:r>
              <a:rPr kumimoji="1" lang="en-US" altLang="ko-KR" dirty="0"/>
              <a:t>Ex) CBC</a:t>
            </a:r>
            <a:r>
              <a:rPr kumimoji="1" lang="ko-KR" altLang="en-US" dirty="0"/>
              <a:t> 모드에서는 </a:t>
            </a:r>
            <a:r>
              <a:rPr kumimoji="1" lang="en-US" altLang="ko-KR" dirty="0"/>
              <a:t>IV</a:t>
            </a:r>
            <a:r>
              <a:rPr kumimoji="1" lang="ko-KR" altLang="en-US" dirty="0"/>
              <a:t>의 </a:t>
            </a:r>
            <a:r>
              <a:rPr kumimoji="1" lang="ko-KR" altLang="en-US" dirty="0" err="1"/>
              <a:t>랜덤성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CTR</a:t>
            </a:r>
            <a:r>
              <a:rPr kumimoji="1" lang="ko-KR" altLang="en-US" dirty="0"/>
              <a:t>에서는 </a:t>
            </a:r>
            <a:r>
              <a:rPr kumimoji="1" lang="en-US" altLang="ko-KR" dirty="0"/>
              <a:t>Nonce</a:t>
            </a:r>
            <a:r>
              <a:rPr kumimoji="1" lang="ko-KR" altLang="en-US" dirty="0"/>
              <a:t>의 유일성</a:t>
            </a:r>
            <a:r>
              <a:rPr kumimoji="1" lang="en-US" altLang="ko-KR" dirty="0"/>
              <a:t>…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90F83B-B402-4ADE-C40A-D0EB7FB6F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3DE58F-7C88-7249-41F4-1AF56AC4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55742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12E90-8B64-57D6-C6AA-541FFC38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ore-KR" dirty="0"/>
              <a:t>4</a:t>
            </a:r>
            <a:r>
              <a:rPr kumimoji="1" lang="en-US" altLang="ko-KR" dirty="0"/>
              <a:t>.2.</a:t>
            </a:r>
            <a:r>
              <a:rPr kumimoji="1" lang="ko-KR" altLang="en-US" dirty="0"/>
              <a:t> 구체화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ko-Kore-KR" altLang="en-US" dirty="0"/>
              <a:t>파이프라인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4D6B0A-9947-F304-98D7-F361C00D3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 dirty="0" err="1"/>
              <a:t>부채널</a:t>
            </a:r>
            <a:r>
              <a:rPr kumimoji="1" lang="ko-KR" altLang="en-US" dirty="0"/>
              <a:t> 공모전</a:t>
            </a:r>
            <a:r>
              <a:rPr kumimoji="1" lang="en-US" altLang="ko-KR" dirty="0"/>
              <a:t>: </a:t>
            </a:r>
            <a:r>
              <a:rPr kumimoji="1" lang="en" altLang="ko-Kore-KR" dirty="0"/>
              <a:t>AI </a:t>
            </a:r>
            <a:r>
              <a:rPr kumimoji="1" lang="ko-KR" altLang="en-US" dirty="0"/>
              <a:t>기반 </a:t>
            </a:r>
            <a:r>
              <a:rPr kumimoji="1" lang="en" altLang="ko-Kore-KR" dirty="0"/>
              <a:t>KCMVP </a:t>
            </a:r>
            <a:r>
              <a:rPr kumimoji="1" lang="ko-KR" altLang="en-US" dirty="0"/>
              <a:t>사전 점검</a:t>
            </a:r>
            <a:endParaRPr kumimoji="1" lang="ko-Kore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033FBD-FB80-0A48-A39D-A23E34DC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8</a:t>
            </a:fld>
            <a:endParaRPr kumimoji="1" lang="ko-Kore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D5FDF2-09E2-7F9C-972D-934D297915B4}"/>
              </a:ext>
            </a:extLst>
          </p:cNvPr>
          <p:cNvSpPr txBox="1"/>
          <p:nvPr/>
        </p:nvSpPr>
        <p:spPr>
          <a:xfrm>
            <a:off x="6531557" y="205426"/>
            <a:ext cx="53357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RAG: </a:t>
            </a:r>
            <a:r>
              <a:rPr kumimoji="1" lang="ko-KR" altLang="en-US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검색 증강 생성 </a:t>
            </a:r>
            <a:r>
              <a:rPr kumimoji="1" lang="en-US" altLang="ko-KR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</a:t>
            </a:r>
            <a:r>
              <a:rPr kumimoji="1" lang="ko-KR" altLang="en-US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 필요한 정보가 </a:t>
            </a:r>
            <a:r>
              <a:rPr kumimoji="1" lang="en-US" altLang="ko-KR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DB</a:t>
            </a:r>
            <a:r>
              <a:rPr kumimoji="1" lang="ko-KR" altLang="en-US" sz="1600" dirty="0" err="1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에</a:t>
            </a:r>
            <a:r>
              <a:rPr kumimoji="1" lang="ko-KR" altLang="en-US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 저장되어 있으면</a:t>
            </a:r>
            <a:r>
              <a:rPr kumimoji="1" lang="en-US" altLang="ko-KR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, AI</a:t>
            </a:r>
            <a:r>
              <a:rPr kumimoji="1" lang="ko-KR" altLang="en-US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가 그 </a:t>
            </a:r>
            <a:r>
              <a:rPr kumimoji="1" lang="en-US" altLang="ko-KR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DB</a:t>
            </a:r>
            <a:r>
              <a:rPr kumimoji="1" lang="ko-KR" altLang="en-US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에서 원하는 문구를 찾아옴</a:t>
            </a:r>
            <a:r>
              <a:rPr kumimoji="1" lang="ko-KR" altLang="en-US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</a:rPr>
              <a:t> </a:t>
            </a:r>
            <a:endParaRPr kumimoji="1" lang="en-US" altLang="ko-KR" sz="1600" dirty="0">
              <a:solidFill>
                <a:schemeClr val="bg1">
                  <a:lumMod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  <a:p>
            <a:r>
              <a:rPr kumimoji="1" lang="en-US" altLang="ko-KR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</a:t>
            </a:r>
            <a:r>
              <a:rPr kumimoji="1" lang="ko-KR" altLang="en-US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 매번 모델 학습할 필요 없이 </a:t>
            </a:r>
            <a:r>
              <a:rPr kumimoji="1" lang="en-US" altLang="ko-KR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DB</a:t>
            </a:r>
            <a:r>
              <a:rPr kumimoji="1" lang="ko-KR" altLang="en-US" sz="1600" dirty="0" err="1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에</a:t>
            </a:r>
            <a:r>
              <a:rPr kumimoji="1" lang="ko-KR" altLang="en-US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 가이드라인 </a:t>
            </a:r>
            <a:r>
              <a:rPr kumimoji="1" lang="ko-KR" altLang="en-US" sz="1600" dirty="0" err="1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업뎃하면</a:t>
            </a:r>
            <a:r>
              <a:rPr kumimoji="1" lang="ko-KR" altLang="en-US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 된다는 이점 존재 </a:t>
            </a:r>
            <a:endParaRPr kumimoji="1" lang="ko-Kore-KR" altLang="en-US" sz="1600" dirty="0">
              <a:solidFill>
                <a:schemeClr val="bg1">
                  <a:lumMod val="50000"/>
                </a:schemeClr>
              </a:solidFill>
              <a:latin typeface="Paperlogy 4 Regular" pitchFamily="2" charset="-127"/>
              <a:ea typeface="Paperlogy 4 Regular" pitchFamily="2" charset="-127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D5337EB-3661-DF5D-2075-D49995823079}"/>
              </a:ext>
            </a:extLst>
          </p:cNvPr>
          <p:cNvGrpSpPr/>
          <p:nvPr/>
        </p:nvGrpSpPr>
        <p:grpSpPr>
          <a:xfrm>
            <a:off x="467592" y="1426673"/>
            <a:ext cx="11205167" cy="4641618"/>
            <a:chOff x="467592" y="1426673"/>
            <a:chExt cx="11205167" cy="464161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92631F6-1E74-78D7-D6DF-BB1CA5CEAFF0}"/>
                </a:ext>
              </a:extLst>
            </p:cNvPr>
            <p:cNvSpPr/>
            <p:nvPr/>
          </p:nvSpPr>
          <p:spPr>
            <a:xfrm>
              <a:off x="4329545" y="1752311"/>
              <a:ext cx="4558148" cy="43159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ko-Kore-KR" sz="2400" dirty="0">
                <a:solidFill>
                  <a:sysClr val="windowText" lastClr="000000"/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57194B4-80CE-14A7-9C31-220BAA7F4857}"/>
                </a:ext>
              </a:extLst>
            </p:cNvPr>
            <p:cNvSpPr/>
            <p:nvPr/>
          </p:nvSpPr>
          <p:spPr>
            <a:xfrm>
              <a:off x="526472" y="2005445"/>
              <a:ext cx="3200400" cy="8827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sz="2400" b="1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Input</a:t>
              </a:r>
            </a:p>
            <a:p>
              <a:pPr algn="ctr"/>
              <a:r>
                <a:rPr kumimoji="1" lang="en-US" altLang="ko-Kore-KR" dirty="0" err="1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Github</a:t>
              </a:r>
              <a:r>
                <a:rPr kumimoji="1" lang="en-US" altLang="ko-Kore-KR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 or Drag&amp;Drop</a:t>
              </a:r>
              <a:endParaRPr kumimoji="1" lang="ko-Kore-KR" altLang="en-US" dirty="0">
                <a:solidFill>
                  <a:sysClr val="windowText" lastClr="000000"/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D9DF951-BC4A-1AAF-0AE0-805CBB818F63}"/>
                </a:ext>
              </a:extLst>
            </p:cNvPr>
            <p:cNvSpPr/>
            <p:nvPr/>
          </p:nvSpPr>
          <p:spPr>
            <a:xfrm>
              <a:off x="526472" y="3464009"/>
              <a:ext cx="3200400" cy="8827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AST (</a:t>
              </a:r>
              <a:r>
                <a:rPr kumimoji="1" lang="ko-KR" altLang="en-US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추상 구문 트리</a:t>
              </a:r>
              <a:r>
                <a:rPr kumimoji="1" lang="en-US" altLang="ko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)</a:t>
              </a:r>
              <a:endParaRPr kumimoji="1" lang="ko-Kore-KR" altLang="en-US" sz="2400" dirty="0">
                <a:solidFill>
                  <a:sysClr val="windowText" lastClr="000000"/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616FAFA-06F7-F0E9-8C46-C8CBE0E4D353}"/>
                </a:ext>
              </a:extLst>
            </p:cNvPr>
            <p:cNvSpPr/>
            <p:nvPr/>
          </p:nvSpPr>
          <p:spPr>
            <a:xfrm>
              <a:off x="5008419" y="1426673"/>
              <a:ext cx="3200400" cy="65127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AI-based Engine</a:t>
              </a:r>
              <a:endParaRPr kumimoji="1" lang="ko-Kore-KR" altLang="en-US" dirty="0">
                <a:solidFill>
                  <a:sysClr val="windowText" lastClr="000000"/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124E4FC8-8D46-EB69-700D-6B543BE8311A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2126672" y="2888207"/>
              <a:ext cx="0" cy="5758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417B3472-4B9E-2313-D892-815B389B967C}"/>
                </a:ext>
              </a:extLst>
            </p:cNvPr>
            <p:cNvCxnSpPr>
              <a:cxnSpLocks/>
              <a:stCxn id="7" idx="3"/>
              <a:endCxn id="10" idx="1"/>
            </p:cNvCxnSpPr>
            <p:nvPr/>
          </p:nvCxnSpPr>
          <p:spPr>
            <a:xfrm>
              <a:off x="3726872" y="3905390"/>
              <a:ext cx="602673" cy="49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51B95E90-5352-F549-5BA3-14600D1F8EC8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>
              <a:off x="6622472" y="3175867"/>
              <a:ext cx="0" cy="16927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78F2DC9-13EF-DE09-5173-CE115EDC597A}"/>
                </a:ext>
              </a:extLst>
            </p:cNvPr>
            <p:cNvSpPr/>
            <p:nvPr/>
          </p:nvSpPr>
          <p:spPr>
            <a:xfrm>
              <a:off x="4565072" y="2293105"/>
              <a:ext cx="4114800" cy="8827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Rule Engine (L1)</a:t>
              </a:r>
            </a:p>
            <a:p>
              <a:pPr algn="ctr"/>
              <a:r>
                <a:rPr kumimoji="1" lang="ko-KR" altLang="en-US" dirty="0" err="1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룰셋</a:t>
              </a:r>
              <a:r>
                <a:rPr kumimoji="1" lang="ko-KR" altLang="en-US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 기반 탐지</a:t>
              </a:r>
              <a:endParaRPr kumimoji="1" lang="ko-Kore-KR" altLang="en-US" dirty="0">
                <a:solidFill>
                  <a:sysClr val="windowText" lastClr="000000"/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D7763DF-F4DB-1485-A2E9-A89046906C3D}"/>
                </a:ext>
              </a:extLst>
            </p:cNvPr>
            <p:cNvSpPr/>
            <p:nvPr/>
          </p:nvSpPr>
          <p:spPr>
            <a:xfrm>
              <a:off x="4565072" y="4868609"/>
              <a:ext cx="4114800" cy="8827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RAG </a:t>
              </a:r>
              <a:r>
                <a:rPr kumimoji="1" lang="ko-KR" altLang="en-US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결합 </a:t>
              </a:r>
              <a:r>
                <a:rPr kumimoji="1" lang="en-US" altLang="ko-Kore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(L3)</a:t>
              </a:r>
            </a:p>
            <a:p>
              <a:pPr algn="ctr"/>
              <a:r>
                <a:rPr kumimoji="1" lang="ko-KR" altLang="en-US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가이드 문서 매칭 </a:t>
              </a:r>
              <a:r>
                <a:rPr kumimoji="1" lang="en-US" altLang="ko-KR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</a:t>
              </a:r>
              <a:r>
                <a:rPr kumimoji="1" lang="ko-KR" altLang="en-US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 위반 근거 추출</a:t>
              </a:r>
              <a:endParaRPr kumimoji="1" lang="ko-Kore-KR" altLang="en-US" dirty="0">
                <a:solidFill>
                  <a:sysClr val="windowText" lastClr="000000"/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6A06024-3011-0714-C207-235D8E077808}"/>
                </a:ext>
              </a:extLst>
            </p:cNvPr>
            <p:cNvSpPr/>
            <p:nvPr/>
          </p:nvSpPr>
          <p:spPr>
            <a:xfrm>
              <a:off x="4565072" y="3580136"/>
              <a:ext cx="4114800" cy="8827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LLM </a:t>
              </a:r>
              <a:r>
                <a:rPr kumimoji="1" lang="en-US" altLang="ko-Kore-KR" sz="2400" dirty="0" err="1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Contextualizer</a:t>
              </a:r>
              <a:r>
                <a:rPr kumimoji="1" lang="en-US" altLang="ko-Kore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 (L2)</a:t>
              </a:r>
            </a:p>
            <a:p>
              <a:pPr algn="ctr"/>
              <a:r>
                <a:rPr kumimoji="1" lang="ko-KR" altLang="en-US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의미적 오류 탐지</a:t>
              </a:r>
              <a:endParaRPr kumimoji="1" lang="ko-Kore-KR" altLang="en-US" dirty="0">
                <a:solidFill>
                  <a:sysClr val="windowText" lastClr="000000"/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939410A-E770-660D-3B5F-AA47EE5A9E4F}"/>
                </a:ext>
              </a:extLst>
            </p:cNvPr>
            <p:cNvSpPr txBox="1"/>
            <p:nvPr/>
          </p:nvSpPr>
          <p:spPr>
            <a:xfrm>
              <a:off x="2225492" y="2966909"/>
              <a:ext cx="7954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dirty="0">
                  <a:latin typeface="Paperlogy 4 Regular" pitchFamily="2" charset="-127"/>
                  <a:ea typeface="Paperlogy 4 Regular" pitchFamily="2" charset="-127"/>
                </a:rPr>
                <a:t>전처리</a:t>
              </a:r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B0AE8167-C9EA-F27C-12E2-0A8D6015B89D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8887693" y="3905390"/>
              <a:ext cx="602673" cy="49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DE35F08-05DE-0969-D12B-093984457C17}"/>
                </a:ext>
              </a:extLst>
            </p:cNvPr>
            <p:cNvSpPr txBox="1"/>
            <p:nvPr/>
          </p:nvSpPr>
          <p:spPr>
            <a:xfrm>
              <a:off x="467592" y="4394661"/>
              <a:ext cx="35952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ore-KR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</a:rPr>
                <a:t>AST: 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</a:rPr>
                <a:t>소스코드를 단순한 글자가 아닌 논리적인 구조</a:t>
              </a:r>
              <a:r>
                <a:rPr kumimoji="1" lang="en-US" altLang="ko-KR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</a:rPr>
                <a:t>(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</a:rPr>
                <a:t>트리</a:t>
              </a:r>
              <a:r>
                <a:rPr kumimoji="1" lang="en-US" altLang="ko-KR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</a:rPr>
                <a:t>)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</a:rPr>
                <a:t>로 변환</a:t>
              </a:r>
              <a:endParaRPr kumimoji="1" lang="en-US" altLang="ko-KR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</a:endParaRPr>
            </a:p>
            <a:p>
              <a:r>
                <a:rPr kumimoji="1" lang="en-US" altLang="ko-KR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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 언어에 관계 없이 공통적으로 분석할 수 있도록 함</a:t>
              </a:r>
              <a:r>
                <a:rPr kumimoji="1" lang="en-US" altLang="ko-KR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(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주석 제거</a:t>
              </a:r>
              <a:r>
                <a:rPr kumimoji="1" lang="en-US" altLang="ko-KR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,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 코드 </a:t>
              </a:r>
              <a:r>
                <a:rPr kumimoji="1" lang="ko-KR" altLang="en-US" sz="1600" dirty="0" err="1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포맷팅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 </a:t>
              </a:r>
              <a:r>
                <a:rPr kumimoji="1" lang="en-US" altLang="ko-KR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…)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 </a:t>
              </a:r>
              <a:endParaRPr kumimoji="1" lang="ko-Kore-KR" altLang="en-US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pic>
          <p:nvPicPr>
            <p:cNvPr id="42" name="그래픽 41" descr="문서 윤곽선">
              <a:extLst>
                <a:ext uri="{FF2B5EF4-FFF2-40B4-BE49-F238E27FC236}">
                  <a16:creationId xmlns:a16="http://schemas.microsoft.com/office/drawing/2014/main" id="{A1F180B4-CA41-E44D-0176-FE15A31A67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108432" y="2228618"/>
              <a:ext cx="914400" cy="914400"/>
            </a:xfrm>
            <a:prstGeom prst="rect">
              <a:avLst/>
            </a:prstGeom>
          </p:spPr>
        </p:pic>
        <p:pic>
          <p:nvPicPr>
            <p:cNvPr id="44" name="그래픽 43" descr="계약 윤곽선">
              <a:extLst>
                <a:ext uri="{FF2B5EF4-FFF2-40B4-BE49-F238E27FC236}">
                  <a16:creationId xmlns:a16="http://schemas.microsoft.com/office/drawing/2014/main" id="{245406AB-8BF3-70FE-DABB-98502A9F3F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08432" y="4070834"/>
              <a:ext cx="914400" cy="914400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5AD40E0-BDD7-FD78-3C65-41EDB7448B82}"/>
                </a:ext>
              </a:extLst>
            </p:cNvPr>
            <p:cNvSpPr txBox="1"/>
            <p:nvPr/>
          </p:nvSpPr>
          <p:spPr>
            <a:xfrm>
              <a:off x="9621676" y="3189382"/>
              <a:ext cx="20510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ore-KR" altLang="en-US" sz="2400" dirty="0">
                  <a:latin typeface="Paperlogy 4 Regular" pitchFamily="2" charset="-127"/>
                  <a:ea typeface="Paperlogy 4 Regular" pitchFamily="2" charset="-127"/>
                </a:rPr>
                <a:t>분석</a:t>
              </a:r>
              <a:r>
                <a:rPr kumimoji="1" lang="ko-KR" altLang="en-US" sz="2400" dirty="0">
                  <a:latin typeface="Paperlogy 4 Regular" pitchFamily="2" charset="-127"/>
                  <a:ea typeface="Paperlogy 4 Regular" pitchFamily="2" charset="-127"/>
                </a:rPr>
                <a:t> 보고서</a:t>
              </a:r>
              <a:endParaRPr kumimoji="1" lang="ko-Kore-KR" altLang="en-US" sz="2400" dirty="0"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B6F4113-79F4-B23D-042E-A270A619281D}"/>
                </a:ext>
              </a:extLst>
            </p:cNvPr>
            <p:cNvSpPr txBox="1"/>
            <p:nvPr/>
          </p:nvSpPr>
          <p:spPr>
            <a:xfrm>
              <a:off x="9621676" y="5080524"/>
              <a:ext cx="205108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ore-KR" altLang="en-US" sz="2400" dirty="0">
                  <a:latin typeface="Paperlogy 4 Regular" pitchFamily="2" charset="-127"/>
                  <a:ea typeface="Paperlogy 4 Regular" pitchFamily="2" charset="-127"/>
                </a:rPr>
                <a:t>패치</a:t>
              </a:r>
              <a:r>
                <a:rPr kumimoji="1" lang="ko-KR" altLang="en-US" sz="2400" dirty="0">
                  <a:latin typeface="Paperlogy 4 Regular" pitchFamily="2" charset="-127"/>
                  <a:ea typeface="Paperlogy 4 Regular" pitchFamily="2" charset="-127"/>
                </a:rPr>
                <a:t> 파일 </a:t>
              </a:r>
              <a:r>
                <a:rPr kumimoji="1" lang="en-US" altLang="ko-KR" sz="2400" dirty="0">
                  <a:latin typeface="Paperlogy 4 Regular" pitchFamily="2" charset="-127"/>
                  <a:ea typeface="Paperlogy 4 Regular" pitchFamily="2" charset="-127"/>
                </a:rPr>
                <a:t>md</a:t>
              </a:r>
            </a:p>
            <a:p>
              <a:pPr algn="ctr"/>
              <a:r>
                <a:rPr kumimoji="1" lang="en-US" altLang="ko-KR" dirty="0">
                  <a:latin typeface="Paperlogy 4 Regular" pitchFamily="2" charset="-127"/>
                  <a:ea typeface="Paperlogy 4 Regular" pitchFamily="2" charset="-127"/>
                </a:rPr>
                <a:t>(</a:t>
              </a:r>
              <a:r>
                <a:rPr kumimoji="1" lang="ko-KR" altLang="en-US" dirty="0">
                  <a:latin typeface="Paperlogy 4 Regular" pitchFamily="2" charset="-127"/>
                  <a:ea typeface="Paperlogy 4 Regular" pitchFamily="2" charset="-127"/>
                </a:rPr>
                <a:t>수정 예시 코드</a:t>
              </a:r>
              <a:r>
                <a:rPr kumimoji="1" lang="en-US" altLang="ko-KR" dirty="0">
                  <a:latin typeface="Paperlogy 4 Regular" pitchFamily="2" charset="-127"/>
                  <a:ea typeface="Paperlogy 4 Regular" pitchFamily="2" charset="-127"/>
                </a:rPr>
                <a:t>)</a:t>
              </a:r>
              <a:endParaRPr kumimoji="1" lang="ko-Kore-KR" altLang="en-US" dirty="0">
                <a:latin typeface="Paperlogy 4 Regular" pitchFamily="2" charset="-127"/>
                <a:ea typeface="Paperlogy 4 Regular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7168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4BC97-0F3A-FDEF-473E-B9F752C3C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ore-KR" dirty="0"/>
              <a:t>4</a:t>
            </a:r>
            <a:r>
              <a:rPr kumimoji="1" lang="en-US" altLang="ko-KR" dirty="0"/>
              <a:t>.3.</a:t>
            </a:r>
            <a:r>
              <a:rPr kumimoji="1" lang="ko-KR" altLang="en-US" dirty="0"/>
              <a:t> 구체화</a:t>
            </a:r>
            <a:r>
              <a:rPr kumimoji="1" lang="en-US" altLang="ko-KR" dirty="0"/>
              <a:t>:</a:t>
            </a:r>
            <a:r>
              <a:rPr kumimoji="1" lang="ko-KR" altLang="en-US" dirty="0"/>
              <a:t> 프론트</a:t>
            </a:r>
            <a:r>
              <a:rPr kumimoji="1" lang="en-US" altLang="ko-KR" dirty="0"/>
              <a:t>-</a:t>
            </a:r>
            <a:r>
              <a:rPr kumimoji="1" lang="ko-KR" altLang="en-US" dirty="0" err="1"/>
              <a:t>백엔드</a:t>
            </a:r>
            <a:r>
              <a:rPr kumimoji="1" lang="ko-KR" altLang="en-US" dirty="0"/>
              <a:t> 연동 구조 </a:t>
            </a: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D8B021-FC34-11FB-D7DF-67F89E43D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EB1CAA-4A06-BB4B-3A84-51A9589CC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5E4E8B-C799-A43D-FBAE-B905AA53866B}"/>
              </a:ext>
            </a:extLst>
          </p:cNvPr>
          <p:cNvSpPr txBox="1"/>
          <p:nvPr/>
        </p:nvSpPr>
        <p:spPr>
          <a:xfrm>
            <a:off x="3049732" y="3244334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D64D09-822F-58C1-F0C2-40A401F2C375}"/>
              </a:ext>
            </a:extLst>
          </p:cNvPr>
          <p:cNvSpPr txBox="1"/>
          <p:nvPr/>
        </p:nvSpPr>
        <p:spPr>
          <a:xfrm>
            <a:off x="3049732" y="3244334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ore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8BA764-CBA7-4DBE-65E1-B60662BE9133}"/>
              </a:ext>
            </a:extLst>
          </p:cNvPr>
          <p:cNvSpPr txBox="1"/>
          <p:nvPr/>
        </p:nvSpPr>
        <p:spPr>
          <a:xfrm>
            <a:off x="3049732" y="3244334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ore-KR" altLang="en-US" dirty="0"/>
          </a:p>
        </p:txBody>
      </p:sp>
      <p:pic>
        <p:nvPicPr>
          <p:cNvPr id="17" name="그림 16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575449-87C2-FC89-1826-0BE3B8104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090" y="1476490"/>
            <a:ext cx="8929255" cy="487050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53AB32F-14FB-1019-88BA-68786EAF0312}"/>
              </a:ext>
            </a:extLst>
          </p:cNvPr>
          <p:cNvSpPr txBox="1"/>
          <p:nvPr/>
        </p:nvSpPr>
        <p:spPr>
          <a:xfrm>
            <a:off x="10262754" y="4380072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dirty="0">
                <a:latin typeface="Paperlogy 4 Regular" pitchFamily="2" charset="-127"/>
                <a:ea typeface="Paperlogy 4 Regular" pitchFamily="2" charset="-127"/>
              </a:rPr>
              <a:t>격리</a:t>
            </a:r>
            <a:r>
              <a:rPr kumimoji="1" lang="ko-KR" altLang="en-US" dirty="0">
                <a:latin typeface="Paperlogy 4 Regular" pitchFamily="2" charset="-127"/>
                <a:ea typeface="Paperlogy 4 Regular" pitchFamily="2" charset="-127"/>
              </a:rPr>
              <a:t> 스토리지</a:t>
            </a:r>
            <a:endParaRPr kumimoji="1" lang="ko-Kore-KR" altLang="en-US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C850FC-9CD6-386D-BF0E-0F6883B1DE49}"/>
              </a:ext>
            </a:extLst>
          </p:cNvPr>
          <p:cNvSpPr txBox="1"/>
          <p:nvPr/>
        </p:nvSpPr>
        <p:spPr>
          <a:xfrm>
            <a:off x="168355" y="1582341"/>
            <a:ext cx="13708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dirty="0">
                <a:latin typeface="Paperlogy 4 Regular" pitchFamily="2" charset="-127"/>
                <a:ea typeface="Paperlogy 4 Regular" pitchFamily="2" charset="-127"/>
              </a:rPr>
              <a:t>Top</a:t>
            </a:r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kumimoji="1" lang="en-US" altLang="ko-KR" sz="1400" dirty="0">
                <a:latin typeface="Paperlogy 4 Regular" pitchFamily="2" charset="-127"/>
                <a:ea typeface="Paperlogy 4 Regular" pitchFamily="2" charset="-127"/>
              </a:rPr>
              <a:t>Nav</a:t>
            </a:r>
          </a:p>
          <a:p>
            <a:pPr algn="ctr"/>
            <a:r>
              <a:rPr kumimoji="1" lang="en-US" altLang="ko-KR" sz="1400" dirty="0">
                <a:latin typeface="Paperlogy 4 Regular" pitchFamily="2" charset="-127"/>
                <a:ea typeface="Paperlogy 4 Regular" pitchFamily="2" charset="-127"/>
              </a:rPr>
              <a:t>&amp;</a:t>
            </a:r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kumimoji="1" lang="en-US" altLang="ko-KR" sz="1400" dirty="0">
                <a:latin typeface="Paperlogy 4 Regular" pitchFamily="2" charset="-127"/>
                <a:ea typeface="Paperlogy 4 Regular" pitchFamily="2" charset="-127"/>
              </a:rPr>
              <a:t>Drag&amp;Drop</a:t>
            </a:r>
          </a:p>
          <a:p>
            <a:pPr algn="ctr"/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다른 뷰로  </a:t>
            </a:r>
            <a:endParaRPr kumimoji="1" lang="en-US" altLang="ko-KR" sz="1400" dirty="0"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분리하는 것도 </a:t>
            </a:r>
            <a:r>
              <a:rPr kumimoji="1" lang="ko-KR" altLang="en-US" sz="1400" dirty="0" err="1">
                <a:latin typeface="Paperlogy 4 Regular" pitchFamily="2" charset="-127"/>
                <a:ea typeface="Paperlogy 4 Regular" pitchFamily="2" charset="-127"/>
              </a:rPr>
              <a:t>괜찮을듯</a:t>
            </a:r>
            <a:endParaRPr kumimoji="1" lang="en-US" altLang="ko-KR" sz="14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994A35-5D69-1DE9-FB2A-871448F461FF}"/>
              </a:ext>
            </a:extLst>
          </p:cNvPr>
          <p:cNvSpPr txBox="1"/>
          <p:nvPr/>
        </p:nvSpPr>
        <p:spPr>
          <a:xfrm>
            <a:off x="49231" y="5129375"/>
            <a:ext cx="13708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클릭 시</a:t>
            </a:r>
            <a:endParaRPr kumimoji="1" lang="en-US" altLang="ko-KR" sz="1400" dirty="0"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분석 위치 </a:t>
            </a:r>
            <a:endParaRPr kumimoji="1" lang="en-US" altLang="ko-KR" sz="1400" dirty="0">
              <a:latin typeface="Paperlogy 4 Regular" pitchFamily="2" charset="-127"/>
              <a:ea typeface="Paperlogy 4 Regular" pitchFamily="2" charset="-127"/>
            </a:endParaRPr>
          </a:p>
          <a:p>
            <a:pPr algn="ctr"/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자동 이동</a:t>
            </a:r>
            <a:endParaRPr kumimoji="1" lang="en-US" altLang="ko-KR" sz="14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176DAC-86D6-5A7E-4AED-B28DB83C6406}"/>
              </a:ext>
            </a:extLst>
          </p:cNvPr>
          <p:cNvSpPr txBox="1"/>
          <p:nvPr/>
        </p:nvSpPr>
        <p:spPr>
          <a:xfrm>
            <a:off x="1103909" y="1107337"/>
            <a:ext cx="4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dirty="0">
                <a:latin typeface="Paperlogy 4 Regular" pitchFamily="2" charset="-127"/>
                <a:ea typeface="Paperlogy 4 Regular" pitchFamily="2" charset="-127"/>
              </a:rPr>
              <a:t>IDE </a:t>
            </a:r>
            <a:r>
              <a:rPr kumimoji="1" lang="ko-KR" altLang="en-US" sz="1400" dirty="0">
                <a:latin typeface="Paperlogy 4 Regular" pitchFamily="2" charset="-127"/>
                <a:ea typeface="Paperlogy 4 Regular" pitchFamily="2" charset="-127"/>
              </a:rPr>
              <a:t>구성이랑 비슷하게 프론트 짜도 괜찮을 것 같음</a:t>
            </a:r>
            <a:endParaRPr kumimoji="1" lang="en-US" altLang="ko-KR" sz="14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85DAAE-AB82-3EC8-F7E7-A3086DDF6354}"/>
              </a:ext>
            </a:extLst>
          </p:cNvPr>
          <p:cNvSpPr txBox="1"/>
          <p:nvPr/>
        </p:nvSpPr>
        <p:spPr>
          <a:xfrm>
            <a:off x="9513802" y="5498707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>
                <a:latin typeface="Paperlogy 4 Regular" pitchFamily="2" charset="-127"/>
                <a:ea typeface="Paperlogy 4 Regular" pitchFamily="2" charset="-127"/>
              </a:rPr>
              <a:t>AI </a:t>
            </a:r>
            <a:endParaRPr kumimoji="1" lang="ko-Kore-KR" altLang="en-US" dirty="0">
              <a:latin typeface="Paperlogy 4 Regular" pitchFamily="2" charset="-127"/>
              <a:ea typeface="Paperlogy 4 Regular" pitchFamily="2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02C1C49-5984-4E2F-BD91-2077A80310A5}"/>
              </a:ext>
            </a:extLst>
          </p:cNvPr>
          <p:cNvCxnSpPr>
            <a:cxnSpLocks/>
          </p:cNvCxnSpPr>
          <p:nvPr/>
        </p:nvCxnSpPr>
        <p:spPr>
          <a:xfrm>
            <a:off x="7585364" y="5683373"/>
            <a:ext cx="1724891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92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5E002-23E1-D1FA-4E8A-0D3C8CB3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5</a:t>
            </a:r>
            <a:r>
              <a:rPr kumimoji="1" lang="en-US" altLang="ko-KR" dirty="0"/>
              <a:t>.1.</a:t>
            </a:r>
            <a:r>
              <a:rPr kumimoji="1" lang="ko-KR" altLang="en-US" dirty="0"/>
              <a:t> 계획</a:t>
            </a:r>
            <a:r>
              <a:rPr kumimoji="1" lang="en-US" altLang="ko-KR" dirty="0"/>
              <a:t>:</a:t>
            </a:r>
            <a:r>
              <a:rPr kumimoji="1" lang="ko-KR" altLang="en-US" dirty="0"/>
              <a:t> 일정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BA0100-260A-1203-9B25-E30F076C8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ko-KR" altLang="en-US" b="1" dirty="0"/>
              <a:t>일정</a:t>
            </a:r>
            <a:endParaRPr kumimoji="1" lang="en-US" altLang="ko-KR" b="1" dirty="0"/>
          </a:p>
          <a:p>
            <a:pPr marL="457200" lvl="1" indent="0">
              <a:buNone/>
            </a:pPr>
            <a:r>
              <a:rPr kumimoji="1" lang="ko-KR" altLang="en-US" dirty="0"/>
              <a:t>일단 이번주</a:t>
            </a:r>
            <a:r>
              <a:rPr kumimoji="1" lang="en-US" altLang="ko-KR" dirty="0"/>
              <a:t>?</a:t>
            </a:r>
            <a:r>
              <a:rPr kumimoji="1" lang="ko-KR" altLang="en-US" dirty="0"/>
              <a:t> 까지 교수님께 진행 사항 보고를 해야 해서</a:t>
            </a:r>
            <a:endParaRPr kumimoji="1" lang="en-US" altLang="ko-KR" dirty="0"/>
          </a:p>
          <a:p>
            <a:pPr marL="457200" lvl="1" indent="0">
              <a:buNone/>
            </a:pPr>
            <a:endParaRPr kumimoji="1" lang="en-US" altLang="ko-KR" dirty="0"/>
          </a:p>
          <a:p>
            <a:pPr marL="457200" lvl="1" indent="0">
              <a:buNone/>
            </a:pPr>
            <a:r>
              <a:rPr kumimoji="1" lang="en-US" altLang="ko-KR" dirty="0"/>
              <a:t>[1]</a:t>
            </a:r>
            <a:r>
              <a:rPr kumimoji="1" lang="ko-KR" altLang="en-US" b="1" dirty="0"/>
              <a:t>  </a:t>
            </a:r>
            <a:r>
              <a:rPr kumimoji="1" lang="en-US" altLang="ko-KR" b="1" dirty="0"/>
              <a:t>~2</a:t>
            </a:r>
            <a:r>
              <a:rPr kumimoji="1" lang="ko-KR" altLang="en-US" b="1" dirty="0"/>
              <a:t>월 </a:t>
            </a:r>
            <a:r>
              <a:rPr kumimoji="1" lang="en-US" altLang="ko-KR" b="1" dirty="0"/>
              <a:t>27</a:t>
            </a:r>
            <a:r>
              <a:rPr kumimoji="1" lang="ko-KR" altLang="en-US" b="1" dirty="0"/>
              <a:t>일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금</a:t>
            </a:r>
            <a:r>
              <a:rPr kumimoji="1" lang="en-US" altLang="ko-KR" b="1" dirty="0"/>
              <a:t>):</a:t>
            </a:r>
            <a:r>
              <a:rPr kumimoji="1" lang="ko-KR" altLang="en-US" b="1" dirty="0"/>
              <a:t> </a:t>
            </a:r>
            <a:r>
              <a:rPr kumimoji="1" lang="ko-KR" altLang="en-US" dirty="0"/>
              <a:t>지금 기획안 바탕으로 진행해서 가능성 확인</a:t>
            </a:r>
            <a:endParaRPr kumimoji="1" lang="en-US" altLang="ko-KR" dirty="0"/>
          </a:p>
          <a:p>
            <a:pPr marL="457200" lvl="1" indent="0">
              <a:buNone/>
            </a:pPr>
            <a:r>
              <a:rPr kumimoji="1" lang="en-US" altLang="ko-KR" dirty="0"/>
              <a:t>[2]</a:t>
            </a:r>
            <a:r>
              <a:rPr kumimoji="1" lang="ko-KR" altLang="en-US" dirty="0"/>
              <a:t> </a:t>
            </a:r>
            <a:r>
              <a:rPr kumimoji="1" lang="en-US" altLang="ko-KR" b="1" dirty="0"/>
              <a:t>~3</a:t>
            </a:r>
            <a:r>
              <a:rPr kumimoji="1" lang="ko-KR" altLang="en-US" b="1" dirty="0"/>
              <a:t>월 초</a:t>
            </a:r>
            <a:r>
              <a:rPr kumimoji="1" lang="en-US" altLang="ko-KR" b="1" dirty="0"/>
              <a:t>:</a:t>
            </a:r>
            <a:r>
              <a:rPr kumimoji="1" lang="ko-KR" altLang="en-US" b="1" dirty="0"/>
              <a:t> </a:t>
            </a:r>
            <a:r>
              <a:rPr kumimoji="1" lang="en-US" altLang="ko-KR" dirty="0"/>
              <a:t>LEA</a:t>
            </a:r>
            <a:r>
              <a:rPr kumimoji="1" lang="ko-KR" altLang="en-US" dirty="0"/>
              <a:t> </a:t>
            </a:r>
            <a:r>
              <a:rPr kumimoji="1" lang="en-US" altLang="ko-KR" dirty="0"/>
              <a:t>+</a:t>
            </a:r>
            <a:r>
              <a:rPr kumimoji="1" lang="ko-KR" altLang="en-US" dirty="0"/>
              <a:t> </a:t>
            </a:r>
            <a:r>
              <a:rPr kumimoji="1" lang="en-US" altLang="ko-KR" dirty="0"/>
              <a:t>ARIA </a:t>
            </a:r>
            <a:r>
              <a:rPr kumimoji="1" lang="ko-KR" altLang="en-US" dirty="0"/>
              <a:t>정도 완성 </a:t>
            </a:r>
            <a:r>
              <a:rPr kumimoji="1" lang="en-US" altLang="ko-KR" dirty="0"/>
              <a:t>+</a:t>
            </a:r>
            <a:r>
              <a:rPr kumimoji="1" lang="ko-KR" altLang="en-US" dirty="0"/>
              <a:t> 웹 연동 </a:t>
            </a:r>
            <a:endParaRPr kumimoji="1" lang="en-US" altLang="ko-KR" dirty="0"/>
          </a:p>
          <a:p>
            <a:pPr marL="457200" lvl="1" indent="0">
              <a:buNone/>
            </a:pPr>
            <a:r>
              <a:rPr kumimoji="1" lang="en-US" altLang="ko-KR" dirty="0"/>
              <a:t>[3]</a:t>
            </a:r>
            <a:r>
              <a:rPr kumimoji="1" lang="ko-KR" altLang="en-US" dirty="0"/>
              <a:t> </a:t>
            </a:r>
            <a:r>
              <a:rPr kumimoji="1" lang="en-US" altLang="ko-KR" b="1" dirty="0"/>
              <a:t>~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3</a:t>
            </a:r>
            <a:r>
              <a:rPr kumimoji="1" lang="ko-KR" altLang="en-US" b="1" dirty="0"/>
              <a:t>월 중순</a:t>
            </a:r>
            <a:r>
              <a:rPr kumimoji="1" lang="en-US" altLang="ko-KR" b="1" dirty="0"/>
              <a:t>:</a:t>
            </a:r>
            <a:r>
              <a:rPr kumimoji="1" lang="ko-KR" altLang="en-US" b="1" dirty="0"/>
              <a:t> </a:t>
            </a:r>
            <a:r>
              <a:rPr kumimoji="1" lang="ko-KR" altLang="en-US" dirty="0"/>
              <a:t>데이터셋 구상 및 실험 완료 </a:t>
            </a:r>
            <a:r>
              <a:rPr kumimoji="1" lang="en-US" altLang="ko-KR" dirty="0"/>
              <a:t>+</a:t>
            </a:r>
            <a:r>
              <a:rPr kumimoji="1" lang="ko-KR" altLang="en-US" dirty="0"/>
              <a:t> 오류 해결 </a:t>
            </a:r>
            <a:endParaRPr kumimoji="1" lang="en-US" altLang="ko-KR" dirty="0"/>
          </a:p>
          <a:p>
            <a:pPr marL="457200" lvl="1" indent="0">
              <a:buNone/>
            </a:pPr>
            <a:r>
              <a:rPr kumimoji="1" lang="en-US" altLang="ko-KR" dirty="0"/>
              <a:t>[4]</a:t>
            </a:r>
            <a:r>
              <a:rPr kumimoji="1" lang="ko-KR" altLang="en-US" dirty="0"/>
              <a:t> </a:t>
            </a:r>
            <a:r>
              <a:rPr kumimoji="1" lang="en-US" altLang="ko-KR" b="1" dirty="0"/>
              <a:t>3</a:t>
            </a:r>
            <a:r>
              <a:rPr kumimoji="1" lang="ko-KR" altLang="en-US" b="1" dirty="0"/>
              <a:t>월 말 </a:t>
            </a:r>
            <a:r>
              <a:rPr kumimoji="1" lang="en-US" altLang="ko-KR" b="1" dirty="0"/>
              <a:t>~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4</a:t>
            </a:r>
            <a:r>
              <a:rPr kumimoji="1" lang="ko-KR" altLang="en-US" b="1" dirty="0"/>
              <a:t>월 초 </a:t>
            </a:r>
            <a:r>
              <a:rPr kumimoji="1" lang="en-US" altLang="ko-KR" b="1" dirty="0"/>
              <a:t>:</a:t>
            </a:r>
            <a:r>
              <a:rPr kumimoji="1" lang="ko-KR" altLang="en-US" dirty="0"/>
              <a:t> 보고서 작성 </a:t>
            </a:r>
            <a:r>
              <a:rPr kumimoji="1" lang="en-US" altLang="ko-KR" dirty="0">
                <a:sym typeface="Wingdings" pitchFamily="2" charset="2"/>
              </a:rPr>
              <a:t></a:t>
            </a:r>
            <a:r>
              <a:rPr kumimoji="1" lang="ko-KR" altLang="en-US" dirty="0">
                <a:sym typeface="Wingdings" pitchFamily="2" charset="2"/>
              </a:rPr>
              <a:t> 논문으로 </a:t>
            </a:r>
            <a:endParaRPr kumimoji="1" lang="en-US" altLang="ko-KR" dirty="0"/>
          </a:p>
          <a:p>
            <a:pPr marL="457200" lvl="1" indent="0">
              <a:buNone/>
            </a:pPr>
            <a:endParaRPr kumimoji="1" lang="en-US" altLang="ko-KR" dirty="0"/>
          </a:p>
          <a:p>
            <a:pPr marL="457200" lvl="1" indent="0">
              <a:buNone/>
            </a:pPr>
            <a:r>
              <a:rPr kumimoji="1" lang="en-US" altLang="ko-KR" b="1" dirty="0"/>
              <a:t>-</a:t>
            </a:r>
            <a:r>
              <a:rPr kumimoji="1" lang="ko-KR" altLang="en-US" b="1" dirty="0"/>
              <a:t> 시간 되면</a:t>
            </a:r>
            <a:r>
              <a:rPr kumimoji="1" lang="en-US" altLang="ko-KR" b="1" dirty="0"/>
              <a:t>: </a:t>
            </a:r>
            <a:r>
              <a:rPr kumimoji="1" lang="en-US" altLang="ko-KR" dirty="0"/>
              <a:t>AES + a</a:t>
            </a:r>
          </a:p>
          <a:p>
            <a:pPr lvl="1">
              <a:buFontTx/>
              <a:buChar char="-"/>
            </a:pPr>
            <a:r>
              <a:rPr kumimoji="1" lang="ko-KR" altLang="en-US" b="1" dirty="0"/>
              <a:t>시간 안되면</a:t>
            </a:r>
            <a:r>
              <a:rPr kumimoji="1" lang="en-US" altLang="ko-KR" b="1" dirty="0"/>
              <a:t>:</a:t>
            </a:r>
            <a:r>
              <a:rPr kumimoji="1" lang="ko-KR" altLang="en-US" b="1" dirty="0"/>
              <a:t> </a:t>
            </a:r>
            <a:r>
              <a:rPr kumimoji="1" lang="en-US" altLang="ko-KR" dirty="0"/>
              <a:t>LEA</a:t>
            </a:r>
            <a:r>
              <a:rPr kumimoji="1" lang="ko-KR" altLang="en-US" dirty="0"/>
              <a:t>만 일단</a:t>
            </a:r>
            <a:endParaRPr kumimoji="1" lang="en-US" altLang="ko-KR" dirty="0"/>
          </a:p>
          <a:p>
            <a:pPr marL="457200" lvl="1" indent="0">
              <a:buNone/>
            </a:pPr>
            <a:r>
              <a:rPr kumimoji="1" lang="en-US" altLang="ko-KR" dirty="0"/>
              <a:t>- </a:t>
            </a:r>
            <a:r>
              <a:rPr kumimoji="1" lang="ko-KR" altLang="en-US" dirty="0"/>
              <a:t>그리고 시간이 너무 촉박할 것 같아서 학부연구생도 아예 주제를 지금처럼 하나씩 맡아서 진행하고 서로 피드백 받는 형식으로 진행하는 게 나을 것 같습니다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27EAB2-1C8E-8769-573E-F7C185D57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 dirty="0" err="1"/>
              <a:t>부채널</a:t>
            </a:r>
            <a:r>
              <a:rPr kumimoji="1" lang="ko-KR" altLang="en-US" dirty="0"/>
              <a:t> 공모전</a:t>
            </a:r>
            <a:r>
              <a:rPr kumimoji="1" lang="en-US" altLang="ko-KR" dirty="0"/>
              <a:t>: </a:t>
            </a:r>
            <a:r>
              <a:rPr kumimoji="1" lang="en" altLang="ko-Kore-KR" dirty="0"/>
              <a:t>AI </a:t>
            </a:r>
            <a:r>
              <a:rPr kumimoji="1" lang="ko-KR" altLang="en-US" dirty="0"/>
              <a:t>기반 </a:t>
            </a:r>
            <a:r>
              <a:rPr kumimoji="1" lang="en" altLang="ko-Kore-KR" dirty="0"/>
              <a:t>KCMVP </a:t>
            </a:r>
            <a:r>
              <a:rPr kumimoji="1" lang="ko-KR" altLang="en-US" dirty="0"/>
              <a:t>사전 점검</a:t>
            </a:r>
            <a:endParaRPr kumimoji="1" lang="ko-Kore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075C76-2DE3-A0B6-FB74-912F58C9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84263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8A46C-5792-7796-70F1-341395E7E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B7BC9-CD07-0BE8-9037-3CC695295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5</a:t>
            </a:r>
            <a:r>
              <a:rPr kumimoji="1" lang="en-US" altLang="ko-KR" dirty="0"/>
              <a:t>.2.</a:t>
            </a:r>
            <a:r>
              <a:rPr kumimoji="1" lang="ko-KR" altLang="en-US" dirty="0"/>
              <a:t> 계획</a:t>
            </a:r>
            <a:r>
              <a:rPr kumimoji="1" lang="en-US" altLang="ko-KR" dirty="0"/>
              <a:t>:</a:t>
            </a:r>
            <a:r>
              <a:rPr kumimoji="1" lang="ko-KR" altLang="en-US" dirty="0"/>
              <a:t> 역할 분담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C46191-61D6-8E17-CC09-B479F4998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ko-KR" altLang="en-US" dirty="0"/>
              <a:t>지금 문제가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b="1" dirty="0"/>
              <a:t>(1)</a:t>
            </a:r>
            <a:r>
              <a:rPr kumimoji="1" lang="ko-KR" altLang="en-US" b="1" dirty="0"/>
              <a:t> </a:t>
            </a:r>
            <a:r>
              <a:rPr kumimoji="1" lang="ko-KR" altLang="en-US" b="1" dirty="0" err="1"/>
              <a:t>대칭키</a:t>
            </a:r>
            <a:r>
              <a:rPr kumimoji="1" lang="ko-KR" altLang="en-US" b="1" dirty="0"/>
              <a:t> 하나 </a:t>
            </a:r>
            <a:r>
              <a:rPr kumimoji="1" lang="ko-KR" altLang="en-US" b="1" dirty="0" err="1"/>
              <a:t>룰셋</a:t>
            </a:r>
            <a:r>
              <a:rPr kumimoji="1" lang="ko-KR" altLang="en-US" b="1" dirty="0"/>
              <a:t> 설정하고 돌려보는데 얼마나 걸리느냐</a:t>
            </a:r>
            <a:endParaRPr kumimoji="1" lang="en-US" altLang="ko-KR" b="1" dirty="0"/>
          </a:p>
          <a:p>
            <a:pPr lvl="1">
              <a:buFontTx/>
              <a:buChar char="-"/>
            </a:pPr>
            <a:r>
              <a:rPr kumimoji="1" lang="ko-KR" altLang="en-US" dirty="0"/>
              <a:t>이거는 제가 아직 해보지 않아서 금요일까지 가능성을 봐야 알 것 같습니다</a:t>
            </a:r>
            <a:r>
              <a:rPr kumimoji="1" lang="en-US" altLang="ko-KR" dirty="0"/>
              <a:t>.</a:t>
            </a:r>
          </a:p>
          <a:p>
            <a:pPr marL="0" indent="0">
              <a:buNone/>
            </a:pPr>
            <a:r>
              <a:rPr kumimoji="1" lang="en-US" altLang="ko-KR" b="1" dirty="0"/>
              <a:t>[</a:t>
            </a:r>
            <a:r>
              <a:rPr kumimoji="1" lang="ko-KR" altLang="en-US" b="1" dirty="0"/>
              <a:t>후보 </a:t>
            </a:r>
            <a:r>
              <a:rPr kumimoji="1" lang="en-US" altLang="ko-KR" b="1" dirty="0"/>
              <a:t>1: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(1)</a:t>
            </a:r>
            <a:r>
              <a:rPr kumimoji="1" lang="ko-KR" altLang="en-US" b="1" dirty="0"/>
              <a:t> 이 쉬울 경우 </a:t>
            </a:r>
            <a:r>
              <a:rPr kumimoji="1" lang="en-US" altLang="ko-KR" b="1" dirty="0"/>
              <a:t>]</a:t>
            </a:r>
          </a:p>
          <a:p>
            <a:pPr lvl="1">
              <a:buFontTx/>
              <a:buChar char="-"/>
            </a:pPr>
            <a:r>
              <a:rPr kumimoji="1" lang="ko-KR" altLang="en-US" dirty="0"/>
              <a:t>그러면 최대한 빨리 </a:t>
            </a:r>
            <a:r>
              <a:rPr kumimoji="1" lang="ko-KR" altLang="en-US" dirty="0" err="1"/>
              <a:t>대칭키</a:t>
            </a:r>
            <a:r>
              <a:rPr kumimoji="1" lang="ko-KR" altLang="en-US" dirty="0"/>
              <a:t> 하나 해보고 파이프라인 완료 </a:t>
            </a:r>
            <a:r>
              <a:rPr kumimoji="1" lang="en-US" altLang="ko-KR" dirty="0">
                <a:sym typeface="Wingdings" pitchFamily="2" charset="2"/>
              </a:rPr>
              <a:t></a:t>
            </a:r>
            <a:r>
              <a:rPr kumimoji="1" lang="ko-KR" altLang="en-US" dirty="0">
                <a:sym typeface="Wingdings" pitchFamily="2" charset="2"/>
              </a:rPr>
              <a:t> 한 명씩 </a:t>
            </a:r>
            <a:r>
              <a:rPr kumimoji="1" lang="ko-KR" altLang="en-US" dirty="0" err="1">
                <a:sym typeface="Wingdings" pitchFamily="2" charset="2"/>
              </a:rPr>
              <a:t>대칭키</a:t>
            </a:r>
            <a:r>
              <a:rPr kumimoji="1" lang="ko-KR" altLang="en-US" dirty="0">
                <a:sym typeface="Wingdings" pitchFamily="2" charset="2"/>
              </a:rPr>
              <a:t> 하나씩 맡아서 </a:t>
            </a:r>
            <a:r>
              <a:rPr kumimoji="1" lang="ko-KR" altLang="en-US" dirty="0" err="1">
                <a:sym typeface="Wingdings" pitchFamily="2" charset="2"/>
              </a:rPr>
              <a:t>룰셋</a:t>
            </a:r>
            <a:r>
              <a:rPr kumimoji="1" lang="ko-KR" altLang="en-US" dirty="0">
                <a:sym typeface="Wingdings" pitchFamily="2" charset="2"/>
              </a:rPr>
              <a:t> 세팅하고 실험 각자 돌려서 데이터 많이 쌓기 </a:t>
            </a:r>
            <a:endParaRPr kumimoji="1" lang="en-US" altLang="ko-KR" dirty="0">
              <a:sym typeface="Wingdings" pitchFamily="2" charset="2"/>
            </a:endParaRPr>
          </a:p>
          <a:p>
            <a:pPr lvl="1">
              <a:buFontTx/>
              <a:buChar char="-"/>
            </a:pPr>
            <a:r>
              <a:rPr kumimoji="1" lang="ko-KR" altLang="en-US" dirty="0">
                <a:sym typeface="Wingdings" pitchFamily="2" charset="2"/>
              </a:rPr>
              <a:t>이 경우 역할 분담</a:t>
            </a:r>
            <a:r>
              <a:rPr kumimoji="1" lang="en-US" altLang="ko-KR" dirty="0">
                <a:sym typeface="Wingdings" pitchFamily="2" charset="2"/>
              </a:rPr>
              <a:t>:</a:t>
            </a:r>
            <a:r>
              <a:rPr kumimoji="1" lang="ko-KR" altLang="en-US" dirty="0">
                <a:sym typeface="Wingdings" pitchFamily="2" charset="2"/>
              </a:rPr>
              <a:t> 한 명당 </a:t>
            </a:r>
            <a:r>
              <a:rPr kumimoji="1" lang="ko-KR" altLang="en-US" dirty="0" err="1">
                <a:sym typeface="Wingdings" pitchFamily="2" charset="2"/>
              </a:rPr>
              <a:t>대칭키</a:t>
            </a:r>
            <a:r>
              <a:rPr kumimoji="1" lang="ko-KR" altLang="en-US" dirty="0">
                <a:sym typeface="Wingdings" pitchFamily="2" charset="2"/>
              </a:rPr>
              <a:t> 하나씩</a:t>
            </a:r>
            <a:r>
              <a:rPr kumimoji="1" lang="en-US" altLang="ko-KR" dirty="0">
                <a:sym typeface="Wingdings" pitchFamily="2" charset="2"/>
              </a:rPr>
              <a:t>,</a:t>
            </a:r>
            <a:r>
              <a:rPr kumimoji="1" lang="ko-KR" altLang="en-US" dirty="0">
                <a:sym typeface="Wingdings" pitchFamily="2" charset="2"/>
              </a:rPr>
              <a:t> 문서 작성 </a:t>
            </a:r>
            <a:r>
              <a:rPr kumimoji="1" lang="en-US" altLang="ko-KR" dirty="0">
                <a:sym typeface="Wingdings" pitchFamily="2" charset="2"/>
              </a:rPr>
              <a:t>/</a:t>
            </a:r>
            <a:r>
              <a:rPr kumimoji="1" lang="ko-KR" altLang="en-US" dirty="0">
                <a:sym typeface="Wingdings" pitchFamily="2" charset="2"/>
              </a:rPr>
              <a:t> 프론트 이렇게 나눔</a:t>
            </a:r>
            <a:endParaRPr kumimoji="1" lang="en-US" altLang="ko-KR" dirty="0">
              <a:sym typeface="Wingdings" pitchFamily="2" charset="2"/>
            </a:endParaRPr>
          </a:p>
          <a:p>
            <a:pPr marL="0" indent="0">
              <a:buNone/>
            </a:pPr>
            <a:r>
              <a:rPr kumimoji="1" lang="en-US" altLang="ko-KR" b="1" dirty="0"/>
              <a:t>[</a:t>
            </a:r>
            <a:r>
              <a:rPr kumimoji="1" lang="ko-KR" altLang="en-US" b="1" dirty="0"/>
              <a:t>후보 </a:t>
            </a:r>
            <a:r>
              <a:rPr kumimoji="1" lang="en-US" altLang="ko-KR" b="1" dirty="0"/>
              <a:t>2: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(1)</a:t>
            </a:r>
            <a:r>
              <a:rPr kumimoji="1" lang="ko-KR" altLang="en-US" b="1" dirty="0"/>
              <a:t> 이 어려울 경우 </a:t>
            </a:r>
            <a:r>
              <a:rPr kumimoji="1" lang="en-US" altLang="ko-KR" b="1" dirty="0"/>
              <a:t>]</a:t>
            </a:r>
          </a:p>
          <a:p>
            <a:pPr lvl="1">
              <a:buFontTx/>
              <a:buChar char="-"/>
            </a:pPr>
            <a:r>
              <a:rPr kumimoji="1" lang="ko-KR" altLang="en-US" dirty="0">
                <a:sym typeface="Wingdings" pitchFamily="2" charset="2"/>
              </a:rPr>
              <a:t>그냥 </a:t>
            </a:r>
            <a:r>
              <a:rPr kumimoji="1" lang="ko-KR" altLang="en-US" dirty="0" err="1">
                <a:sym typeface="Wingdings" pitchFamily="2" charset="2"/>
              </a:rPr>
              <a:t>대칭키</a:t>
            </a:r>
            <a:r>
              <a:rPr kumimoji="1" lang="ko-KR" altLang="en-US" dirty="0">
                <a:sym typeface="Wingdings" pitchFamily="2" charset="2"/>
              </a:rPr>
              <a:t> 하나</a:t>
            </a:r>
            <a:r>
              <a:rPr kumimoji="1" lang="en-US" altLang="ko-KR" dirty="0">
                <a:sym typeface="Wingdings" pitchFamily="2" charset="2"/>
              </a:rPr>
              <a:t>(LEA)</a:t>
            </a:r>
            <a:r>
              <a:rPr kumimoji="1" lang="ko-KR" altLang="en-US" dirty="0">
                <a:sym typeface="Wingdings" pitchFamily="2" charset="2"/>
              </a:rPr>
              <a:t>로만 진행 </a:t>
            </a:r>
            <a:r>
              <a:rPr kumimoji="1" lang="en-US" altLang="ko-KR" dirty="0">
                <a:sym typeface="Wingdings" pitchFamily="2" charset="2"/>
              </a:rPr>
              <a:t></a:t>
            </a:r>
            <a:r>
              <a:rPr kumimoji="1" lang="ko-KR" altLang="en-US" dirty="0">
                <a:sym typeface="Wingdings" pitchFamily="2" charset="2"/>
              </a:rPr>
              <a:t> 난이도 확인 후 추후 역할 분담</a:t>
            </a:r>
            <a:r>
              <a:rPr kumimoji="1" lang="en-US" altLang="ko-KR" dirty="0">
                <a:sym typeface="Wingdings" pitchFamily="2" charset="2"/>
              </a:rPr>
              <a:t>…</a:t>
            </a:r>
            <a:r>
              <a:rPr kumimoji="1" lang="ko-KR" altLang="en-US" dirty="0">
                <a:sym typeface="Wingdings" pitchFamily="2" charset="2"/>
              </a:rPr>
              <a:t> 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AB3AFC-0CFB-974E-B401-0048F2317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4B9467-0EFC-3BAC-AF68-6196E0EA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06305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38FC2-97C5-2505-9DEC-EE891719D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6.</a:t>
            </a:r>
            <a:r>
              <a:rPr kumimoji="1" lang="ko-KR" altLang="en-US" dirty="0"/>
              <a:t> </a:t>
            </a:r>
            <a:r>
              <a:rPr kumimoji="1" lang="ko-Kore-KR" altLang="en-US" dirty="0"/>
              <a:t>참고</a:t>
            </a:r>
            <a:r>
              <a:rPr kumimoji="1" lang="ko-KR" altLang="en-US" dirty="0"/>
              <a:t> 사이트 정리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B26556-1A5D-6C90-09A5-7FC5B381A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kumimoji="1" lang="ko-KR" altLang="en-US" dirty="0"/>
              <a:t>국가사이버안보센터</a:t>
            </a:r>
            <a:r>
              <a:rPr kumimoji="1" lang="en-US" altLang="ko-KR" dirty="0"/>
              <a:t>-</a:t>
            </a:r>
            <a:r>
              <a:rPr kumimoji="1" lang="ko-KR" altLang="en-US" dirty="0" err="1"/>
              <a:t>암호모듈검증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" altLang="ko-KR" dirty="0">
                <a:hlinkClick r:id="rId2"/>
              </a:rPr>
              <a:t>https://www.ncsc.go.kr/PageLink.do</a:t>
            </a:r>
            <a:endParaRPr kumimoji="1" lang="en" altLang="ko-KR" dirty="0"/>
          </a:p>
          <a:p>
            <a:pPr marL="514350" indent="-514350">
              <a:buAutoNum type="arabicParenR"/>
            </a:pPr>
            <a:r>
              <a:rPr kumimoji="1" lang="en" altLang="ko-KR" dirty="0"/>
              <a:t>KISA </a:t>
            </a:r>
            <a:r>
              <a:rPr kumimoji="1" lang="ko-KR" altLang="en-US" dirty="0"/>
              <a:t>암호이용활성화</a:t>
            </a:r>
            <a:r>
              <a:rPr kumimoji="1" lang="en-US" altLang="ko-KR" dirty="0"/>
              <a:t>-</a:t>
            </a:r>
            <a:r>
              <a:rPr kumimoji="1" lang="ko-KR" altLang="en-US" dirty="0" err="1"/>
              <a:t>암호모듈검증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" altLang="ko-KR" dirty="0">
                <a:hlinkClick r:id="rId3"/>
              </a:rPr>
              <a:t>https://seed.kisa.or.kr/kisa/kcmvp/EgovSummary.do</a:t>
            </a:r>
            <a:endParaRPr kumimoji="1" lang="en" altLang="ko-KR" dirty="0"/>
          </a:p>
          <a:p>
            <a:pPr marL="514350" indent="-514350">
              <a:buAutoNum type="arabicParenR"/>
            </a:pPr>
            <a:r>
              <a:rPr kumimoji="1" lang="en" altLang="ko-KR" dirty="0"/>
              <a:t>KISA </a:t>
            </a:r>
            <a:r>
              <a:rPr kumimoji="1" lang="ko-KR" altLang="en-US" dirty="0"/>
              <a:t>암호이용활성화</a:t>
            </a:r>
            <a:r>
              <a:rPr kumimoji="1" lang="en-US" altLang="ko-KR" dirty="0"/>
              <a:t>-</a:t>
            </a:r>
            <a:r>
              <a:rPr kumimoji="1" lang="ko-KR" altLang="en-US" dirty="0" err="1"/>
              <a:t>국산암호기술</a:t>
            </a:r>
            <a:r>
              <a:rPr kumimoji="1" lang="en-US" altLang="ko-KR" dirty="0"/>
              <a:t>-LEA(</a:t>
            </a:r>
            <a:r>
              <a:rPr kumimoji="1" lang="ko-KR" altLang="en-US" dirty="0"/>
              <a:t>논문 및 규격서 포함</a:t>
            </a:r>
            <a:r>
              <a:rPr kumimoji="1" lang="en-US" altLang="ko-KR" dirty="0"/>
              <a:t>):</a:t>
            </a:r>
            <a:r>
              <a:rPr kumimoji="1" lang="ko-KR" altLang="en-US" dirty="0"/>
              <a:t> </a:t>
            </a:r>
            <a:r>
              <a:rPr kumimoji="1" lang="en" altLang="ko-KR" dirty="0">
                <a:hlinkClick r:id="rId4"/>
              </a:rPr>
              <a:t>https://seed.kisa.or.kr/kisa/algorithm/EgovLeaInfo.do</a:t>
            </a:r>
            <a:endParaRPr kumimoji="1" lang="en" altLang="ko-KR" dirty="0"/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ko-KR" altLang="en-US" dirty="0"/>
              <a:t>국가보안기술연구소</a:t>
            </a:r>
            <a:r>
              <a:rPr lang="en-US" altLang="ko-KR" dirty="0"/>
              <a:t>. (2015). </a:t>
            </a:r>
            <a:r>
              <a:rPr lang="ko-KR" altLang="en-US" dirty="0"/>
              <a:t>블록암호 </a:t>
            </a:r>
            <a:r>
              <a:rPr lang="en" altLang="ko-Kore-KR" dirty="0"/>
              <a:t>LEA </a:t>
            </a:r>
            <a:r>
              <a:rPr lang="ko-KR" altLang="en-US" dirty="0"/>
              <a:t>소스코드 사용 매뉴얼 </a:t>
            </a:r>
            <a:r>
              <a:rPr lang="en-US" altLang="ko-KR" dirty="0"/>
              <a:t>(</a:t>
            </a:r>
            <a:r>
              <a:rPr lang="en" altLang="ko-Kore-KR" dirty="0"/>
              <a:t>v1.0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LEA</a:t>
            </a:r>
            <a:r>
              <a:rPr lang="ko-KR" altLang="en-US" dirty="0"/>
              <a:t> 이걸로 보면 </a:t>
            </a:r>
            <a:r>
              <a:rPr lang="ko-KR" altLang="en-US" dirty="0" err="1"/>
              <a:t>좋을듯</a:t>
            </a:r>
            <a:r>
              <a:rPr lang="ko-KR" altLang="en-US" dirty="0"/>
              <a:t> 해요</a:t>
            </a:r>
            <a:r>
              <a:rPr lang="en-US" altLang="ko-KR" dirty="0"/>
              <a:t>(</a:t>
            </a:r>
            <a:r>
              <a:rPr lang="ko-KR" altLang="en-US" dirty="0"/>
              <a:t>교수님이 주신 자료에 있음</a:t>
            </a:r>
            <a:r>
              <a:rPr lang="en-US" altLang="ko-KR" dirty="0"/>
              <a:t>)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ko-KR" altLang="en-US" dirty="0"/>
              <a:t>미래창조과학부</a:t>
            </a:r>
            <a:r>
              <a:rPr lang="en-US" altLang="ko-KR" dirty="0"/>
              <a:t>, </a:t>
            </a:r>
            <a:r>
              <a:rPr lang="ko-KR" altLang="en-US" dirty="0"/>
              <a:t>한국인터넷진흥원</a:t>
            </a:r>
            <a:r>
              <a:rPr lang="en-US" altLang="ko-KR" dirty="0"/>
              <a:t>. (2013). </a:t>
            </a:r>
            <a:r>
              <a:rPr lang="ko-KR" altLang="en-US" b="1" dirty="0"/>
              <a:t>암호기술 구현 안내서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" altLang="ko-Kore-KR" dirty="0"/>
              <a:t>KISA </a:t>
            </a:r>
            <a:r>
              <a:rPr lang="ko-KR" altLang="en-US" dirty="0"/>
              <a:t>안내해설 제</a:t>
            </a:r>
            <a:r>
              <a:rPr lang="en-US" altLang="ko-KR" dirty="0"/>
              <a:t>2011-9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en-US" altLang="ko-KR" baseline="30000" dirty="0"/>
          </a:p>
          <a:p>
            <a:pPr marL="514350" indent="-514350">
              <a:buFont typeface="Arial" panose="020B0604020202020204" pitchFamily="34" charset="0"/>
              <a:buAutoNum type="arabicParenR"/>
            </a:pPr>
            <a:endParaRPr kumimoji="1" lang="en" altLang="ko-KR" dirty="0"/>
          </a:p>
          <a:p>
            <a:pPr marL="514350" indent="-514350">
              <a:buAutoNum type="arabicParenR"/>
            </a:pP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8B9458-617B-3E5C-C11B-4FDB0B63C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6E4F11-FC84-4143-DA71-C132E5191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3179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FA31C-DABD-D946-3C92-0A8CC82AF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97429"/>
            <a:ext cx="9144000" cy="121253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ko-Kore-KR" dirty="0"/>
              <a:t>AI </a:t>
            </a:r>
            <a:r>
              <a:rPr kumimoji="1" lang="ko-KR" altLang="en-US" dirty="0"/>
              <a:t>기반 </a:t>
            </a:r>
            <a:r>
              <a:rPr kumimoji="1" lang="en-US" altLang="ko-KR" dirty="0"/>
              <a:t>KCMVP </a:t>
            </a:r>
            <a:r>
              <a:rPr kumimoji="1" lang="ko-KR" altLang="en-US" dirty="0"/>
              <a:t>사전 적합성 검증 도구</a:t>
            </a:r>
            <a:endParaRPr kumimoji="1" lang="ko-Kore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E9EF27-23E1-6D78-A58E-383C3C77AC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ore-KR" dirty="0"/>
              <a:t>2</a:t>
            </a:r>
            <a:r>
              <a:rPr kumimoji="1" lang="en-US" altLang="ko-KR" dirty="0"/>
              <a:t>026.02.25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부채널</a:t>
            </a:r>
            <a:r>
              <a:rPr kumimoji="1" lang="ko-KR" altLang="en-US" dirty="0"/>
              <a:t> 공모전 </a:t>
            </a:r>
            <a:r>
              <a:rPr kumimoji="1" lang="en-US" altLang="ko-KR" dirty="0"/>
              <a:t>Project L3_2</a:t>
            </a:r>
          </a:p>
          <a:p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진행 사항 공유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kumimoji="1" lang="en-US" altLang="ko-KR" dirty="0"/>
              <a:t>20260306</a:t>
            </a:r>
            <a:r>
              <a:rPr kumimoji="1" lang="ko-KR" altLang="en-US" dirty="0"/>
              <a:t> 금요일 회의</a:t>
            </a:r>
            <a:endParaRPr kumimoji="1" lang="en-US" altLang="ko-KR" dirty="0"/>
          </a:p>
          <a:p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B64255-C695-0216-ED11-32EB80FA7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DAF1E0-7C1A-1211-7EFD-23F7FDD3F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351A0-FB10-A7A5-D83D-8C8878EE5367}"/>
              </a:ext>
            </a:extLst>
          </p:cNvPr>
          <p:cNvSpPr txBox="1"/>
          <p:nvPr/>
        </p:nvSpPr>
        <p:spPr>
          <a:xfrm>
            <a:off x="4892233" y="1024879"/>
            <a:ext cx="24075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800" b="1" dirty="0">
                <a:latin typeface="Paperlogy 9 Black" pitchFamily="2" charset="-127"/>
                <a:ea typeface="Paperlogy 9 Black" pitchFamily="2" charset="-127"/>
              </a:rPr>
              <a:t>2</a:t>
            </a:r>
            <a:endParaRPr kumimoji="1" lang="ko-Kore-KR" altLang="en-US" sz="8800" b="1" dirty="0">
              <a:latin typeface="Paperlogy 9 Black" pitchFamily="2" charset="-127"/>
              <a:ea typeface="Paperlogy 9 Black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0407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95F85-6106-4477-12AE-B40FFD82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진행</a:t>
            </a:r>
            <a:r>
              <a:rPr kumimoji="1" lang="ko-KR" altLang="en-US" dirty="0"/>
              <a:t> 사항 요약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LEA</a:t>
            </a:r>
            <a:r>
              <a:rPr kumimoji="1" lang="ko-KR" altLang="en-US" dirty="0"/>
              <a:t>로 진행하기로 함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192BD8-226B-D64E-1EFF-A8DA242B9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>
              <a:sym typeface="Wingdings" pitchFamily="2" charset="2"/>
            </a:endParaRPr>
          </a:p>
          <a:p>
            <a:pPr marL="0" indent="0">
              <a:buNone/>
            </a:pPr>
            <a:endParaRPr kumimoji="1" lang="en-US" altLang="ko-KR" dirty="0">
              <a:sym typeface="Wingdings" pitchFamily="2" charset="2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0A13B0-E39E-2BD4-AF9A-28EEB9736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6A8121-5FD5-C354-D4D3-630A20B3D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14</a:t>
            </a:fld>
            <a:endParaRPr kumimoji="1" lang="ko-Kore-KR" altLang="en-US" dirty="0"/>
          </a:p>
        </p:txBody>
      </p:sp>
      <p:pic>
        <p:nvPicPr>
          <p:cNvPr id="9" name="그림 8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8CB96D-B82C-7C26-DEFE-C481FF0A1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64" y="1918720"/>
            <a:ext cx="6511163" cy="3551544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B3EE750-BE91-9FE4-9EF3-551DBB80A6B7}"/>
              </a:ext>
            </a:extLst>
          </p:cNvPr>
          <p:cNvSpPr txBox="1">
            <a:spLocks/>
          </p:cNvSpPr>
          <p:nvPr/>
        </p:nvSpPr>
        <p:spPr>
          <a:xfrm>
            <a:off x="7465102" y="1594942"/>
            <a:ext cx="3888698" cy="4311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Paperlogy 3 Light" pitchFamily="2" charset="-127"/>
                <a:ea typeface="Paperlogy 3 Light" pitchFamily="2" charset="-127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Paperlogy 3 Light" pitchFamily="2" charset="-127"/>
                <a:ea typeface="Paperlogy 3 Light" pitchFamily="2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Paperlogy 3 Light" pitchFamily="2" charset="-127"/>
                <a:ea typeface="Paperlogy 3 Light" pitchFamily="2" charset="-127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aperlogy 3 Light" pitchFamily="2" charset="-127"/>
                <a:ea typeface="Paperlogy 3 Light" pitchFamily="2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aperlogy 3 Light" pitchFamily="2" charset="-127"/>
                <a:ea typeface="Paperlogy 3 Light" pitchFamily="2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ko-Kore-KR" sz="2400" b="1" dirty="0"/>
              <a:t>UI </a:t>
            </a:r>
            <a:r>
              <a:rPr kumimoji="1" lang="ko-KR" altLang="en-US" sz="2400" b="1" dirty="0"/>
              <a:t>설계는 대략적으로 완료 </a:t>
            </a:r>
            <a:endParaRPr kumimoji="1" lang="en-US" altLang="ko-KR" sz="2400" b="1" dirty="0"/>
          </a:p>
          <a:p>
            <a:pPr marL="0" indent="0" algn="ctr">
              <a:buNone/>
            </a:pPr>
            <a:r>
              <a:rPr kumimoji="1" lang="en-US" altLang="ko-KR" sz="1800" dirty="0">
                <a:sym typeface="Wingdings" pitchFamily="2" charset="2"/>
              </a:rPr>
              <a:t></a:t>
            </a:r>
            <a:r>
              <a:rPr kumimoji="1" lang="ko-KR" altLang="en-US" sz="1800" dirty="0">
                <a:sym typeface="Wingdings" pitchFamily="2" charset="2"/>
              </a:rPr>
              <a:t> 추후 시간 남으면 </a:t>
            </a:r>
            <a:r>
              <a:rPr kumimoji="1" lang="en-US" altLang="ko-KR" sz="1800" dirty="0">
                <a:sym typeface="Wingdings" pitchFamily="2" charset="2"/>
              </a:rPr>
              <a:t>AI </a:t>
            </a:r>
            <a:r>
              <a:rPr kumimoji="1" lang="ko-KR" altLang="en-US" sz="1800" dirty="0">
                <a:sym typeface="Wingdings" pitchFamily="2" charset="2"/>
              </a:rPr>
              <a:t>티 </a:t>
            </a:r>
            <a:r>
              <a:rPr kumimoji="1" lang="ko-KR" altLang="en-US" sz="1800" dirty="0" err="1">
                <a:sym typeface="Wingdings" pitchFamily="2" charset="2"/>
              </a:rPr>
              <a:t>안나게</a:t>
            </a:r>
            <a:r>
              <a:rPr kumimoji="1" lang="ko-KR" altLang="en-US" sz="1800" dirty="0">
                <a:sym typeface="Wingdings" pitchFamily="2" charset="2"/>
              </a:rPr>
              <a:t> </a:t>
            </a:r>
            <a:r>
              <a:rPr kumimoji="1" lang="en-US" altLang="ko-KR" sz="1800" dirty="0">
                <a:sym typeface="Wingdings" pitchFamily="2" charset="2"/>
              </a:rPr>
              <a:t>+</a:t>
            </a:r>
            <a:r>
              <a:rPr kumimoji="1" lang="ko-KR" altLang="en-US" sz="1800" dirty="0">
                <a:sym typeface="Wingdings" pitchFamily="2" charset="2"/>
              </a:rPr>
              <a:t> 디테일한 부분 완성할 예정</a:t>
            </a:r>
            <a:endParaRPr kumimoji="1" lang="en-US" altLang="ko-KR" sz="1800" dirty="0">
              <a:sym typeface="Wingdings" pitchFamily="2" charset="2"/>
            </a:endParaRPr>
          </a:p>
          <a:p>
            <a:pPr algn="ctr"/>
            <a:r>
              <a:rPr kumimoji="1" lang="ko-KR" altLang="en-US" sz="2400" b="1" dirty="0" err="1">
                <a:sym typeface="Wingdings" pitchFamily="2" charset="2"/>
              </a:rPr>
              <a:t>깃허브</a:t>
            </a:r>
            <a:r>
              <a:rPr kumimoji="1" lang="ko-KR" altLang="en-US" sz="2400" b="1" dirty="0">
                <a:sym typeface="Wingdings" pitchFamily="2" charset="2"/>
              </a:rPr>
              <a:t> 연동 </a:t>
            </a:r>
            <a:r>
              <a:rPr kumimoji="1" lang="en-US" altLang="ko-KR" sz="2400" b="1" dirty="0">
                <a:sym typeface="Wingdings" pitchFamily="2" charset="2"/>
              </a:rPr>
              <a:t>x </a:t>
            </a:r>
            <a:r>
              <a:rPr kumimoji="1" lang="ko-KR" altLang="en-US" sz="2400" b="1" dirty="0">
                <a:sym typeface="Wingdings" pitchFamily="2" charset="2"/>
              </a:rPr>
              <a:t>일단은 </a:t>
            </a:r>
            <a:r>
              <a:rPr kumimoji="1" lang="en-US" altLang="ko-KR" sz="2400" b="1" dirty="0">
                <a:sym typeface="Wingdings" pitchFamily="2" charset="2"/>
              </a:rPr>
              <a:t>zip</a:t>
            </a:r>
            <a:r>
              <a:rPr kumimoji="1" lang="ko-KR" altLang="en-US" sz="2400" b="1" dirty="0" err="1">
                <a:sym typeface="Wingdings" pitchFamily="2" charset="2"/>
              </a:rPr>
              <a:t>으로</a:t>
            </a:r>
            <a:r>
              <a:rPr kumimoji="1" lang="ko-KR" altLang="en-US" sz="2400" b="1" dirty="0">
                <a:sym typeface="Wingdings" pitchFamily="2" charset="2"/>
              </a:rPr>
              <a:t> 올리도록 설정 </a:t>
            </a:r>
            <a:endParaRPr kumimoji="1" lang="en-US" altLang="ko-KR" sz="2400" b="1" dirty="0">
              <a:sym typeface="Wingdings" pitchFamily="2" charset="2"/>
            </a:endParaRPr>
          </a:p>
          <a:p>
            <a:pPr marL="0" indent="0" algn="ctr">
              <a:buNone/>
            </a:pPr>
            <a:r>
              <a:rPr kumimoji="1" lang="ko-KR" altLang="en-US" sz="1800" dirty="0">
                <a:sym typeface="Wingdings" pitchFamily="2" charset="2"/>
              </a:rPr>
              <a:t> 테스트 완료 후 연동할 예정 </a:t>
            </a:r>
          </a:p>
          <a:p>
            <a:pPr algn="ctr"/>
            <a:r>
              <a:rPr kumimoji="1" lang="ko-KR" altLang="en-US" sz="2400" b="1" dirty="0">
                <a:sym typeface="Wingdings" pitchFamily="2" charset="2"/>
              </a:rPr>
              <a:t>디테일 구현</a:t>
            </a:r>
            <a:endParaRPr kumimoji="1" lang="en-US" altLang="ko-KR" sz="2400" b="1" dirty="0">
              <a:sym typeface="Wingdings" pitchFamily="2" charset="2"/>
            </a:endParaRPr>
          </a:p>
          <a:p>
            <a:pPr algn="ctr">
              <a:buFont typeface="Wingdings" pitchFamily="2" charset="2"/>
              <a:buChar char="à"/>
            </a:pPr>
            <a:r>
              <a:rPr kumimoji="1" lang="ko-KR" altLang="en-US" sz="1800" dirty="0">
                <a:sym typeface="Wingdings" pitchFamily="2" charset="2"/>
              </a:rPr>
              <a:t>문서 </a:t>
            </a:r>
            <a:r>
              <a:rPr kumimoji="1" lang="en-US" altLang="ko-KR" sz="1800" dirty="0">
                <a:sym typeface="Wingdings" pitchFamily="2" charset="2"/>
              </a:rPr>
              <a:t>-</a:t>
            </a:r>
            <a:r>
              <a:rPr kumimoji="1" lang="ko-KR" altLang="en-US" sz="1800" dirty="0">
                <a:sym typeface="Wingdings" pitchFamily="2" charset="2"/>
              </a:rPr>
              <a:t> 코드 분리 </a:t>
            </a:r>
            <a:endParaRPr kumimoji="1" lang="en-US" altLang="ko-KR" sz="1800" dirty="0">
              <a:sym typeface="Wingdings" pitchFamily="2" charset="2"/>
            </a:endParaRPr>
          </a:p>
          <a:p>
            <a:pPr algn="ctr">
              <a:buFont typeface="Wingdings" pitchFamily="2" charset="2"/>
              <a:buChar char="à"/>
            </a:pPr>
            <a:r>
              <a:rPr kumimoji="1" lang="ko-KR" altLang="en-US" sz="1800" dirty="0">
                <a:sym typeface="Wingdings" pitchFamily="2" charset="2"/>
              </a:rPr>
              <a:t>오류 위치 확인</a:t>
            </a:r>
            <a:endParaRPr kumimoji="1" lang="en-US" altLang="ko-KR" sz="1800" dirty="0">
              <a:sym typeface="Wingdings" pitchFamily="2" charset="2"/>
            </a:endParaRPr>
          </a:p>
          <a:p>
            <a:pPr algn="ctr">
              <a:buFont typeface="Wingdings" pitchFamily="2" charset="2"/>
              <a:buChar char="à"/>
            </a:pPr>
            <a:r>
              <a:rPr kumimoji="1" lang="en-US" altLang="ko-KR" sz="1800" dirty="0">
                <a:sym typeface="Wingdings" pitchFamily="2" charset="2"/>
              </a:rPr>
              <a:t>IDE</a:t>
            </a:r>
            <a:r>
              <a:rPr kumimoji="1" lang="ko-KR" altLang="en-US" sz="1800" dirty="0">
                <a:sym typeface="Wingdings" pitchFamily="2" charset="2"/>
              </a:rPr>
              <a:t> 유사 디자인</a:t>
            </a:r>
            <a:endParaRPr kumimoji="1" lang="en-US" altLang="ko-KR" sz="2400" dirty="0">
              <a:sym typeface="Wingdings" pitchFamily="2" charset="2"/>
            </a:endParaRPr>
          </a:p>
          <a:p>
            <a:pPr algn="ctr"/>
            <a:endParaRPr kumimoji="1" lang="en-US" altLang="ko-KR" sz="2400" dirty="0">
              <a:sym typeface="Wingdings" pitchFamily="2" charset="2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kumimoji="1" lang="en-US" altLang="ko-KR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45845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071B2-8476-33C8-17B5-0474416D4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F22C1E-926E-53B1-4EB4-DA2ABB0A0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진행</a:t>
            </a:r>
            <a:r>
              <a:rPr kumimoji="1" lang="ko-KR" altLang="en-US" dirty="0"/>
              <a:t> 사항 요약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LEA</a:t>
            </a:r>
            <a:r>
              <a:rPr kumimoji="1" lang="ko-KR" altLang="en-US" dirty="0"/>
              <a:t>로 진행하기로 함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AF5CE-78D9-9A86-F9A5-E87184B35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0505" y="1983375"/>
            <a:ext cx="4503295" cy="1853468"/>
          </a:xfrm>
        </p:spPr>
        <p:txBody>
          <a:bodyPr>
            <a:normAutofit/>
          </a:bodyPr>
          <a:lstStyle/>
          <a:p>
            <a:r>
              <a:rPr kumimoji="1" lang="ko-KR" altLang="en-US" dirty="0">
                <a:sym typeface="Wingdings" pitchFamily="2" charset="2"/>
              </a:rPr>
              <a:t>동그라미 친 부분</a:t>
            </a:r>
            <a:r>
              <a:rPr kumimoji="1" lang="en-US" altLang="ko-KR" dirty="0">
                <a:sym typeface="Wingdings" pitchFamily="2" charset="2"/>
              </a:rPr>
              <a:t>:</a:t>
            </a:r>
            <a:r>
              <a:rPr kumimoji="1" lang="ko-KR" altLang="en-US" dirty="0">
                <a:sym typeface="Wingdings" pitchFamily="2" charset="2"/>
              </a:rPr>
              <a:t> </a:t>
            </a:r>
            <a:r>
              <a:rPr kumimoji="1" lang="ko-KR" altLang="en-US" dirty="0" err="1">
                <a:sym typeface="Wingdings" pitchFamily="2" charset="2"/>
              </a:rPr>
              <a:t>백엔드</a:t>
            </a:r>
            <a:r>
              <a:rPr kumimoji="1" lang="ko-KR" altLang="en-US" dirty="0">
                <a:sym typeface="Wingdings" pitchFamily="2" charset="2"/>
              </a:rPr>
              <a:t> 설계까지는 완료</a:t>
            </a:r>
            <a:endParaRPr kumimoji="1" lang="en-US" altLang="ko-KR" dirty="0">
              <a:sym typeface="Wingdings" pitchFamily="2" charset="2"/>
            </a:endParaRPr>
          </a:p>
          <a:p>
            <a:pPr>
              <a:buFont typeface="Wingdings" pitchFamily="2" charset="2"/>
              <a:buChar char="à"/>
            </a:pPr>
            <a:r>
              <a:rPr kumimoji="1" lang="en-US" altLang="ko-KR" sz="1800" dirty="0">
                <a:sym typeface="Wingdings" pitchFamily="2" charset="2"/>
              </a:rPr>
              <a:t>L1</a:t>
            </a:r>
            <a:r>
              <a:rPr kumimoji="1" lang="ko-KR" altLang="en-US" sz="1800" dirty="0">
                <a:sym typeface="Wingdings" pitchFamily="2" charset="2"/>
              </a:rPr>
              <a:t>은 구체화 진행 중</a:t>
            </a:r>
            <a:endParaRPr kumimoji="1" lang="en-US" altLang="ko-KR" sz="1800" dirty="0">
              <a:sym typeface="Wingdings" pitchFamily="2" charset="2"/>
            </a:endParaRPr>
          </a:p>
          <a:p>
            <a:pPr>
              <a:buFont typeface="Wingdings" pitchFamily="2" charset="2"/>
              <a:buChar char="à"/>
            </a:pPr>
            <a:r>
              <a:rPr kumimoji="1" lang="ko-KR" altLang="en-US" sz="1800" dirty="0" err="1">
                <a:sym typeface="Wingdings" pitchFamily="2" charset="2"/>
              </a:rPr>
              <a:t>깃허브</a:t>
            </a:r>
            <a:r>
              <a:rPr kumimoji="1" lang="ko-KR" altLang="en-US" sz="1800" dirty="0">
                <a:sym typeface="Wingdings" pitchFamily="2" charset="2"/>
              </a:rPr>
              <a:t> 연동은 아직 진행 </a:t>
            </a:r>
            <a:r>
              <a:rPr kumimoji="1" lang="en-US" altLang="ko-KR" sz="1800" dirty="0">
                <a:sym typeface="Wingdings" pitchFamily="2" charset="2"/>
              </a:rPr>
              <a:t>X</a:t>
            </a:r>
          </a:p>
          <a:p>
            <a:pPr marL="0" indent="0">
              <a:buNone/>
            </a:pPr>
            <a:endParaRPr kumimoji="1" lang="en-US" altLang="ko-KR" dirty="0">
              <a:sym typeface="Wingdings" pitchFamily="2" charset="2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7D4E82-3D7C-EFA3-41DB-5A7252603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 dirty="0" err="1"/>
              <a:t>부채널</a:t>
            </a:r>
            <a:r>
              <a:rPr kumimoji="1" lang="ko-KR" altLang="en-US" dirty="0"/>
              <a:t> 공모전</a:t>
            </a:r>
            <a:r>
              <a:rPr kumimoji="1" lang="en-US" altLang="ko-KR" dirty="0"/>
              <a:t>: </a:t>
            </a:r>
            <a:r>
              <a:rPr kumimoji="1" lang="en" altLang="ko-Kore-KR" dirty="0"/>
              <a:t>AI </a:t>
            </a:r>
            <a:r>
              <a:rPr kumimoji="1" lang="ko-KR" altLang="en-US" dirty="0"/>
              <a:t>기반 </a:t>
            </a:r>
            <a:r>
              <a:rPr kumimoji="1" lang="en" altLang="ko-Kore-KR" dirty="0"/>
              <a:t>KCMVP </a:t>
            </a:r>
            <a:r>
              <a:rPr kumimoji="1" lang="ko-KR" altLang="en-US" dirty="0"/>
              <a:t>사전 점검</a:t>
            </a:r>
            <a:endParaRPr kumimoji="1" lang="ko-Kore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857BC6-DD08-5157-1A32-05CFFE32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7CD4115-7B25-6F76-78FF-1892200A24B1}"/>
              </a:ext>
            </a:extLst>
          </p:cNvPr>
          <p:cNvGrpSpPr/>
          <p:nvPr/>
        </p:nvGrpSpPr>
        <p:grpSpPr>
          <a:xfrm>
            <a:off x="838200" y="1575532"/>
            <a:ext cx="5682522" cy="2627168"/>
            <a:chOff x="838200" y="2515094"/>
            <a:chExt cx="5682522" cy="262716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0FB0C8E-AD44-2776-F589-C97A9A012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515094"/>
              <a:ext cx="5682522" cy="2627168"/>
            </a:xfrm>
            <a:prstGeom prst="rect">
              <a:avLst/>
            </a:prstGeom>
          </p:spPr>
        </p:pic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9152128-B27F-B536-1212-C4B35CACFECA}"/>
                </a:ext>
              </a:extLst>
            </p:cNvPr>
            <p:cNvSpPr/>
            <p:nvPr/>
          </p:nvSpPr>
          <p:spPr>
            <a:xfrm>
              <a:off x="1349113" y="2783494"/>
              <a:ext cx="629587" cy="64550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b="1" dirty="0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273A0A6-021A-3734-CA85-EE84300CE25D}"/>
                </a:ext>
              </a:extLst>
            </p:cNvPr>
            <p:cNvSpPr/>
            <p:nvPr/>
          </p:nvSpPr>
          <p:spPr>
            <a:xfrm>
              <a:off x="1349113" y="3505925"/>
              <a:ext cx="629587" cy="64550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b="1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776D5E7-3BB1-658C-6F13-306A40A7C2A0}"/>
                </a:ext>
              </a:extLst>
            </p:cNvPr>
            <p:cNvSpPr/>
            <p:nvPr/>
          </p:nvSpPr>
          <p:spPr>
            <a:xfrm>
              <a:off x="3620123" y="3505925"/>
              <a:ext cx="629587" cy="64550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b="1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5958276-6F67-7AF0-9190-65F877E1B702}"/>
                </a:ext>
              </a:extLst>
            </p:cNvPr>
            <p:cNvSpPr/>
            <p:nvPr/>
          </p:nvSpPr>
          <p:spPr>
            <a:xfrm>
              <a:off x="3620122" y="2881595"/>
              <a:ext cx="629587" cy="64550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b="1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5E093D0-761C-3B09-8134-64C207C46BC4}"/>
              </a:ext>
            </a:extLst>
          </p:cNvPr>
          <p:cNvSpPr txBox="1"/>
          <p:nvPr/>
        </p:nvSpPr>
        <p:spPr>
          <a:xfrm>
            <a:off x="1231067" y="4461173"/>
            <a:ext cx="9729865" cy="16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AI</a:t>
            </a: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는 </a:t>
            </a:r>
            <a:r>
              <a:rPr kumimoji="1" lang="en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gemini</a:t>
            </a:r>
            <a:r>
              <a:rPr kumimoji="1" lang="en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-flash-lite-latest </a:t>
            </a: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사용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(</a:t>
            </a: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무료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)</a:t>
            </a:r>
            <a:r>
              <a:rPr kumimoji="1" lang="en-US" altLang="ko-KR" sz="2400" b="1" dirty="0">
                <a:solidFill>
                  <a:prstClr val="black"/>
                </a:solidFill>
                <a:latin typeface="Paperlogy 3 Light" pitchFamily="2" charset="-127"/>
                <a:ea typeface="Paperlogy 3 Light" pitchFamily="2" charset="-127"/>
                <a:sym typeface="Wingdings" pitchFamily="2" charset="2"/>
              </a:rPr>
              <a:t>,</a:t>
            </a: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 하루 </a:t>
            </a:r>
            <a:r>
              <a:rPr kumimoji="1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20</a:t>
            </a: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번 제한 존재 </a:t>
            </a:r>
            <a:endParaRPr kumimoji="1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aperlogy 3 Light" pitchFamily="2" charset="-127"/>
              <a:ea typeface="Paperlogy 3 Light" pitchFamily="2" charset="-127"/>
              <a:cs typeface="+mn-cs"/>
              <a:sym typeface="Wingdings" pitchFamily="2" charset="2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à"/>
              <a:tabLst/>
              <a:defRPr/>
            </a:pP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그래서 서류 전체를 검토하는 건 어려울 것이라 판단 </a:t>
            </a: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</a:t>
            </a: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 </a:t>
            </a: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L1</a:t>
            </a: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에서 폭 넓게 체크</a:t>
            </a:r>
            <a:r>
              <a:rPr kumimoji="1" lang="ko-KR" altLang="en-US" sz="2400" dirty="0">
                <a:solidFill>
                  <a:prstClr val="black"/>
                </a:solidFill>
                <a:latin typeface="Paperlogy 3 Light" pitchFamily="2" charset="-127"/>
                <a:ea typeface="Paperlogy 3 Light" pitchFamily="2" charset="-127"/>
                <a:sym typeface="Wingdings" pitchFamily="2" charset="2"/>
              </a:rPr>
              <a:t> </a:t>
            </a: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</a:t>
            </a: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 </a:t>
            </a: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L2</a:t>
            </a: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가 맥락을 보고 체크한 부분이 실제 문제인지</a:t>
            </a: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,</a:t>
            </a: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 맥락상 통과되는지 확인 </a:t>
            </a:r>
            <a:endParaRPr kumimoji="1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aperlogy 3 Light" pitchFamily="2" charset="-127"/>
              <a:ea typeface="Paperlogy 3 Light" pitchFamily="2" charset="-127"/>
              <a:cs typeface="+mn-cs"/>
              <a:sym typeface="Wingdings" pitchFamily="2" charset="2"/>
            </a:endParaRPr>
          </a:p>
          <a:p>
            <a:pPr marR="0" lvl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</a:t>
            </a: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 </a:t>
            </a: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L3 </a:t>
            </a:r>
            <a:r>
              <a:rPr kumimoji="1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3 Light" pitchFamily="2" charset="-127"/>
                <a:ea typeface="Paperlogy 3 Light" pitchFamily="2" charset="-127"/>
                <a:cs typeface="+mn-cs"/>
                <a:sym typeface="Wingdings" pitchFamily="2" charset="2"/>
              </a:rPr>
              <a:t>에서 최종 확인하고 근거 인용</a:t>
            </a:r>
            <a:endParaRPr kumimoji="1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aperlogy 3 Light" pitchFamily="2" charset="-127"/>
              <a:ea typeface="Paperlogy 3 Light" pitchFamily="2" charset="-127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42164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B54BD5-1DCB-0138-EF1C-D06B57BD8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L1 </a:t>
            </a:r>
            <a:r>
              <a:rPr kumimoji="1" lang="ko-Kore-KR" altLang="en-US" dirty="0"/>
              <a:t>구체화</a:t>
            </a:r>
            <a:r>
              <a:rPr kumimoji="1" lang="ko-KR" altLang="en-US" dirty="0"/>
              <a:t> </a:t>
            </a: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63D4EE-4942-FE6A-BAC8-9C6F7955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925C52-79E9-229A-9229-1FBA2BAEA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18D7C69-3D23-3C2D-2292-E92FA4308371}"/>
              </a:ext>
            </a:extLst>
          </p:cNvPr>
          <p:cNvGrpSpPr/>
          <p:nvPr/>
        </p:nvGrpSpPr>
        <p:grpSpPr>
          <a:xfrm>
            <a:off x="467592" y="1426673"/>
            <a:ext cx="11205167" cy="4641618"/>
            <a:chOff x="467592" y="1426673"/>
            <a:chExt cx="11205167" cy="4641618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E24A1FF-1C89-3AE1-3EAE-DA7D269FFEB0}"/>
                </a:ext>
              </a:extLst>
            </p:cNvPr>
            <p:cNvSpPr/>
            <p:nvPr/>
          </p:nvSpPr>
          <p:spPr>
            <a:xfrm>
              <a:off x="4329545" y="1752311"/>
              <a:ext cx="4558148" cy="43159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ko-Kore-KR" sz="2400" dirty="0">
                <a:solidFill>
                  <a:sysClr val="windowText" lastClr="000000"/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170CD22-4271-0870-7B48-6B87C0D83B20}"/>
                </a:ext>
              </a:extLst>
            </p:cNvPr>
            <p:cNvSpPr/>
            <p:nvPr/>
          </p:nvSpPr>
          <p:spPr>
            <a:xfrm>
              <a:off x="526472" y="2005445"/>
              <a:ext cx="3200400" cy="8827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sz="2400" b="1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Input</a:t>
              </a:r>
            </a:p>
            <a:p>
              <a:pPr algn="ctr"/>
              <a:r>
                <a:rPr kumimoji="1" lang="en-US" altLang="ko-Kore-KR" dirty="0" err="1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Github</a:t>
              </a:r>
              <a:r>
                <a:rPr kumimoji="1" lang="en-US" altLang="ko-Kore-KR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 or Drag&amp;Drop</a:t>
              </a:r>
              <a:endParaRPr kumimoji="1" lang="ko-Kore-KR" altLang="en-US" dirty="0">
                <a:solidFill>
                  <a:sysClr val="windowText" lastClr="000000"/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85658CD-2F28-AF9C-3AD8-6564E3A99C0D}"/>
                </a:ext>
              </a:extLst>
            </p:cNvPr>
            <p:cNvSpPr/>
            <p:nvPr/>
          </p:nvSpPr>
          <p:spPr>
            <a:xfrm>
              <a:off x="526472" y="3464009"/>
              <a:ext cx="3200400" cy="8827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AST (</a:t>
              </a:r>
              <a:r>
                <a:rPr kumimoji="1" lang="ko-KR" altLang="en-US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추상 구문 트리</a:t>
              </a:r>
              <a:r>
                <a:rPr kumimoji="1" lang="en-US" altLang="ko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)</a:t>
              </a:r>
              <a:endParaRPr kumimoji="1" lang="ko-Kore-KR" altLang="en-US" sz="2400" dirty="0">
                <a:solidFill>
                  <a:sysClr val="windowText" lastClr="000000"/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A0F12E2-DBDA-C783-BE95-AEB68DF29778}"/>
                </a:ext>
              </a:extLst>
            </p:cNvPr>
            <p:cNvSpPr/>
            <p:nvPr/>
          </p:nvSpPr>
          <p:spPr>
            <a:xfrm>
              <a:off x="5008419" y="1426673"/>
              <a:ext cx="3200400" cy="65127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AI-based Engine</a:t>
              </a:r>
              <a:endParaRPr kumimoji="1" lang="ko-Kore-KR" altLang="en-US" dirty="0">
                <a:solidFill>
                  <a:sysClr val="windowText" lastClr="000000"/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BF7E94D8-EDCC-295B-DC8E-CAF74B0F1A2F}"/>
                </a:ext>
              </a:extLst>
            </p:cNvPr>
            <p:cNvCxnSpPr>
              <a:stCxn id="26" idx="2"/>
              <a:endCxn id="27" idx="0"/>
            </p:cNvCxnSpPr>
            <p:nvPr/>
          </p:nvCxnSpPr>
          <p:spPr>
            <a:xfrm>
              <a:off x="2126672" y="2888207"/>
              <a:ext cx="0" cy="5758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4B2BCED1-CECA-EF3B-3423-7EDAE24A1EAC}"/>
                </a:ext>
              </a:extLst>
            </p:cNvPr>
            <p:cNvCxnSpPr>
              <a:cxnSpLocks/>
              <a:stCxn id="27" idx="3"/>
              <a:endCxn id="25" idx="1"/>
            </p:cNvCxnSpPr>
            <p:nvPr/>
          </p:nvCxnSpPr>
          <p:spPr>
            <a:xfrm>
              <a:off x="3726872" y="3905390"/>
              <a:ext cx="602673" cy="49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19DEFBD3-D4A6-0E92-0D9A-E118269575B8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6622472" y="3175867"/>
              <a:ext cx="0" cy="16927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5339983-CA6C-478B-5DC7-55D7EE4FF339}"/>
                </a:ext>
              </a:extLst>
            </p:cNvPr>
            <p:cNvSpPr/>
            <p:nvPr/>
          </p:nvSpPr>
          <p:spPr>
            <a:xfrm>
              <a:off x="4565072" y="2293105"/>
              <a:ext cx="4114800" cy="8827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Rule Engine (L1)</a:t>
              </a:r>
            </a:p>
            <a:p>
              <a:pPr algn="ctr"/>
              <a:r>
                <a:rPr kumimoji="1" lang="ko-KR" altLang="en-US" dirty="0" err="1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룰셋</a:t>
              </a:r>
              <a:r>
                <a:rPr kumimoji="1" lang="ko-KR" altLang="en-US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 기반 탐지</a:t>
              </a:r>
              <a:endParaRPr kumimoji="1" lang="ko-Kore-KR" altLang="en-US" dirty="0">
                <a:solidFill>
                  <a:sysClr val="windowText" lastClr="000000"/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B06800D-2A44-8DE1-9875-FB44B9A2A03C}"/>
                </a:ext>
              </a:extLst>
            </p:cNvPr>
            <p:cNvSpPr/>
            <p:nvPr/>
          </p:nvSpPr>
          <p:spPr>
            <a:xfrm>
              <a:off x="4565072" y="4868609"/>
              <a:ext cx="4114800" cy="8827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RAG </a:t>
              </a:r>
              <a:r>
                <a:rPr kumimoji="1" lang="ko-KR" altLang="en-US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결합 </a:t>
              </a:r>
              <a:r>
                <a:rPr kumimoji="1" lang="en-US" altLang="ko-Kore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(L3)</a:t>
              </a:r>
            </a:p>
            <a:p>
              <a:pPr algn="ctr"/>
              <a:r>
                <a:rPr kumimoji="1" lang="ko-KR" altLang="en-US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가이드 문서 매칭 </a:t>
              </a:r>
              <a:r>
                <a:rPr kumimoji="1" lang="en-US" altLang="ko-KR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</a:t>
              </a:r>
              <a:r>
                <a:rPr kumimoji="1" lang="ko-KR" altLang="en-US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 위반 근거 추출</a:t>
              </a:r>
              <a:endParaRPr kumimoji="1" lang="ko-Kore-KR" altLang="en-US" dirty="0">
                <a:solidFill>
                  <a:sysClr val="windowText" lastClr="000000"/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C033D33-D7AD-FA65-D433-1635EA367AA0}"/>
                </a:ext>
              </a:extLst>
            </p:cNvPr>
            <p:cNvSpPr/>
            <p:nvPr/>
          </p:nvSpPr>
          <p:spPr>
            <a:xfrm>
              <a:off x="4565072" y="3580136"/>
              <a:ext cx="4114800" cy="8827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LLM </a:t>
              </a:r>
              <a:r>
                <a:rPr kumimoji="1" lang="en-US" altLang="ko-Kore-KR" sz="2400" dirty="0" err="1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Contextualizer</a:t>
              </a:r>
              <a:r>
                <a:rPr kumimoji="1" lang="en-US" altLang="ko-Kore-KR" sz="2400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 (L2)</a:t>
              </a:r>
            </a:p>
            <a:p>
              <a:pPr algn="ctr"/>
              <a:r>
                <a:rPr kumimoji="1" lang="ko-KR" altLang="en-US" dirty="0">
                  <a:solidFill>
                    <a:sysClr val="windowText" lastClr="000000"/>
                  </a:solidFill>
                  <a:latin typeface="Paperlogy 4 Regular" pitchFamily="2" charset="-127"/>
                  <a:ea typeface="Paperlogy 4 Regular" pitchFamily="2" charset="-127"/>
                </a:rPr>
                <a:t>의미적 오류 탐지</a:t>
              </a:r>
              <a:endParaRPr kumimoji="1" lang="ko-Kore-KR" altLang="en-US" dirty="0">
                <a:solidFill>
                  <a:sysClr val="windowText" lastClr="000000"/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E37264F-26F7-A52A-EA73-6E956CD6ACE9}"/>
                </a:ext>
              </a:extLst>
            </p:cNvPr>
            <p:cNvSpPr txBox="1"/>
            <p:nvPr/>
          </p:nvSpPr>
          <p:spPr>
            <a:xfrm>
              <a:off x="2225492" y="2966909"/>
              <a:ext cx="7954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dirty="0">
                  <a:latin typeface="Paperlogy 4 Regular" pitchFamily="2" charset="-127"/>
                  <a:ea typeface="Paperlogy 4 Regular" pitchFamily="2" charset="-127"/>
                </a:rPr>
                <a:t>전처리</a:t>
              </a:r>
            </a:p>
          </p:txBody>
        </p: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2580BEAD-3F25-323C-BE55-2258E2A21D66}"/>
                </a:ext>
              </a:extLst>
            </p:cNvPr>
            <p:cNvCxnSpPr>
              <a:cxnSpLocks/>
              <a:stCxn id="25" idx="3"/>
            </p:cNvCxnSpPr>
            <p:nvPr/>
          </p:nvCxnSpPr>
          <p:spPr>
            <a:xfrm flipV="1">
              <a:off x="8887693" y="3905390"/>
              <a:ext cx="602673" cy="49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9CF06E2-D8B9-E32C-3752-63B1ECE444F9}"/>
                </a:ext>
              </a:extLst>
            </p:cNvPr>
            <p:cNvSpPr txBox="1"/>
            <p:nvPr/>
          </p:nvSpPr>
          <p:spPr>
            <a:xfrm>
              <a:off x="467592" y="4394661"/>
              <a:ext cx="35952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ore-KR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</a:rPr>
                <a:t>AST: 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</a:rPr>
                <a:t>소스코드를 단순한 글자가 아닌 논리적인 구조</a:t>
              </a:r>
              <a:r>
                <a:rPr kumimoji="1" lang="en-US" altLang="ko-KR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</a:rPr>
                <a:t>(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</a:rPr>
                <a:t>트리</a:t>
              </a:r>
              <a:r>
                <a:rPr kumimoji="1" lang="en-US" altLang="ko-KR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</a:rPr>
                <a:t>)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</a:rPr>
                <a:t>로 변환</a:t>
              </a:r>
              <a:endParaRPr kumimoji="1" lang="en-US" altLang="ko-KR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</a:endParaRPr>
            </a:p>
            <a:p>
              <a:r>
                <a:rPr kumimoji="1" lang="en-US" altLang="ko-KR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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 언어에 관계 없이 공통적으로 분석할 수 있도록 함</a:t>
              </a:r>
              <a:r>
                <a:rPr kumimoji="1" lang="en-US" altLang="ko-KR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(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주석 제거</a:t>
              </a:r>
              <a:r>
                <a:rPr kumimoji="1" lang="en-US" altLang="ko-KR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,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 코드 </a:t>
              </a:r>
              <a:r>
                <a:rPr kumimoji="1" lang="ko-KR" altLang="en-US" sz="1600" dirty="0" err="1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포맷팅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 </a:t>
              </a:r>
              <a:r>
                <a:rPr kumimoji="1" lang="en-US" altLang="ko-KR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…)</a:t>
              </a:r>
              <a:r>
                <a:rPr kumimoji="1" lang="ko-KR" altLang="en-US" sz="1600" dirty="0">
                  <a:solidFill>
                    <a:schemeClr val="bg1">
                      <a:lumMod val="50000"/>
                    </a:schemeClr>
                  </a:solidFill>
                  <a:latin typeface="Paperlogy 4 Regular" pitchFamily="2" charset="-127"/>
                  <a:ea typeface="Paperlogy 4 Regular" pitchFamily="2" charset="-127"/>
                  <a:sym typeface="Wingdings" pitchFamily="2" charset="2"/>
                </a:rPr>
                <a:t> </a:t>
              </a:r>
              <a:endParaRPr kumimoji="1" lang="ko-Kore-KR" altLang="en-US" sz="1600" dirty="0">
                <a:solidFill>
                  <a:schemeClr val="bg1">
                    <a:lumMod val="50000"/>
                  </a:schemeClr>
                </a:solidFill>
                <a:latin typeface="Paperlogy 4 Regular" pitchFamily="2" charset="-127"/>
                <a:ea typeface="Paperlogy 4 Regular" pitchFamily="2" charset="-127"/>
              </a:endParaRPr>
            </a:p>
          </p:txBody>
        </p:sp>
        <p:pic>
          <p:nvPicPr>
            <p:cNvPr id="38" name="그래픽 37" descr="문서 윤곽선">
              <a:extLst>
                <a:ext uri="{FF2B5EF4-FFF2-40B4-BE49-F238E27FC236}">
                  <a16:creationId xmlns:a16="http://schemas.microsoft.com/office/drawing/2014/main" id="{48AAB249-CFE0-AD62-BACB-A9BFD05CFC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108432" y="2228618"/>
              <a:ext cx="914400" cy="914400"/>
            </a:xfrm>
            <a:prstGeom prst="rect">
              <a:avLst/>
            </a:prstGeom>
          </p:spPr>
        </p:pic>
        <p:pic>
          <p:nvPicPr>
            <p:cNvPr id="39" name="그래픽 38" descr="계약 윤곽선">
              <a:extLst>
                <a:ext uri="{FF2B5EF4-FFF2-40B4-BE49-F238E27FC236}">
                  <a16:creationId xmlns:a16="http://schemas.microsoft.com/office/drawing/2014/main" id="{02547E91-08B8-6617-FA45-782E32E4C5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08432" y="4070834"/>
              <a:ext cx="914400" cy="9144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C56136B-F77C-FB70-4613-E753C5A97EAE}"/>
                </a:ext>
              </a:extLst>
            </p:cNvPr>
            <p:cNvSpPr txBox="1"/>
            <p:nvPr/>
          </p:nvSpPr>
          <p:spPr>
            <a:xfrm>
              <a:off x="9621676" y="3189382"/>
              <a:ext cx="20510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ore-KR" altLang="en-US" sz="2400" dirty="0">
                  <a:latin typeface="Paperlogy 4 Regular" pitchFamily="2" charset="-127"/>
                  <a:ea typeface="Paperlogy 4 Regular" pitchFamily="2" charset="-127"/>
                </a:rPr>
                <a:t>분석</a:t>
              </a:r>
              <a:r>
                <a:rPr kumimoji="1" lang="ko-KR" altLang="en-US" sz="2400" dirty="0">
                  <a:latin typeface="Paperlogy 4 Regular" pitchFamily="2" charset="-127"/>
                  <a:ea typeface="Paperlogy 4 Regular" pitchFamily="2" charset="-127"/>
                </a:rPr>
                <a:t> 보고서</a:t>
              </a:r>
              <a:endParaRPr kumimoji="1" lang="ko-Kore-KR" altLang="en-US" sz="2400" dirty="0"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E11A907-14C2-A09C-E860-19F802AFCE04}"/>
                </a:ext>
              </a:extLst>
            </p:cNvPr>
            <p:cNvSpPr txBox="1"/>
            <p:nvPr/>
          </p:nvSpPr>
          <p:spPr>
            <a:xfrm>
              <a:off x="9621676" y="5080524"/>
              <a:ext cx="205108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ore-KR" altLang="en-US" sz="2400" dirty="0">
                  <a:latin typeface="Paperlogy 4 Regular" pitchFamily="2" charset="-127"/>
                  <a:ea typeface="Paperlogy 4 Regular" pitchFamily="2" charset="-127"/>
                </a:rPr>
                <a:t>패치</a:t>
              </a:r>
              <a:r>
                <a:rPr kumimoji="1" lang="ko-KR" altLang="en-US" sz="2400" dirty="0">
                  <a:latin typeface="Paperlogy 4 Regular" pitchFamily="2" charset="-127"/>
                  <a:ea typeface="Paperlogy 4 Regular" pitchFamily="2" charset="-127"/>
                </a:rPr>
                <a:t> 파일 </a:t>
              </a:r>
              <a:r>
                <a:rPr kumimoji="1" lang="en-US" altLang="ko-KR" sz="2400" dirty="0">
                  <a:latin typeface="Paperlogy 4 Regular" pitchFamily="2" charset="-127"/>
                  <a:ea typeface="Paperlogy 4 Regular" pitchFamily="2" charset="-127"/>
                </a:rPr>
                <a:t>md</a:t>
              </a:r>
            </a:p>
            <a:p>
              <a:pPr algn="ctr"/>
              <a:r>
                <a:rPr kumimoji="1" lang="en-US" altLang="ko-KR" dirty="0">
                  <a:latin typeface="Paperlogy 4 Regular" pitchFamily="2" charset="-127"/>
                  <a:ea typeface="Paperlogy 4 Regular" pitchFamily="2" charset="-127"/>
                </a:rPr>
                <a:t>(</a:t>
              </a:r>
              <a:r>
                <a:rPr kumimoji="1" lang="ko-KR" altLang="en-US" dirty="0">
                  <a:latin typeface="Paperlogy 4 Regular" pitchFamily="2" charset="-127"/>
                  <a:ea typeface="Paperlogy 4 Regular" pitchFamily="2" charset="-127"/>
                </a:rPr>
                <a:t>수정 예시 코드</a:t>
              </a:r>
              <a:r>
                <a:rPr kumimoji="1" lang="en-US" altLang="ko-KR" dirty="0">
                  <a:latin typeface="Paperlogy 4 Regular" pitchFamily="2" charset="-127"/>
                  <a:ea typeface="Paperlogy 4 Regular" pitchFamily="2" charset="-127"/>
                </a:rPr>
                <a:t>)</a:t>
              </a:r>
              <a:endParaRPr kumimoji="1" lang="ko-Kore-KR" altLang="en-US" dirty="0">
                <a:latin typeface="Paperlogy 4 Regular" pitchFamily="2" charset="-127"/>
                <a:ea typeface="Paperlogy 4 Regular" pitchFamily="2" charset="-127"/>
              </a:endParaRPr>
            </a:p>
          </p:txBody>
        </p:sp>
      </p:grp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7AF7FE6-6778-784B-B740-10C6DCFBCBD5}"/>
              </a:ext>
            </a:extLst>
          </p:cNvPr>
          <p:cNvCxnSpPr>
            <a:cxnSpLocks/>
          </p:cNvCxnSpPr>
          <p:nvPr/>
        </p:nvCxnSpPr>
        <p:spPr>
          <a:xfrm flipH="1">
            <a:off x="8153400" y="2713219"/>
            <a:ext cx="1005590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247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B934D-B1D2-F8D5-DFC2-EBA9BBCBE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32E5F-A320-6672-FBA6-C9252AD10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ore-KR" dirty="0"/>
              <a:t>L1 </a:t>
            </a:r>
            <a:r>
              <a:rPr kumimoji="1" lang="ko-KR" altLang="en-US" dirty="0"/>
              <a:t>구체화 코드 부분 </a:t>
            </a:r>
            <a:r>
              <a:rPr kumimoji="1" lang="en-US" altLang="ko-KR" dirty="0"/>
              <a:t>(</a:t>
            </a:r>
            <a:r>
              <a:rPr kumimoji="1" lang="ko-KR" altLang="en-US" dirty="0"/>
              <a:t>초안</a:t>
            </a:r>
            <a:r>
              <a:rPr kumimoji="1" lang="en-US" altLang="ko-KR" dirty="0"/>
              <a:t>)</a:t>
            </a:r>
            <a:r>
              <a:rPr kumimoji="1" lang="ko-KR" altLang="en-US" dirty="0"/>
              <a:t> 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1B09E1-D683-EC83-0BE1-6952E0B48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kumimoji="1" lang="ko-KR" altLang="en-US" b="1" dirty="0"/>
              <a:t>공통 보안 </a:t>
            </a:r>
            <a:r>
              <a:rPr kumimoji="1" lang="ko-KR" altLang="en-US" b="1" dirty="0" err="1"/>
              <a:t>룰셋</a:t>
            </a:r>
            <a:endParaRPr kumimoji="1" lang="en-US" altLang="ko-KR" b="1" dirty="0"/>
          </a:p>
          <a:p>
            <a:pPr lvl="1">
              <a:buFontTx/>
              <a:buChar char="-"/>
            </a:pPr>
            <a:r>
              <a:rPr kumimoji="1" lang="ko-KR" altLang="en-US" dirty="0"/>
              <a:t>알고리즘이나 운영 모드에 상관 없이 </a:t>
            </a:r>
            <a:r>
              <a:rPr kumimoji="1" lang="en-US" altLang="ko-KR" dirty="0"/>
              <a:t>KCMVP </a:t>
            </a:r>
            <a:r>
              <a:rPr kumimoji="1" lang="ko-KR" altLang="en-US" dirty="0"/>
              <a:t>인증을 위해 반드시 </a:t>
            </a:r>
            <a:r>
              <a:rPr kumimoji="1" lang="ko-KR" altLang="en-US" dirty="0" err="1"/>
              <a:t>지켜야할</a:t>
            </a:r>
            <a:r>
              <a:rPr kumimoji="1" lang="ko-KR" altLang="en-US" dirty="0"/>
              <a:t> 룰</a:t>
            </a:r>
            <a:endParaRPr kumimoji="1" lang="en-US" altLang="ko-KR" dirty="0"/>
          </a:p>
          <a:p>
            <a:pPr lvl="1">
              <a:buFontTx/>
              <a:buChar char="-"/>
            </a:pPr>
            <a:r>
              <a:rPr kumimoji="1" lang="en-US" altLang="ko-KR" dirty="0"/>
              <a:t>Ex)</a:t>
            </a:r>
            <a:r>
              <a:rPr kumimoji="1" lang="ko-KR" altLang="en-US" dirty="0"/>
              <a:t> 잔존 정보 제거 여부</a:t>
            </a:r>
            <a:r>
              <a:rPr kumimoji="1" lang="en-US" altLang="ko-KR" dirty="0"/>
              <a:t>,</a:t>
            </a:r>
            <a:r>
              <a:rPr kumimoji="1" lang="ko-KR" altLang="en-US" dirty="0"/>
              <a:t> 에러 처리 여부 </a:t>
            </a:r>
            <a:endParaRPr kumimoji="1" lang="en-US" altLang="ko-Kore-KR" dirty="0"/>
          </a:p>
          <a:p>
            <a:pPr marL="514350" indent="-514350">
              <a:buAutoNum type="arabicParenR"/>
            </a:pPr>
            <a:r>
              <a:rPr kumimoji="1" lang="ko-KR" altLang="en-US" b="1" dirty="0"/>
              <a:t>알고리즘 공통 </a:t>
            </a:r>
            <a:r>
              <a:rPr kumimoji="1" lang="ko-KR" altLang="en-US" b="1" dirty="0" err="1"/>
              <a:t>룰셋</a:t>
            </a:r>
            <a:endParaRPr kumimoji="1" lang="en-US" altLang="ko-KR" b="1" dirty="0"/>
          </a:p>
          <a:p>
            <a:pPr lvl="1">
              <a:buFontTx/>
              <a:buChar char="-"/>
            </a:pPr>
            <a:r>
              <a:rPr kumimoji="1" lang="ko-KR" altLang="en-US" dirty="0"/>
              <a:t>같은 알고리즘 내에서 알고리즘 자체의 구현이 잘 지켜졌는지 여부에 대한 룰</a:t>
            </a:r>
            <a:endParaRPr kumimoji="1" lang="en-US" altLang="ko-KR" dirty="0"/>
          </a:p>
          <a:p>
            <a:pPr lvl="1">
              <a:buFontTx/>
              <a:buChar char="-"/>
            </a:pPr>
            <a:r>
              <a:rPr kumimoji="1" lang="en-US" altLang="ko-Kore-KR" dirty="0"/>
              <a:t>Ex) </a:t>
            </a:r>
            <a:r>
              <a:rPr kumimoji="1" lang="ko-KR" altLang="en-US" dirty="0"/>
              <a:t>키 스케줄링 </a:t>
            </a:r>
            <a:r>
              <a:rPr kumimoji="1" lang="ko-KR" altLang="en-US" dirty="0" err="1"/>
              <a:t>올바른가</a:t>
            </a:r>
            <a:r>
              <a:rPr kumimoji="1" lang="en-US" altLang="ko-KR" dirty="0"/>
              <a:t>?</a:t>
            </a:r>
            <a:r>
              <a:rPr kumimoji="1" lang="ko-KR" altLang="en-US" dirty="0"/>
              <a:t> 라운드 연산이 </a:t>
            </a:r>
            <a:r>
              <a:rPr kumimoji="1" lang="ko-KR" altLang="en-US" dirty="0" err="1"/>
              <a:t>올바른가</a:t>
            </a:r>
            <a:r>
              <a:rPr kumimoji="1" lang="en-US" altLang="ko-KR" dirty="0"/>
              <a:t>?</a:t>
            </a:r>
            <a:r>
              <a:rPr kumimoji="1" lang="ko-KR" altLang="en-US" dirty="0"/>
              <a:t> 여부 </a:t>
            </a:r>
            <a:endParaRPr kumimoji="1" lang="en-US" altLang="ko-Kore-KR" dirty="0"/>
          </a:p>
          <a:p>
            <a:pPr marL="514350" indent="-514350">
              <a:buAutoNum type="arabicParenR"/>
            </a:pPr>
            <a:r>
              <a:rPr kumimoji="1" lang="ko-KR" altLang="en-US" b="1" dirty="0"/>
              <a:t>운영 모드 특화 </a:t>
            </a:r>
            <a:r>
              <a:rPr kumimoji="1" lang="ko-KR" altLang="en-US" b="1" dirty="0" err="1"/>
              <a:t>룰셋</a:t>
            </a:r>
            <a:endParaRPr kumimoji="1" lang="en-US" altLang="ko-KR" b="1" dirty="0"/>
          </a:p>
          <a:p>
            <a:pPr lvl="1">
              <a:buFontTx/>
              <a:buChar char="-"/>
            </a:pPr>
            <a:r>
              <a:rPr kumimoji="1" lang="ko-KR" altLang="en-US" dirty="0"/>
              <a:t>공통 알고리즘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ex.LEA</a:t>
            </a:r>
            <a:r>
              <a:rPr kumimoji="1" lang="en-US" altLang="ko-KR" dirty="0"/>
              <a:t>)</a:t>
            </a:r>
            <a:r>
              <a:rPr kumimoji="1" lang="ko-KR" altLang="en-US" dirty="0"/>
              <a:t> 내에서도 다양한 운영 모드가 존재하므로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운영 모드에 따른 운영 모드 특화 룰 </a:t>
            </a:r>
            <a:endParaRPr kumimoji="1" lang="en-US" altLang="ko-KR" dirty="0"/>
          </a:p>
          <a:p>
            <a:pPr lvl="1">
              <a:buFontTx/>
              <a:buChar char="-"/>
            </a:pPr>
            <a:r>
              <a:rPr kumimoji="1" lang="en-US" altLang="ko-KR" dirty="0"/>
              <a:t>Ex) CBC</a:t>
            </a:r>
            <a:r>
              <a:rPr kumimoji="1" lang="ko-KR" altLang="en-US" dirty="0"/>
              <a:t> 모드에서는 </a:t>
            </a:r>
            <a:r>
              <a:rPr kumimoji="1" lang="en-US" altLang="ko-KR" dirty="0"/>
              <a:t>IV</a:t>
            </a:r>
            <a:r>
              <a:rPr kumimoji="1" lang="ko-KR" altLang="en-US" dirty="0"/>
              <a:t>의 </a:t>
            </a:r>
            <a:r>
              <a:rPr kumimoji="1" lang="ko-KR" altLang="en-US" dirty="0" err="1"/>
              <a:t>랜덤성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CTR</a:t>
            </a:r>
            <a:r>
              <a:rPr kumimoji="1" lang="ko-KR" altLang="en-US" dirty="0"/>
              <a:t>에서는 </a:t>
            </a:r>
            <a:r>
              <a:rPr kumimoji="1" lang="en-US" altLang="ko-KR" dirty="0"/>
              <a:t>Nonce</a:t>
            </a:r>
            <a:r>
              <a:rPr kumimoji="1" lang="ko-KR" altLang="en-US" dirty="0"/>
              <a:t>의 유일성</a:t>
            </a:r>
            <a:r>
              <a:rPr kumimoji="1" lang="en-US" altLang="ko-KR" dirty="0"/>
              <a:t>…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10C1E8-3BF8-DA22-96B9-0C8892DD2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60638F-2F09-A455-3A13-148AB80C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36703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2317F-20F3-8FB6-25EB-5E70F9FA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L1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룰셋</a:t>
            </a:r>
            <a:r>
              <a:rPr kumimoji="1" lang="ko-KR" altLang="en-US" dirty="0"/>
              <a:t> </a:t>
            </a:r>
            <a:r>
              <a:rPr kumimoji="1" lang="en-US" altLang="ko-Kore-KR" dirty="0"/>
              <a:t> </a:t>
            </a:r>
            <a:r>
              <a:rPr kumimoji="1" lang="ko-Kore-KR" altLang="en-US" dirty="0"/>
              <a:t>구체화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8EADC2-61AC-6E04-749B-3808D750A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736"/>
            <a:ext cx="10209551" cy="4789227"/>
          </a:xfrm>
        </p:spPr>
        <p:txBody>
          <a:bodyPr>
            <a:norm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ko-Kore-KR" sz="1800" dirty="0">
                <a:latin typeface="Menlo" panose="020B0609030804020204" pitchFamily="49" charset="0"/>
              </a:rPr>
              <a:t>backend/rules/</a:t>
            </a:r>
          </a:p>
          <a:p>
            <a:pPr>
              <a:lnSpc>
                <a:spcPts val="1350"/>
              </a:lnSpc>
              <a:buNone/>
            </a:pPr>
            <a:r>
              <a:rPr lang="en" altLang="ko-Kore-KR" sz="1800" dirty="0">
                <a:latin typeface="Menlo" panose="020B0609030804020204" pitchFamily="49" charset="0"/>
              </a:rPr>
              <a:t>├── common/</a:t>
            </a:r>
          </a:p>
          <a:p>
            <a:pPr>
              <a:lnSpc>
                <a:spcPts val="1350"/>
              </a:lnSpc>
              <a:buNone/>
            </a:pPr>
            <a:r>
              <a:rPr lang="en" altLang="ko-Kore-KR" sz="1800" dirty="0">
                <a:latin typeface="Menlo" panose="020B0609030804020204" pitchFamily="49" charset="0"/>
              </a:rPr>
              <a:t>│ └── </a:t>
            </a:r>
            <a:r>
              <a:rPr lang="en" altLang="ko-Kore-KR" sz="1800" dirty="0" err="1">
                <a:latin typeface="Menlo" panose="020B0609030804020204" pitchFamily="49" charset="0"/>
              </a:rPr>
              <a:t>security.yaml</a:t>
            </a:r>
            <a:r>
              <a:rPr lang="en" altLang="ko-Kore-KR" sz="1800" dirty="0">
                <a:latin typeface="Menlo" panose="020B0609030804020204" pitchFamily="49" charset="0"/>
              </a:rPr>
              <a:t> # </a:t>
            </a:r>
            <a:r>
              <a:rPr lang="ko-KR" altLang="en-US" sz="1800" dirty="0">
                <a:latin typeface="Menlo" panose="020B0609030804020204" pitchFamily="49" charset="0"/>
              </a:rPr>
              <a:t>코드</a:t>
            </a:r>
            <a:r>
              <a:rPr lang="en-US" altLang="ko-KR" sz="1800" dirty="0">
                <a:latin typeface="Menlo" panose="020B0609030804020204" pitchFamily="49" charset="0"/>
              </a:rPr>
              <a:t>: </a:t>
            </a:r>
            <a:r>
              <a:rPr lang="ko-KR" altLang="en-US" sz="1800" dirty="0">
                <a:latin typeface="Menlo" panose="020B0609030804020204" pitchFamily="49" charset="0"/>
              </a:rPr>
              <a:t>알고리즘</a:t>
            </a:r>
            <a:r>
              <a:rPr lang="en" altLang="ko-Kore-KR" sz="1800" dirty="0">
                <a:latin typeface="Menlo" panose="020B0609030804020204" pitchFamily="49" charset="0"/>
              </a:rPr>
              <a:t> </a:t>
            </a:r>
            <a:r>
              <a:rPr lang="ko-KR" altLang="en-US" sz="1800" dirty="0">
                <a:latin typeface="Menlo" panose="020B0609030804020204" pitchFamily="49" charset="0"/>
              </a:rPr>
              <a:t>공통 보안 룰</a:t>
            </a:r>
          </a:p>
          <a:p>
            <a:pPr>
              <a:lnSpc>
                <a:spcPts val="1350"/>
              </a:lnSpc>
              <a:buNone/>
            </a:pPr>
            <a:r>
              <a:rPr lang="ko-KR" altLang="en-US" sz="1800" dirty="0">
                <a:latin typeface="Menlo" panose="020B0609030804020204" pitchFamily="49" charset="0"/>
              </a:rPr>
              <a:t>├── </a:t>
            </a:r>
            <a:r>
              <a:rPr lang="en" altLang="ko-Kore-KR" sz="1800" dirty="0">
                <a:latin typeface="Menlo" panose="020B0609030804020204" pitchFamily="49" charset="0"/>
              </a:rPr>
              <a:t>algorithm/</a:t>
            </a:r>
          </a:p>
          <a:p>
            <a:pPr>
              <a:lnSpc>
                <a:spcPts val="1350"/>
              </a:lnSpc>
              <a:buNone/>
            </a:pPr>
            <a:r>
              <a:rPr lang="en" altLang="ko-Kore-KR" sz="1800" dirty="0">
                <a:latin typeface="Menlo" panose="020B0609030804020204" pitchFamily="49" charset="0"/>
              </a:rPr>
              <a:t>│ </a:t>
            </a:r>
            <a:r>
              <a:rPr lang="en" altLang="ko-Kore-KR" sz="1800" dirty="0">
                <a:solidFill>
                  <a:srgbClr val="FF0000"/>
                </a:solidFill>
                <a:latin typeface="Menlo" panose="020B0609030804020204" pitchFamily="49" charset="0"/>
              </a:rPr>
              <a:t>├── </a:t>
            </a:r>
            <a:r>
              <a:rPr lang="en" altLang="ko-Kore-KR" sz="1800" dirty="0" err="1">
                <a:solidFill>
                  <a:srgbClr val="FF0000"/>
                </a:solidFill>
                <a:latin typeface="Menlo" panose="020B0609030804020204" pitchFamily="49" charset="0"/>
              </a:rPr>
              <a:t>lea.yaml</a:t>
            </a:r>
            <a:r>
              <a:rPr lang="en" altLang="ko-Kore-KR" sz="1800" dirty="0">
                <a:solidFill>
                  <a:srgbClr val="FF0000"/>
                </a:solidFill>
                <a:latin typeface="Menlo" panose="020B0609030804020204" pitchFamily="49" charset="0"/>
              </a:rPr>
              <a:t> # </a:t>
            </a:r>
            <a:r>
              <a:rPr lang="ko-KR" altLang="en-US" sz="1800" dirty="0">
                <a:solidFill>
                  <a:srgbClr val="FF0000"/>
                </a:solidFill>
                <a:latin typeface="Menlo" panose="020B0609030804020204" pitchFamily="49" charset="0"/>
              </a:rPr>
              <a:t>코드</a:t>
            </a:r>
            <a:r>
              <a:rPr lang="en-US" altLang="ko-KR" sz="1800" dirty="0">
                <a:solidFill>
                  <a:srgbClr val="FF0000"/>
                </a:solidFill>
                <a:latin typeface="Menlo" panose="020B0609030804020204" pitchFamily="49" charset="0"/>
              </a:rPr>
              <a:t>: </a:t>
            </a:r>
            <a:r>
              <a:rPr lang="en" altLang="ko-Kore-KR" sz="1800" dirty="0">
                <a:solidFill>
                  <a:srgbClr val="FF0000"/>
                </a:solidFill>
                <a:latin typeface="Menlo" panose="020B0609030804020204" pitchFamily="49" charset="0"/>
              </a:rPr>
              <a:t>LEA </a:t>
            </a:r>
            <a:r>
              <a:rPr lang="ko-KR" altLang="en-US" sz="1800" dirty="0">
                <a:solidFill>
                  <a:srgbClr val="FF0000"/>
                </a:solidFill>
                <a:latin typeface="Menlo" panose="020B0609030804020204" pitchFamily="49" charset="0"/>
              </a:rPr>
              <a:t>알고리즘 룰</a:t>
            </a:r>
          </a:p>
          <a:p>
            <a:pPr>
              <a:lnSpc>
                <a:spcPts val="1350"/>
              </a:lnSpc>
              <a:buNone/>
            </a:pPr>
            <a:r>
              <a:rPr lang="ko-KR" altLang="en-US" sz="1800" dirty="0">
                <a:latin typeface="Menlo" panose="020B0609030804020204" pitchFamily="49" charset="0"/>
              </a:rPr>
              <a:t>│ └── </a:t>
            </a:r>
            <a:r>
              <a:rPr lang="en" altLang="ko-Kore-KR" sz="1800" dirty="0" err="1">
                <a:latin typeface="Menlo" panose="020B0609030804020204" pitchFamily="49" charset="0"/>
              </a:rPr>
              <a:t>aria.yaml</a:t>
            </a:r>
            <a:r>
              <a:rPr lang="en" altLang="ko-Kore-KR" sz="1800" dirty="0">
                <a:latin typeface="Menlo" panose="020B0609030804020204" pitchFamily="49" charset="0"/>
              </a:rPr>
              <a:t> # </a:t>
            </a:r>
            <a:r>
              <a:rPr lang="ko-KR" altLang="en-US" sz="1800" dirty="0">
                <a:latin typeface="Menlo" panose="020B0609030804020204" pitchFamily="49" charset="0"/>
              </a:rPr>
              <a:t>코드</a:t>
            </a:r>
            <a:r>
              <a:rPr lang="en-US" altLang="ko-KR" sz="1800" dirty="0">
                <a:latin typeface="Menlo" panose="020B0609030804020204" pitchFamily="49" charset="0"/>
              </a:rPr>
              <a:t>: </a:t>
            </a:r>
            <a:r>
              <a:rPr lang="en" altLang="ko-Kore-KR" sz="1800" dirty="0">
                <a:latin typeface="Menlo" panose="020B0609030804020204" pitchFamily="49" charset="0"/>
              </a:rPr>
              <a:t>ARIA </a:t>
            </a:r>
            <a:r>
              <a:rPr lang="ko-KR" altLang="en-US" sz="1800" dirty="0">
                <a:latin typeface="Menlo" panose="020B0609030804020204" pitchFamily="49" charset="0"/>
              </a:rPr>
              <a:t>알고리즘 룰 </a:t>
            </a:r>
            <a:r>
              <a:rPr lang="en-US" altLang="ko-KR" sz="1800" dirty="0">
                <a:latin typeface="Menlo" panose="020B0609030804020204" pitchFamily="49" charset="0"/>
                <a:sym typeface="Wingdings" pitchFamily="2" charset="2"/>
              </a:rPr>
              <a:t></a:t>
            </a:r>
            <a:r>
              <a:rPr lang="ko-KR" altLang="en-US" sz="1800" dirty="0">
                <a:latin typeface="Menlo" panose="020B0609030804020204" pitchFamily="49" charset="0"/>
                <a:sym typeface="Wingdings" pitchFamily="2" charset="2"/>
              </a:rPr>
              <a:t> 예시를 위한 것이고 사용 </a:t>
            </a:r>
            <a:r>
              <a:rPr lang="ko-KR" altLang="en-US" sz="1800" dirty="0" err="1">
                <a:latin typeface="Menlo" panose="020B0609030804020204" pitchFamily="49" charset="0"/>
                <a:sym typeface="Wingdings" pitchFamily="2" charset="2"/>
              </a:rPr>
              <a:t>안할</a:t>
            </a:r>
            <a:r>
              <a:rPr lang="ko-KR" altLang="en-US" sz="1800" dirty="0">
                <a:latin typeface="Menlo" panose="020B0609030804020204" pitchFamily="49" charset="0"/>
                <a:sym typeface="Wingdings" pitchFamily="2" charset="2"/>
              </a:rPr>
              <a:t> 것</a:t>
            </a:r>
            <a:endParaRPr lang="ko-KR" altLang="en-US" sz="180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en-US" sz="1800" dirty="0">
                <a:latin typeface="Menlo" panose="020B0609030804020204" pitchFamily="49" charset="0"/>
              </a:rPr>
              <a:t>├── </a:t>
            </a:r>
            <a:r>
              <a:rPr lang="en" altLang="ko-Kore-KR" sz="1800" dirty="0">
                <a:latin typeface="Menlo" panose="020B0609030804020204" pitchFamily="49" charset="0"/>
              </a:rPr>
              <a:t>mode</a:t>
            </a:r>
          </a:p>
          <a:p>
            <a:pPr>
              <a:lnSpc>
                <a:spcPts val="1350"/>
              </a:lnSpc>
              <a:buNone/>
            </a:pPr>
            <a:r>
              <a:rPr lang="en" altLang="ko-Kore-KR" sz="1800" dirty="0">
                <a:latin typeface="Menlo" panose="020B0609030804020204" pitchFamily="49" charset="0"/>
              </a:rPr>
              <a:t>│ </a:t>
            </a:r>
            <a:r>
              <a:rPr lang="en" altLang="ko-Kore-KR" sz="1800" dirty="0">
                <a:solidFill>
                  <a:srgbClr val="FF0000"/>
                </a:solidFill>
                <a:latin typeface="Menlo" panose="020B0609030804020204" pitchFamily="49" charset="0"/>
              </a:rPr>
              <a:t>├── </a:t>
            </a:r>
            <a:r>
              <a:rPr lang="en" altLang="ko-Kore-KR" sz="1800" dirty="0" err="1">
                <a:solidFill>
                  <a:srgbClr val="FF0000"/>
                </a:solidFill>
                <a:latin typeface="Menlo" panose="020B0609030804020204" pitchFamily="49" charset="0"/>
              </a:rPr>
              <a:t>cbc.yaml</a:t>
            </a:r>
            <a:r>
              <a:rPr lang="en" altLang="ko-Kore-KR" sz="1800" dirty="0">
                <a:solidFill>
                  <a:srgbClr val="FF0000"/>
                </a:solidFill>
                <a:latin typeface="Menlo" panose="020B0609030804020204" pitchFamily="49" charset="0"/>
              </a:rPr>
              <a:t> # </a:t>
            </a:r>
            <a:r>
              <a:rPr lang="ko-KR" altLang="en-US" sz="1800" dirty="0">
                <a:solidFill>
                  <a:srgbClr val="FF0000"/>
                </a:solidFill>
                <a:latin typeface="Menlo" panose="020B0609030804020204" pitchFamily="49" charset="0"/>
              </a:rPr>
              <a:t>코드</a:t>
            </a:r>
            <a:r>
              <a:rPr lang="en-US" altLang="ko-KR" sz="1800" dirty="0">
                <a:solidFill>
                  <a:srgbClr val="FF0000"/>
                </a:solidFill>
                <a:latin typeface="Menlo" panose="020B0609030804020204" pitchFamily="49" charset="0"/>
              </a:rPr>
              <a:t>: </a:t>
            </a:r>
            <a:r>
              <a:rPr lang="en" altLang="ko-Kore-KR" sz="1800" dirty="0">
                <a:solidFill>
                  <a:srgbClr val="FF0000"/>
                </a:solidFill>
                <a:latin typeface="Menlo" panose="020B0609030804020204" pitchFamily="49" charset="0"/>
              </a:rPr>
              <a:t>CBC </a:t>
            </a:r>
            <a:r>
              <a:rPr lang="ko-KR" altLang="en-US" sz="1800" dirty="0">
                <a:solidFill>
                  <a:srgbClr val="FF0000"/>
                </a:solidFill>
                <a:latin typeface="Menlo" panose="020B0609030804020204" pitchFamily="49" charset="0"/>
              </a:rPr>
              <a:t>모드 룰</a:t>
            </a:r>
          </a:p>
          <a:p>
            <a:pPr>
              <a:lnSpc>
                <a:spcPts val="1350"/>
              </a:lnSpc>
              <a:buNone/>
            </a:pPr>
            <a:r>
              <a:rPr lang="ko-KR" altLang="en-US" sz="1800" dirty="0">
                <a:solidFill>
                  <a:srgbClr val="FF0000"/>
                </a:solidFill>
                <a:latin typeface="Menlo" panose="020B0609030804020204" pitchFamily="49" charset="0"/>
              </a:rPr>
              <a:t>│ └── </a:t>
            </a:r>
            <a:r>
              <a:rPr lang="en" altLang="ko-Kore-KR" sz="1800" dirty="0" err="1">
                <a:solidFill>
                  <a:srgbClr val="FF0000"/>
                </a:solidFill>
                <a:latin typeface="Menlo" panose="020B0609030804020204" pitchFamily="49" charset="0"/>
              </a:rPr>
              <a:t>ctr.yaml</a:t>
            </a:r>
            <a:r>
              <a:rPr lang="en" altLang="ko-Kore-KR" sz="1800" dirty="0">
                <a:solidFill>
                  <a:srgbClr val="FF0000"/>
                </a:solidFill>
                <a:latin typeface="Menlo" panose="020B0609030804020204" pitchFamily="49" charset="0"/>
              </a:rPr>
              <a:t> # </a:t>
            </a:r>
            <a:r>
              <a:rPr lang="ko-KR" altLang="en-US" sz="1800" dirty="0">
                <a:solidFill>
                  <a:srgbClr val="FF0000"/>
                </a:solidFill>
                <a:latin typeface="Menlo" panose="020B0609030804020204" pitchFamily="49" charset="0"/>
              </a:rPr>
              <a:t>코드</a:t>
            </a:r>
            <a:r>
              <a:rPr lang="en-US" altLang="ko-KR" sz="1800" dirty="0">
                <a:solidFill>
                  <a:srgbClr val="FF0000"/>
                </a:solidFill>
                <a:latin typeface="Menlo" panose="020B0609030804020204" pitchFamily="49" charset="0"/>
              </a:rPr>
              <a:t>: </a:t>
            </a:r>
            <a:r>
              <a:rPr lang="en" altLang="ko-Kore-KR" sz="1800" dirty="0">
                <a:solidFill>
                  <a:srgbClr val="FF0000"/>
                </a:solidFill>
                <a:latin typeface="Menlo" panose="020B0609030804020204" pitchFamily="49" charset="0"/>
              </a:rPr>
              <a:t>CTR </a:t>
            </a:r>
            <a:r>
              <a:rPr lang="ko-KR" altLang="en-US" sz="1800" dirty="0">
                <a:solidFill>
                  <a:srgbClr val="FF0000"/>
                </a:solidFill>
                <a:latin typeface="Menlo" panose="020B0609030804020204" pitchFamily="49" charset="0"/>
              </a:rPr>
              <a:t>모드 룰 </a:t>
            </a:r>
            <a:r>
              <a:rPr lang="en-US" altLang="ko-KR" sz="1800" dirty="0">
                <a:solidFill>
                  <a:srgbClr val="FF0000"/>
                </a:solidFill>
                <a:latin typeface="Menlo" panose="020B0609030804020204" pitchFamily="49" charset="0"/>
              </a:rPr>
              <a:t>+</a:t>
            </a:r>
            <a:r>
              <a:rPr lang="ko-KR" altLang="en-US" sz="1800" dirty="0">
                <a:solidFill>
                  <a:srgbClr val="FF0000"/>
                </a:solidFill>
                <a:latin typeface="Menlo" panose="020B0609030804020204" pitchFamily="49" charset="0"/>
              </a:rPr>
              <a:t> 추가 예정 </a:t>
            </a:r>
          </a:p>
          <a:p>
            <a:pPr>
              <a:lnSpc>
                <a:spcPts val="1350"/>
              </a:lnSpc>
              <a:buNone/>
            </a:pPr>
            <a:r>
              <a:rPr lang="ko-KR" altLang="en-US" sz="1800" dirty="0">
                <a:latin typeface="Menlo" panose="020B0609030804020204" pitchFamily="49" charset="0"/>
              </a:rPr>
              <a:t>├── </a:t>
            </a:r>
            <a:r>
              <a:rPr lang="en" altLang="ko-Kore-KR" sz="1800" dirty="0">
                <a:latin typeface="Menlo" panose="020B0609030804020204" pitchFamily="49" charset="0"/>
              </a:rPr>
              <a:t>docs/</a:t>
            </a:r>
          </a:p>
          <a:p>
            <a:pPr>
              <a:lnSpc>
                <a:spcPts val="1350"/>
              </a:lnSpc>
              <a:buNone/>
            </a:pPr>
            <a:r>
              <a:rPr lang="en" altLang="ko-Kore-KR" sz="1800" dirty="0">
                <a:latin typeface="Menlo" panose="020B0609030804020204" pitchFamily="49" charset="0"/>
              </a:rPr>
              <a:t>│ </a:t>
            </a:r>
            <a:r>
              <a:rPr lang="en" altLang="ko-Kore-KR" sz="1800" dirty="0">
                <a:solidFill>
                  <a:srgbClr val="FF0000"/>
                </a:solidFill>
                <a:latin typeface="Menlo" panose="020B0609030804020204" pitchFamily="49" charset="0"/>
              </a:rPr>
              <a:t>├── </a:t>
            </a:r>
            <a:r>
              <a:rPr lang="en" altLang="ko-Kore-KR" sz="1800" dirty="0" err="1">
                <a:solidFill>
                  <a:srgbClr val="FF0000"/>
                </a:solidFill>
                <a:latin typeface="Menlo" panose="020B0609030804020204" pitchFamily="49" charset="0"/>
              </a:rPr>
              <a:t>design.yaml</a:t>
            </a:r>
            <a:r>
              <a:rPr lang="en" altLang="ko-Kore-KR" sz="1800" dirty="0">
                <a:solidFill>
                  <a:srgbClr val="FF0000"/>
                </a:solidFill>
                <a:latin typeface="Menlo" panose="020B0609030804020204" pitchFamily="49" charset="0"/>
              </a:rPr>
              <a:t> # </a:t>
            </a:r>
            <a:r>
              <a:rPr lang="ko-KR" altLang="en-US" sz="1800" dirty="0">
                <a:solidFill>
                  <a:srgbClr val="FF0000"/>
                </a:solidFill>
                <a:latin typeface="Menlo" panose="020B0609030804020204" pitchFamily="49" charset="0"/>
              </a:rPr>
              <a:t>문서</a:t>
            </a:r>
            <a:r>
              <a:rPr lang="en-US" altLang="ko-KR" sz="1800" dirty="0">
                <a:solidFill>
                  <a:srgbClr val="FF0000"/>
                </a:solidFill>
                <a:latin typeface="Menlo" panose="020B0609030804020204" pitchFamily="49" charset="0"/>
              </a:rPr>
              <a:t>: </a:t>
            </a:r>
            <a:r>
              <a:rPr lang="ko-KR" altLang="en-US" sz="1800" dirty="0">
                <a:solidFill>
                  <a:srgbClr val="FF0000"/>
                </a:solidFill>
                <a:latin typeface="Menlo" panose="020B0609030804020204" pitchFamily="49" charset="0"/>
              </a:rPr>
              <a:t>기본</a:t>
            </a:r>
            <a:r>
              <a:rPr lang="en-US" altLang="ko-KR" sz="1800" dirty="0">
                <a:solidFill>
                  <a:srgbClr val="FF0000"/>
                </a:solidFill>
                <a:latin typeface="Menlo" panose="020B0609030804020204" pitchFamily="49" charset="0"/>
              </a:rPr>
              <a:t>/</a:t>
            </a:r>
            <a:r>
              <a:rPr lang="ko-KR" altLang="en-US" sz="1800" dirty="0">
                <a:solidFill>
                  <a:srgbClr val="FF0000"/>
                </a:solidFill>
                <a:latin typeface="Menlo" panose="020B0609030804020204" pitchFamily="49" charset="0"/>
              </a:rPr>
              <a:t>상세 설계서용 문서 룰</a:t>
            </a:r>
            <a:r>
              <a:rPr lang="en-US" altLang="ko-KR" sz="1800" dirty="0">
                <a:solidFill>
                  <a:srgbClr val="FF0000"/>
                </a:solidFill>
                <a:latin typeface="Menlo" panose="020B0609030804020204" pitchFamily="49" charset="0"/>
              </a:rPr>
              <a:t>(</a:t>
            </a:r>
            <a:r>
              <a:rPr lang="en" altLang="ko-Kore-KR" sz="1800" dirty="0">
                <a:solidFill>
                  <a:srgbClr val="FF0000"/>
                </a:solidFill>
                <a:latin typeface="Menlo" panose="020B0609030804020204" pitchFamily="49" charset="0"/>
              </a:rPr>
              <a:t>DOC-0xx)</a:t>
            </a:r>
          </a:p>
          <a:p>
            <a:pPr>
              <a:lnSpc>
                <a:spcPts val="1350"/>
              </a:lnSpc>
              <a:buNone/>
            </a:pPr>
            <a:r>
              <a:rPr lang="en" altLang="ko-Kore-KR" sz="1800" dirty="0">
                <a:latin typeface="Menlo" panose="020B0609030804020204" pitchFamily="49" charset="0"/>
              </a:rPr>
              <a:t>│ ├── </a:t>
            </a:r>
            <a:r>
              <a:rPr lang="en" altLang="ko-Kore-KR" sz="1800" dirty="0" err="1">
                <a:latin typeface="Menlo" panose="020B0609030804020204" pitchFamily="49" charset="0"/>
              </a:rPr>
              <a:t>config_mgmt.yaml</a:t>
            </a:r>
            <a:r>
              <a:rPr lang="en" altLang="ko-Kore-KR" sz="1800" dirty="0">
                <a:latin typeface="Menlo" panose="020B0609030804020204" pitchFamily="49" charset="0"/>
              </a:rPr>
              <a:t> # </a:t>
            </a:r>
            <a:r>
              <a:rPr lang="ko-KR" altLang="en-US" sz="1800" dirty="0">
                <a:latin typeface="Menlo" panose="020B0609030804020204" pitchFamily="49" charset="0"/>
              </a:rPr>
              <a:t>문서</a:t>
            </a:r>
            <a:r>
              <a:rPr lang="en-US" altLang="ko-KR" sz="1800" dirty="0">
                <a:latin typeface="Menlo" panose="020B0609030804020204" pitchFamily="49" charset="0"/>
              </a:rPr>
              <a:t>: </a:t>
            </a:r>
            <a:r>
              <a:rPr lang="ko-KR" altLang="en-US" sz="1800" dirty="0">
                <a:latin typeface="Menlo" panose="020B0609030804020204" pitchFamily="49" charset="0"/>
              </a:rPr>
              <a:t>형상관리 문서용 문서 룰</a:t>
            </a:r>
            <a:r>
              <a:rPr lang="en-US" altLang="ko-KR" sz="1800" dirty="0">
                <a:latin typeface="Menlo" panose="020B0609030804020204" pitchFamily="49" charset="0"/>
              </a:rPr>
              <a:t>(</a:t>
            </a:r>
            <a:r>
              <a:rPr lang="en" altLang="ko-Kore-KR" sz="1800" dirty="0">
                <a:latin typeface="Menlo" panose="020B0609030804020204" pitchFamily="49" charset="0"/>
              </a:rPr>
              <a:t>DOC-2xx)</a:t>
            </a:r>
          </a:p>
          <a:p>
            <a:pPr>
              <a:lnSpc>
                <a:spcPts val="1350"/>
              </a:lnSpc>
              <a:buNone/>
            </a:pPr>
            <a:r>
              <a:rPr lang="en" altLang="ko-Kore-KR" sz="1800" dirty="0">
                <a:latin typeface="Menlo" panose="020B0609030804020204" pitchFamily="49" charset="0"/>
              </a:rPr>
              <a:t>│ └── </a:t>
            </a:r>
            <a:r>
              <a:rPr lang="en" altLang="ko-Kore-KR" sz="1800" dirty="0" err="1">
                <a:latin typeface="Menlo" panose="020B0609030804020204" pitchFamily="49" charset="0"/>
              </a:rPr>
              <a:t>test.yaml</a:t>
            </a:r>
            <a:r>
              <a:rPr lang="en" altLang="ko-Kore-KR" sz="1800" dirty="0">
                <a:latin typeface="Menlo" panose="020B0609030804020204" pitchFamily="49" charset="0"/>
              </a:rPr>
              <a:t> # </a:t>
            </a:r>
            <a:r>
              <a:rPr lang="ko-KR" altLang="en-US" sz="1800" dirty="0">
                <a:latin typeface="Menlo" panose="020B0609030804020204" pitchFamily="49" charset="0"/>
              </a:rPr>
              <a:t>문서</a:t>
            </a:r>
            <a:r>
              <a:rPr lang="en-US" altLang="ko-KR" sz="1800" dirty="0">
                <a:latin typeface="Menlo" panose="020B0609030804020204" pitchFamily="49" charset="0"/>
              </a:rPr>
              <a:t>: </a:t>
            </a:r>
            <a:r>
              <a:rPr lang="ko-KR" altLang="en-US" sz="1800" dirty="0">
                <a:latin typeface="Menlo" panose="020B0609030804020204" pitchFamily="49" charset="0"/>
              </a:rPr>
              <a:t>시험서</a:t>
            </a:r>
            <a:r>
              <a:rPr lang="en-US" altLang="ko-KR" sz="1800" dirty="0">
                <a:latin typeface="Menlo" panose="020B0609030804020204" pitchFamily="49" charset="0"/>
              </a:rPr>
              <a:t>(</a:t>
            </a:r>
            <a:r>
              <a:rPr lang="ko-KR" altLang="en-US" sz="1800" dirty="0">
                <a:latin typeface="Menlo" panose="020B0609030804020204" pitchFamily="49" charset="0"/>
              </a:rPr>
              <a:t>작성 안내서</a:t>
            </a:r>
            <a:r>
              <a:rPr lang="en-US" altLang="ko-KR" sz="1800" dirty="0">
                <a:latin typeface="Menlo" panose="020B0609030804020204" pitchFamily="49" charset="0"/>
              </a:rPr>
              <a:t>)</a:t>
            </a:r>
            <a:r>
              <a:rPr lang="ko-KR" altLang="en-US" sz="1800" dirty="0">
                <a:latin typeface="Menlo" panose="020B0609030804020204" pitchFamily="49" charset="0"/>
              </a:rPr>
              <a:t>용 문서 룰</a:t>
            </a:r>
            <a:r>
              <a:rPr lang="en-US" altLang="ko-KR" sz="1800" dirty="0">
                <a:latin typeface="Menlo" panose="020B0609030804020204" pitchFamily="49" charset="0"/>
              </a:rPr>
              <a:t>(</a:t>
            </a:r>
            <a:r>
              <a:rPr lang="en" altLang="ko-Kore-KR" sz="1800" dirty="0">
                <a:latin typeface="Menlo" panose="020B0609030804020204" pitchFamily="49" charset="0"/>
              </a:rPr>
              <a:t>DOC-1xx)</a:t>
            </a:r>
          </a:p>
          <a:p>
            <a:pPr>
              <a:lnSpc>
                <a:spcPts val="1350"/>
              </a:lnSpc>
              <a:buNone/>
            </a:pPr>
            <a:r>
              <a:rPr lang="en" altLang="ko-Kore-KR" sz="1800" dirty="0">
                <a:latin typeface="Menlo" panose="020B0609030804020204" pitchFamily="49" charset="0"/>
              </a:rPr>
              <a:t>└── traceability/</a:t>
            </a:r>
          </a:p>
          <a:p>
            <a:pPr>
              <a:lnSpc>
                <a:spcPts val="1350"/>
              </a:lnSpc>
              <a:buNone/>
            </a:pPr>
            <a:r>
              <a:rPr lang="en" altLang="ko-Kore-KR" sz="1800" dirty="0">
                <a:latin typeface="Menlo" panose="020B0609030804020204" pitchFamily="49" charset="0"/>
              </a:rPr>
              <a:t>└── </a:t>
            </a:r>
            <a:r>
              <a:rPr lang="en" altLang="ko-Kore-KR" sz="1800" dirty="0" err="1">
                <a:latin typeface="Menlo" panose="020B0609030804020204" pitchFamily="49" charset="0"/>
              </a:rPr>
              <a:t>traceability.yaml</a:t>
            </a:r>
            <a:r>
              <a:rPr lang="en" altLang="ko-Kore-KR" sz="1800" dirty="0">
                <a:latin typeface="Menlo" panose="020B0609030804020204" pitchFamily="49" charset="0"/>
              </a:rPr>
              <a:t> # </a:t>
            </a:r>
            <a:r>
              <a:rPr lang="ko-KR" altLang="en-US" sz="1800" dirty="0">
                <a:latin typeface="Menlo" panose="020B0609030804020204" pitchFamily="49" charset="0"/>
              </a:rPr>
              <a:t>설계</a:t>
            </a:r>
            <a:r>
              <a:rPr lang="en-US" altLang="ko-KR" sz="1800" dirty="0">
                <a:latin typeface="Menlo" panose="020B0609030804020204" pitchFamily="49" charset="0"/>
              </a:rPr>
              <a:t>–</a:t>
            </a:r>
            <a:r>
              <a:rPr lang="ko-KR" altLang="en-US" sz="1800" dirty="0">
                <a:latin typeface="Menlo" panose="020B0609030804020204" pitchFamily="49" charset="0"/>
              </a:rPr>
              <a:t>코드</a:t>
            </a:r>
            <a:r>
              <a:rPr lang="en-US" altLang="ko-KR" sz="1800" dirty="0">
                <a:latin typeface="Menlo" panose="020B0609030804020204" pitchFamily="49" charset="0"/>
              </a:rPr>
              <a:t>–</a:t>
            </a:r>
            <a:r>
              <a:rPr lang="ko-KR" altLang="en-US" sz="1800" dirty="0">
                <a:latin typeface="Menlo" panose="020B0609030804020204" pitchFamily="49" charset="0"/>
              </a:rPr>
              <a:t>시험 추적성 룰</a:t>
            </a:r>
            <a:r>
              <a:rPr lang="en-US" altLang="ko-KR" sz="1800" dirty="0">
                <a:latin typeface="Menlo" panose="020B0609030804020204" pitchFamily="49" charset="0"/>
              </a:rPr>
              <a:t>(</a:t>
            </a:r>
            <a:r>
              <a:rPr lang="en" altLang="ko-Kore-KR" sz="1800" dirty="0">
                <a:latin typeface="Menlo" panose="020B0609030804020204" pitchFamily="49" charset="0"/>
              </a:rPr>
              <a:t>TRC-xxx)</a:t>
            </a:r>
          </a:p>
          <a:p>
            <a:endParaRPr kumimoji="1" lang="ko-Kore-KR" altLang="en-US" sz="1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ED14D0-BFD1-B0B8-9F62-E72B10C0F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 dirty="0" err="1"/>
              <a:t>부채널</a:t>
            </a:r>
            <a:r>
              <a:rPr kumimoji="1" lang="ko-KR" altLang="en-US" dirty="0"/>
              <a:t> 공모전</a:t>
            </a:r>
            <a:r>
              <a:rPr kumimoji="1" lang="en-US" altLang="ko-KR" dirty="0"/>
              <a:t>: </a:t>
            </a:r>
            <a:r>
              <a:rPr kumimoji="1" lang="en" altLang="ko-Kore-KR" dirty="0"/>
              <a:t>AI </a:t>
            </a:r>
            <a:r>
              <a:rPr kumimoji="1" lang="ko-KR" altLang="en-US" dirty="0"/>
              <a:t>기반 </a:t>
            </a:r>
            <a:r>
              <a:rPr kumimoji="1" lang="en" altLang="ko-Kore-KR" dirty="0"/>
              <a:t>KCMVP </a:t>
            </a:r>
            <a:r>
              <a:rPr kumimoji="1" lang="ko-KR" altLang="en-US" dirty="0"/>
              <a:t>사전 점검</a:t>
            </a:r>
            <a:endParaRPr kumimoji="1" lang="ko-Kore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0F0FA4-5547-A766-AD81-83692E00A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0DA37-BBFD-9BDD-FCAD-DA64440F6358}"/>
              </a:ext>
            </a:extLst>
          </p:cNvPr>
          <p:cNvSpPr txBox="1"/>
          <p:nvPr/>
        </p:nvSpPr>
        <p:spPr>
          <a:xfrm>
            <a:off x="3050498" y="1586184"/>
            <a:ext cx="6100996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" altLang="ko-Kore-KR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758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E4DAE-9042-C841-0404-8DBE58697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사용할 문서 정리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A0A3C7-03E8-EE95-C31E-FE71FB47B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ko-KR" altLang="en-US" sz="2400" b="1" dirty="0"/>
              <a:t>문제</a:t>
            </a:r>
            <a:r>
              <a:rPr kumimoji="1" lang="en-US" altLang="ko-KR" sz="2400" b="1" dirty="0"/>
              <a:t>:</a:t>
            </a:r>
            <a:r>
              <a:rPr kumimoji="1" lang="ko-KR" altLang="en-US" sz="2400" b="1" dirty="0"/>
              <a:t> </a:t>
            </a:r>
            <a:r>
              <a:rPr kumimoji="1" lang="ko-KR" altLang="en-US" sz="2400" b="1" dirty="0" err="1"/>
              <a:t>암호모듈</a:t>
            </a:r>
            <a:r>
              <a:rPr kumimoji="1" lang="ko-KR" altLang="en-US" sz="2400" b="1" dirty="0"/>
              <a:t> 요구 사항이 유료</a:t>
            </a:r>
            <a:endParaRPr kumimoji="1" lang="en-US" altLang="ko-KR" sz="2400" b="1" dirty="0"/>
          </a:p>
          <a:p>
            <a:pPr marL="0" indent="0">
              <a:buNone/>
            </a:pPr>
            <a:r>
              <a:rPr kumimoji="1" lang="en" altLang="ko-Kore-KR" sz="2400" dirty="0"/>
              <a:t>KSSN(</a:t>
            </a:r>
            <a:r>
              <a:rPr kumimoji="1" lang="ko-KR" altLang="en-US" sz="2400" dirty="0"/>
              <a:t>한국표준정보망</a:t>
            </a:r>
            <a:r>
              <a:rPr kumimoji="1" lang="en-US" altLang="ko-KR" sz="2400" dirty="0"/>
              <a:t>)</a:t>
            </a:r>
            <a:r>
              <a:rPr kumimoji="1" lang="ko-KR" altLang="en-US" sz="2400" dirty="0"/>
              <a:t> </a:t>
            </a:r>
            <a:r>
              <a:rPr kumimoji="1" lang="en" altLang="ko-Kore-KR" sz="2400" dirty="0"/>
              <a:t>KS X ISO /EIC 19790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–</a:t>
            </a:r>
            <a:r>
              <a:rPr kumimoji="1" lang="ko-KR" altLang="en-US" sz="2400" dirty="0"/>
              <a:t> </a:t>
            </a:r>
            <a:r>
              <a:rPr kumimoji="1" lang="ko-KR" altLang="en-US" sz="2400" dirty="0" err="1"/>
              <a:t>암호모듈</a:t>
            </a:r>
            <a:r>
              <a:rPr kumimoji="1" lang="ko-KR" altLang="en-US" sz="2400" dirty="0"/>
              <a:t> 보안 요구사항</a:t>
            </a:r>
            <a:r>
              <a:rPr kumimoji="1" lang="en" altLang="ko-Kore-KR" sz="2400" dirty="0"/>
              <a:t>: </a:t>
            </a:r>
          </a:p>
          <a:p>
            <a:pPr marL="0" indent="0">
              <a:buNone/>
            </a:pPr>
            <a:r>
              <a:rPr kumimoji="1" lang="en-US" altLang="ko-KR" sz="2400" dirty="0">
                <a:sym typeface="Wingdings" pitchFamily="2" charset="2"/>
              </a:rPr>
              <a:t></a:t>
            </a:r>
            <a:r>
              <a:rPr kumimoji="1" lang="ko-KR" altLang="en-US" sz="2400" dirty="0">
                <a:sym typeface="Wingdings" pitchFamily="2" charset="2"/>
              </a:rPr>
              <a:t> 암호 모듈을 위한 보안 요구사항 안내</a:t>
            </a:r>
            <a:endParaRPr kumimoji="1" lang="en-US" altLang="ko-Kore-KR" sz="2400" dirty="0">
              <a:sym typeface="Wingdings" pitchFamily="2" charset="2"/>
            </a:endParaRPr>
          </a:p>
          <a:p>
            <a:r>
              <a:rPr kumimoji="1" lang="en" altLang="ko-Kore-KR" sz="2400" dirty="0"/>
              <a:t>KSSN(</a:t>
            </a:r>
            <a:r>
              <a:rPr kumimoji="1" lang="ko-KR" altLang="en-US" sz="2400" dirty="0"/>
              <a:t>한국표준정보망</a:t>
            </a:r>
            <a:r>
              <a:rPr kumimoji="1" lang="en-US" altLang="ko-KR" sz="2400" dirty="0"/>
              <a:t>)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KS X ISO/IEC 24759 – </a:t>
            </a:r>
            <a:r>
              <a:rPr kumimoji="1" lang="ko-KR" altLang="en-US" sz="2400" dirty="0" err="1"/>
              <a:t>암호모듈</a:t>
            </a:r>
            <a:r>
              <a:rPr kumimoji="1" lang="ko-KR" altLang="en-US" sz="2400" dirty="0"/>
              <a:t> 시험 요구사항</a:t>
            </a:r>
            <a:r>
              <a:rPr kumimoji="1" lang="en-US" altLang="ko-KR" sz="2400" dirty="0"/>
              <a:t>:</a:t>
            </a:r>
            <a:r>
              <a:rPr kumimoji="1" lang="ko-KR" altLang="en-US" sz="2400" dirty="0"/>
              <a:t> </a:t>
            </a:r>
            <a:endParaRPr kumimoji="1" lang="en-US" altLang="ko-KR" sz="2400" dirty="0"/>
          </a:p>
          <a:p>
            <a:pPr marL="0" indent="0">
              <a:buNone/>
            </a:pPr>
            <a:r>
              <a:rPr kumimoji="1" lang="en-US" altLang="ko-KR" sz="2400" dirty="0">
                <a:sym typeface="Wingdings" pitchFamily="2" charset="2"/>
              </a:rPr>
              <a:t></a:t>
            </a:r>
            <a:r>
              <a:rPr kumimoji="1" lang="ko-KR" altLang="en-US" sz="2400" dirty="0">
                <a:sym typeface="Wingdings" pitchFamily="2" charset="2"/>
              </a:rPr>
              <a:t> </a:t>
            </a:r>
            <a:r>
              <a:rPr kumimoji="1" lang="ko-KR" altLang="en-US" sz="2400" dirty="0" err="1">
                <a:sym typeface="Wingdings" pitchFamily="2" charset="2"/>
              </a:rPr>
              <a:t>명세된</a:t>
            </a:r>
            <a:r>
              <a:rPr kumimoji="1" lang="ko-KR" altLang="en-US" sz="2400" dirty="0">
                <a:sym typeface="Wingdings" pitchFamily="2" charset="2"/>
              </a:rPr>
              <a:t> 요구사항에 대해 시험하기 위해 시험기관이 사용하는 시험방법을 명세</a:t>
            </a:r>
            <a:endParaRPr kumimoji="1" lang="en" altLang="ko-Kore-KR" sz="2400" dirty="0"/>
          </a:p>
          <a:p>
            <a:pPr marL="0" indent="0">
              <a:buNone/>
            </a:pPr>
            <a:endParaRPr kumimoji="1" lang="en" altLang="ko-Kore-KR" sz="2400" dirty="0"/>
          </a:p>
          <a:p>
            <a:pPr marL="0" indent="0">
              <a:buNone/>
            </a:pPr>
            <a:r>
              <a:rPr kumimoji="1" lang="ko-KR" altLang="en-US" sz="2400" b="1" dirty="0"/>
              <a:t>아래 문서들로 대체 예정</a:t>
            </a:r>
            <a:endParaRPr kumimoji="1" lang="en" altLang="ko-Kore-KR" sz="2400" b="1" dirty="0"/>
          </a:p>
          <a:p>
            <a:r>
              <a:rPr kumimoji="1" lang="en-US" altLang="ko-Kore-KR" sz="2400" dirty="0"/>
              <a:t>KISA </a:t>
            </a:r>
            <a:r>
              <a:rPr kumimoji="1" lang="ko-KR" altLang="en-US" sz="2400" dirty="0"/>
              <a:t>암호이용 활성화</a:t>
            </a:r>
            <a:r>
              <a:rPr kumimoji="1" lang="en-US" altLang="ko-KR" sz="2400" dirty="0"/>
              <a:t>:</a:t>
            </a:r>
            <a:r>
              <a:rPr kumimoji="1" lang="ko-KR" altLang="en-US" sz="2400" dirty="0"/>
              <a:t> </a:t>
            </a:r>
            <a:r>
              <a:rPr kumimoji="1" lang="ko-KR" altLang="en-US" sz="2400" dirty="0" err="1"/>
              <a:t>암호모듈</a:t>
            </a:r>
            <a:r>
              <a:rPr kumimoji="1" lang="ko-KR" altLang="en-US" sz="2400" dirty="0"/>
              <a:t> 제출물 작성 안내서</a:t>
            </a:r>
            <a:r>
              <a:rPr kumimoji="1" lang="en-US" altLang="ko-KR" sz="2400" dirty="0"/>
              <a:t>(2025.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9.):</a:t>
            </a:r>
            <a:r>
              <a:rPr kumimoji="1" lang="ko-KR" altLang="en-US" sz="2400" dirty="0"/>
              <a:t> </a:t>
            </a:r>
            <a:r>
              <a:rPr kumimoji="1" lang="en" altLang="ko-KR" sz="2400" dirty="0">
                <a:hlinkClick r:id="rId3"/>
              </a:rPr>
              <a:t>https://seed.kisa.or.kr/kisa/Board/203/detailView.do</a:t>
            </a:r>
            <a:endParaRPr kumimoji="1" lang="en" altLang="ko-KR" sz="2400" dirty="0"/>
          </a:p>
          <a:p>
            <a:r>
              <a:rPr kumimoji="1" lang="en-US" altLang="ko-KR" sz="2400" dirty="0">
                <a:sym typeface="Wingdings" pitchFamily="2" charset="2"/>
              </a:rPr>
              <a:t></a:t>
            </a:r>
            <a:r>
              <a:rPr kumimoji="1" lang="ko-KR" altLang="en-US" sz="2400" dirty="0">
                <a:sym typeface="Wingdings" pitchFamily="2" charset="2"/>
              </a:rPr>
              <a:t> </a:t>
            </a:r>
            <a:r>
              <a:rPr kumimoji="1" lang="ko-KR" altLang="en-US" sz="2400" dirty="0" err="1">
                <a:sym typeface="Wingdings" pitchFamily="2" charset="2"/>
              </a:rPr>
              <a:t>암호모듈</a:t>
            </a:r>
            <a:r>
              <a:rPr kumimoji="1" lang="ko-KR" altLang="en-US" sz="2400" dirty="0">
                <a:sym typeface="Wingdings" pitchFamily="2" charset="2"/>
              </a:rPr>
              <a:t> 제출물 작성을 위한 구현 안내서 </a:t>
            </a:r>
            <a:endParaRPr kumimoji="1" lang="en-US" altLang="ko-KR" sz="2400" dirty="0">
              <a:sym typeface="Wingdings" pitchFamily="2" charset="2"/>
            </a:endParaRPr>
          </a:p>
          <a:p>
            <a:r>
              <a:rPr kumimoji="1" lang="en" altLang="ko-Kore-KR" sz="2400" dirty="0"/>
              <a:t>LEA </a:t>
            </a:r>
            <a:r>
              <a:rPr kumimoji="1" lang="ko-KR" altLang="en-US" sz="2400" dirty="0"/>
              <a:t>소스코드 사용 매뉴얼</a:t>
            </a:r>
            <a:r>
              <a:rPr kumimoji="1" lang="en-US" altLang="ko-KR" sz="2400" dirty="0"/>
              <a:t>(v 1.0,</a:t>
            </a:r>
            <a:r>
              <a:rPr kumimoji="1" lang="ko-KR" altLang="en-US" sz="2400" dirty="0"/>
              <a:t> </a:t>
            </a:r>
            <a:r>
              <a:rPr kumimoji="1" lang="ko-KR" altLang="en-US" sz="2400" dirty="0" err="1"/>
              <a:t>국보연</a:t>
            </a:r>
            <a:r>
              <a:rPr kumimoji="1" lang="en-US" altLang="ko-KR" sz="2400" dirty="0"/>
              <a:t>)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/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128</a:t>
            </a:r>
            <a:r>
              <a:rPr kumimoji="1" lang="ko-KR" altLang="en-US" sz="2400" dirty="0"/>
              <a:t>비트 블록암호 </a:t>
            </a:r>
            <a:r>
              <a:rPr kumimoji="1" lang="en-US" altLang="ko-KR" sz="2400" dirty="0"/>
              <a:t>LEA </a:t>
            </a:r>
            <a:r>
              <a:rPr kumimoji="1" lang="ko-KR" altLang="en-US" sz="2400" dirty="0"/>
              <a:t>규격서 </a:t>
            </a:r>
            <a:endParaRPr kumimoji="1" lang="en" altLang="ko-Kore-KR" sz="2400" dirty="0"/>
          </a:p>
          <a:p>
            <a:endParaRPr kumimoji="1" lang="en" altLang="ko-Kore-KR" sz="2400" dirty="0"/>
          </a:p>
          <a:p>
            <a:endParaRPr kumimoji="1" lang="ko-Kore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327BB-6DEF-1C23-FFE3-19C56EEF6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2EA9AE-9701-4AA9-1BF0-566645E1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19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258696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8A595-91C6-E6E7-D3BA-8BBA2CF2E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화면</a:t>
            </a: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2CE3EA-B840-5CCD-821E-BD76608DC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DA9824-3078-9FA6-B94E-802355325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D5A1ED-3E2D-1ACD-9B2D-5794E5CC8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255" y="1382800"/>
            <a:ext cx="9211490" cy="460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20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82C8D-22E4-110E-5B74-E017171EC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화면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623ADE-D1D1-2B60-995E-C44C18C2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88324B-91C0-4D9C-2650-3AAF85B59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509541-609A-995D-B78C-4DDCD4819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758" y="1387736"/>
            <a:ext cx="9691375" cy="478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4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0AD21-D3B3-F053-FF27-974BDA34B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진행 목표 및 역할 분담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8134D2-B920-A47D-3782-61EF9982A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b="1" dirty="0"/>
              <a:t>~3</a:t>
            </a:r>
            <a:r>
              <a:rPr kumimoji="1" lang="ko-KR" altLang="en-US" b="1" dirty="0"/>
              <a:t>월 </a:t>
            </a:r>
            <a:r>
              <a:rPr kumimoji="1" lang="en-US" altLang="ko-KR" b="1" dirty="0"/>
              <a:t>16</a:t>
            </a:r>
            <a:r>
              <a:rPr kumimoji="1" lang="ko-KR" altLang="en-US" b="1" dirty="0"/>
              <a:t>일 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학부생 회의</a:t>
            </a:r>
            <a:r>
              <a:rPr kumimoji="1" lang="en-US" altLang="ko-KR" b="1" dirty="0"/>
              <a:t>):</a:t>
            </a:r>
          </a:p>
          <a:p>
            <a:pPr marL="0" indent="0">
              <a:buNone/>
            </a:pPr>
            <a:r>
              <a:rPr kumimoji="1" lang="en-US" altLang="ko-KR" dirty="0"/>
              <a:t> - </a:t>
            </a:r>
            <a:r>
              <a:rPr kumimoji="1" lang="ko-KR" altLang="en-US" dirty="0" err="1"/>
              <a:t>룰셋</a:t>
            </a:r>
            <a:r>
              <a:rPr kumimoji="1" lang="ko-KR" altLang="en-US" dirty="0"/>
              <a:t> 설계 어느정도 완료</a:t>
            </a:r>
          </a:p>
          <a:p>
            <a:pPr marL="0" indent="0">
              <a:buNone/>
            </a:pPr>
            <a:r>
              <a:rPr kumimoji="1" lang="ko-KR" altLang="en-US" dirty="0"/>
              <a:t> </a:t>
            </a:r>
            <a:r>
              <a:rPr kumimoji="1" lang="en-US" altLang="ko-KR" dirty="0"/>
              <a:t>- </a:t>
            </a:r>
            <a:r>
              <a:rPr kumimoji="1" lang="en" altLang="ko-KR" dirty="0"/>
              <a:t>RAG </a:t>
            </a:r>
            <a:r>
              <a:rPr kumimoji="1" lang="ko-KR" altLang="en-US" dirty="0"/>
              <a:t>파이프라인 연결 및 </a:t>
            </a:r>
            <a:r>
              <a:rPr kumimoji="1" lang="en" altLang="ko-KR" dirty="0"/>
              <a:t>AI </a:t>
            </a:r>
            <a:r>
              <a:rPr kumimoji="1" lang="ko-KR" altLang="en-US" dirty="0"/>
              <a:t>최적화 완료</a:t>
            </a:r>
          </a:p>
          <a:p>
            <a:pPr marL="0" indent="0">
              <a:buNone/>
            </a:pPr>
            <a:r>
              <a:rPr kumimoji="1" lang="ko-KR" altLang="en-US" dirty="0"/>
              <a:t> </a:t>
            </a:r>
            <a:r>
              <a:rPr kumimoji="1" lang="en-US" altLang="ko-KR" dirty="0"/>
              <a:t>- </a:t>
            </a:r>
            <a:r>
              <a:rPr kumimoji="1" lang="ko-KR" altLang="en-US" dirty="0"/>
              <a:t>출력될 최종 보고서 형태 형식 구성 완료 </a:t>
            </a:r>
            <a:endParaRPr kumimoji="1" lang="en-US" altLang="ko-Kore-KR" dirty="0"/>
          </a:p>
          <a:p>
            <a:pPr marL="0" indent="0">
              <a:buNone/>
            </a:pPr>
            <a:endParaRPr kumimoji="1" lang="en-US" altLang="ko-KR" dirty="0"/>
          </a:p>
          <a:p>
            <a:r>
              <a:rPr kumimoji="1" lang="ko-Kore-KR" altLang="en-US" b="1" dirty="0"/>
              <a:t>현재</a:t>
            </a:r>
            <a:r>
              <a:rPr kumimoji="1" lang="ko-KR" altLang="en-US" b="1" dirty="0"/>
              <a:t> </a:t>
            </a:r>
            <a:r>
              <a:rPr kumimoji="1" lang="ko-Kore-KR" altLang="en-US" b="1" dirty="0"/>
              <a:t>역할</a:t>
            </a:r>
            <a:r>
              <a:rPr kumimoji="1" lang="ko-KR" altLang="en-US" b="1" dirty="0"/>
              <a:t> 분담</a:t>
            </a:r>
            <a:endParaRPr kumimoji="1" lang="en-US" altLang="ko-KR" b="1" dirty="0"/>
          </a:p>
          <a:p>
            <a:pPr marL="0" indent="0">
              <a:buNone/>
            </a:pP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룰셋</a:t>
            </a:r>
            <a:r>
              <a:rPr kumimoji="1" lang="ko-KR" altLang="en-US" dirty="0"/>
              <a:t> 설계를 </a:t>
            </a:r>
            <a:r>
              <a:rPr kumimoji="1" lang="en-US" altLang="ko-KR" dirty="0"/>
              <a:t>LEA </a:t>
            </a:r>
            <a:r>
              <a:rPr kumimoji="1" lang="ko-KR" altLang="en-US" dirty="0"/>
              <a:t>알고리즘 파트 </a:t>
            </a:r>
            <a:r>
              <a:rPr kumimoji="1" lang="en-US" altLang="ko-KR" dirty="0"/>
              <a:t>/</a:t>
            </a:r>
            <a:r>
              <a:rPr kumimoji="1" lang="ko-KR" altLang="en-US" dirty="0"/>
              <a:t> 서류 관련 파트로 나눠서 진행 </a:t>
            </a:r>
            <a:endParaRPr kumimoji="1" lang="en-US" altLang="ko-KR" dirty="0"/>
          </a:p>
          <a:p>
            <a:pPr marL="0" indent="0">
              <a:buNone/>
            </a:pP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B838557-C450-DBF3-A198-9DCE54C3E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8F4E56-9E7E-FE08-2D1E-3A7CBFD5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22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62115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30608-C0A5-4F71-40FF-29312ED73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Q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DDE0B8-B443-858F-7670-EA6BF8598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AI </a:t>
            </a:r>
            <a:r>
              <a:rPr kumimoji="1" lang="ko-KR" altLang="en-US" dirty="0"/>
              <a:t>부분</a:t>
            </a:r>
            <a:r>
              <a:rPr kumimoji="1" lang="en-US" altLang="ko-KR" dirty="0"/>
              <a:t>: </a:t>
            </a:r>
            <a:r>
              <a:rPr kumimoji="1" lang="ko-KR" altLang="en-US" dirty="0"/>
              <a:t>로컬에서 해도 </a:t>
            </a:r>
            <a:r>
              <a:rPr kumimoji="1" lang="ko-KR" altLang="en-US" dirty="0" err="1"/>
              <a:t>괜찮</a:t>
            </a:r>
            <a:endParaRPr kumimoji="1" lang="en-US" altLang="ko-KR" dirty="0"/>
          </a:p>
          <a:p>
            <a:r>
              <a:rPr kumimoji="1" lang="ko-KR" altLang="en-US" dirty="0"/>
              <a:t>서류부분</a:t>
            </a:r>
            <a:r>
              <a:rPr kumimoji="1" lang="en-US" altLang="ko-KR" dirty="0"/>
              <a:t>:</a:t>
            </a:r>
            <a:r>
              <a:rPr kumimoji="1" lang="ko-KR" altLang="en-US" dirty="0"/>
              <a:t> 소프트웨어 기본적 </a:t>
            </a:r>
            <a:r>
              <a:rPr kumimoji="1" lang="en-US" altLang="ko-KR" dirty="0"/>
              <a:t>(security 1</a:t>
            </a:r>
            <a:r>
              <a:rPr kumimoji="1" lang="ko-KR" altLang="en-US" dirty="0"/>
              <a:t>이면서 소프트웨어인 것만 </a:t>
            </a:r>
            <a:r>
              <a:rPr kumimoji="1" lang="en-US" altLang="ko-KR" dirty="0"/>
              <a:t>(</a:t>
            </a:r>
            <a:r>
              <a:rPr kumimoji="1" lang="ko-KR" altLang="en-US" dirty="0"/>
              <a:t>펌웨어 </a:t>
            </a:r>
            <a:r>
              <a:rPr kumimoji="1" lang="en-US" altLang="ko-KR" dirty="0"/>
              <a:t>x) )</a:t>
            </a:r>
            <a:r>
              <a:rPr kumimoji="1" lang="ko-KR" altLang="en-US" dirty="0"/>
              <a:t> </a:t>
            </a:r>
            <a:r>
              <a:rPr kumimoji="1" lang="en-US" altLang="ko-KR" dirty="0">
                <a:sym typeface="Wingdings" pitchFamily="2" charset="2"/>
              </a:rPr>
              <a:t></a:t>
            </a:r>
            <a:r>
              <a:rPr kumimoji="1" lang="ko-KR" altLang="en-US" dirty="0">
                <a:sym typeface="Wingdings" pitchFamily="2" charset="2"/>
              </a:rPr>
              <a:t> 이 부분도 </a:t>
            </a:r>
            <a:r>
              <a:rPr kumimoji="1" lang="ko-KR" altLang="en-US" dirty="0" err="1">
                <a:sym typeface="Wingdings" pitchFamily="2" charset="2"/>
              </a:rPr>
              <a:t>크롭해서</a:t>
            </a:r>
            <a:r>
              <a:rPr kumimoji="1" lang="ko-KR" altLang="en-US" dirty="0">
                <a:sym typeface="Wingdings" pitchFamily="2" charset="2"/>
              </a:rPr>
              <a:t> 넣도록 하라</a:t>
            </a:r>
            <a:endParaRPr kumimoji="1" lang="en-US" altLang="ko-KR" dirty="0"/>
          </a:p>
          <a:p>
            <a:r>
              <a:rPr kumimoji="1" lang="ko-KR" altLang="en-US" dirty="0"/>
              <a:t>진행도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4</a:t>
            </a:r>
            <a:r>
              <a:rPr kumimoji="1" lang="ko-KR" altLang="en-US" dirty="0"/>
              <a:t>페이지 이내</a:t>
            </a:r>
            <a:r>
              <a:rPr kumimoji="1" lang="en-US" altLang="ko-KR" dirty="0"/>
              <a:t>(</a:t>
            </a:r>
            <a:r>
              <a:rPr kumimoji="1" lang="ko-KR" altLang="en-US" dirty="0"/>
              <a:t>양식</a:t>
            </a:r>
            <a:r>
              <a:rPr kumimoji="1" lang="en-US" altLang="ko-KR" dirty="0"/>
              <a:t>)</a:t>
            </a:r>
          </a:p>
          <a:p>
            <a:r>
              <a:rPr kumimoji="1" lang="ko-KR" altLang="en-US" dirty="0"/>
              <a:t>논문</a:t>
            </a:r>
            <a:r>
              <a:rPr kumimoji="1" lang="en-US" altLang="ko-KR" dirty="0"/>
              <a:t>:</a:t>
            </a:r>
            <a:r>
              <a:rPr kumimoji="1" lang="ko-KR" altLang="en-US" dirty="0"/>
              <a:t>  </a:t>
            </a:r>
            <a:r>
              <a:rPr kumimoji="1" lang="en-US" altLang="ko-KR" dirty="0"/>
              <a:t>phase</a:t>
            </a:r>
            <a:r>
              <a:rPr kumimoji="1" lang="ko-KR" altLang="en-US" dirty="0"/>
              <a:t>그림 다이어그램 ⭐️ </a:t>
            </a:r>
            <a:r>
              <a:rPr kumimoji="1" lang="en-US" altLang="ko-KR" dirty="0"/>
              <a:t>+</a:t>
            </a:r>
            <a:r>
              <a:rPr kumimoji="1" lang="ko-KR" altLang="en-US" dirty="0"/>
              <a:t> 화면 포함 </a:t>
            </a:r>
            <a:r>
              <a:rPr kumimoji="1" lang="en-US" altLang="ko-KR" dirty="0"/>
              <a:t>(</a:t>
            </a:r>
            <a:r>
              <a:rPr kumimoji="1" lang="ko-KR" altLang="en-US" dirty="0"/>
              <a:t>선택</a:t>
            </a:r>
            <a:r>
              <a:rPr kumimoji="1" lang="en-US" altLang="ko-KR" dirty="0"/>
              <a:t>),</a:t>
            </a:r>
            <a:r>
              <a:rPr kumimoji="1" lang="ko-KR" altLang="en-US" dirty="0"/>
              <a:t> 참고문헌 </a:t>
            </a:r>
            <a:r>
              <a:rPr kumimoji="1" lang="ko-KR" altLang="en-US" dirty="0" err="1"/>
              <a:t>할루시네이션을</a:t>
            </a:r>
            <a:r>
              <a:rPr kumimoji="1" lang="ko-KR" altLang="en-US" dirty="0"/>
              <a:t> 조심하라</a:t>
            </a:r>
            <a:r>
              <a:rPr kumimoji="1" lang="en-US" altLang="ko-KR" dirty="0"/>
              <a:t>!!!(</a:t>
            </a:r>
            <a:r>
              <a:rPr kumimoji="1" lang="ko-KR" altLang="en-US" dirty="0"/>
              <a:t>이중 검증을 하라</a:t>
            </a:r>
            <a:r>
              <a:rPr kumimoji="1" lang="en-US" altLang="ko-KR" dirty="0"/>
              <a:t>…)</a:t>
            </a:r>
            <a:r>
              <a:rPr kumimoji="1" lang="ko-KR" altLang="en-US" dirty="0"/>
              <a:t> </a:t>
            </a: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201C32-CAB7-572A-9636-A1B1BE144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 dirty="0" err="1"/>
              <a:t>부채널</a:t>
            </a:r>
            <a:r>
              <a:rPr kumimoji="1" lang="ko-KR" altLang="en-US" dirty="0"/>
              <a:t> 공모전</a:t>
            </a:r>
            <a:r>
              <a:rPr kumimoji="1" lang="en-US" altLang="ko-KR" dirty="0"/>
              <a:t>: </a:t>
            </a:r>
            <a:r>
              <a:rPr kumimoji="1" lang="en" altLang="ko-Kore-KR" dirty="0"/>
              <a:t>AI </a:t>
            </a:r>
            <a:r>
              <a:rPr kumimoji="1" lang="ko-KR" altLang="en-US" dirty="0"/>
              <a:t>기반 </a:t>
            </a:r>
            <a:r>
              <a:rPr kumimoji="1" lang="en" altLang="ko-Kore-KR" dirty="0"/>
              <a:t>KCMVP </a:t>
            </a:r>
            <a:r>
              <a:rPr kumimoji="1" lang="ko-KR" altLang="en-US" dirty="0"/>
              <a:t>사전 점검</a:t>
            </a:r>
            <a:endParaRPr kumimoji="1" lang="ko-Kore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4C3317-16CA-4DAC-4AD2-5AEBF3002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23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75618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80411-0A02-C695-F1E7-3BE2834B6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EF639-CE3B-798A-720E-FBE5F7DC4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97429"/>
            <a:ext cx="9144000" cy="121253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ko-Kore-KR" dirty="0"/>
              <a:t>AI </a:t>
            </a:r>
            <a:r>
              <a:rPr kumimoji="1" lang="ko-KR" altLang="en-US" dirty="0"/>
              <a:t>기반 </a:t>
            </a:r>
            <a:r>
              <a:rPr kumimoji="1" lang="en-US" altLang="ko-KR" dirty="0"/>
              <a:t>KCMVP </a:t>
            </a:r>
            <a:r>
              <a:rPr kumimoji="1" lang="ko-KR" altLang="en-US" dirty="0"/>
              <a:t>사전 적합성 검증 도구</a:t>
            </a:r>
            <a:endParaRPr kumimoji="1" lang="ko-Kore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9C15B3-0545-33EA-1C74-F6E3D53DA7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ore-KR" dirty="0"/>
              <a:t>2</a:t>
            </a:r>
            <a:r>
              <a:rPr kumimoji="1" lang="en-US" altLang="ko-KR" dirty="0"/>
              <a:t>026.02.25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부채널</a:t>
            </a:r>
            <a:r>
              <a:rPr kumimoji="1" lang="ko-KR" altLang="en-US" dirty="0"/>
              <a:t> 공모전 </a:t>
            </a:r>
            <a:r>
              <a:rPr kumimoji="1" lang="en-US" altLang="ko-KR" dirty="0"/>
              <a:t>Project L3_2</a:t>
            </a:r>
          </a:p>
          <a:p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진행 사항 공유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kumimoji="1" lang="en-US" altLang="ko-KR" dirty="0"/>
              <a:t>20260310</a:t>
            </a:r>
            <a:r>
              <a:rPr kumimoji="1" lang="ko-KR" altLang="en-US" dirty="0"/>
              <a:t> 월요일 회의</a:t>
            </a:r>
            <a:endParaRPr kumimoji="1" lang="en-US" altLang="ko-KR" dirty="0"/>
          </a:p>
          <a:p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22C57F-6624-6DCD-7665-F3BB0AA75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73F42C-BF0E-F27A-1D42-A974BBF9B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24</a:t>
            </a:fld>
            <a:endParaRPr kumimoji="1" lang="ko-Kore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A52E80-655A-E6B3-06DD-DAD019F6CE7E}"/>
              </a:ext>
            </a:extLst>
          </p:cNvPr>
          <p:cNvSpPr txBox="1"/>
          <p:nvPr/>
        </p:nvSpPr>
        <p:spPr>
          <a:xfrm>
            <a:off x="4892233" y="1024879"/>
            <a:ext cx="24075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800" b="1" dirty="0">
                <a:latin typeface="Paperlogy 9 Black" pitchFamily="2" charset="-127"/>
                <a:ea typeface="Paperlogy 9 Black" pitchFamily="2" charset="-127"/>
              </a:rPr>
              <a:t>3</a:t>
            </a:r>
            <a:endParaRPr kumimoji="1" lang="ko-Kore-KR" altLang="en-US" sz="8800" b="1" dirty="0">
              <a:latin typeface="Paperlogy 9 Black" pitchFamily="2" charset="-127"/>
              <a:ea typeface="Paperlogy 9 Black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6841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72A53-8B8C-F753-235D-9BE9B0EE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피드백 진행사항 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4240AB-B8EB-CF03-9163-C4A4B7734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ore-KR" altLang="en-US" dirty="0"/>
              <a:t>교수님의</a:t>
            </a:r>
            <a:r>
              <a:rPr kumimoji="1" lang="ko-KR" altLang="en-US" dirty="0"/>
              <a:t> 피드백</a:t>
            </a:r>
            <a:endParaRPr kumimoji="1" lang="en-US" altLang="ko-KR" dirty="0"/>
          </a:p>
          <a:p>
            <a:pPr lvl="1"/>
            <a:r>
              <a:rPr kumimoji="1" lang="en-US" altLang="ko-Kore-KR" b="1" dirty="0"/>
              <a:t>AI </a:t>
            </a:r>
            <a:r>
              <a:rPr kumimoji="1" lang="ko-KR" altLang="en-US" b="1" dirty="0"/>
              <a:t>부분</a:t>
            </a:r>
            <a:r>
              <a:rPr kumimoji="1" lang="en-US" altLang="ko-KR" b="1" dirty="0"/>
              <a:t>: </a:t>
            </a:r>
            <a:r>
              <a:rPr kumimoji="1" lang="ko-KR" altLang="en-US" b="1" dirty="0"/>
              <a:t>로컬에서 해도 </a:t>
            </a:r>
            <a:r>
              <a:rPr kumimoji="1" lang="ko-KR" altLang="en-US" b="1" dirty="0" err="1"/>
              <a:t>괜찮</a:t>
            </a:r>
            <a:r>
              <a:rPr kumimoji="1" lang="ko-KR" altLang="en-US" b="1" dirty="0"/>
              <a:t> </a:t>
            </a:r>
            <a:endParaRPr kumimoji="1" lang="en-US" altLang="ko-KR" b="1" dirty="0"/>
          </a:p>
          <a:p>
            <a:pPr marL="457200" lvl="1" indent="0">
              <a:buNone/>
            </a:pPr>
            <a:r>
              <a:rPr kumimoji="1" lang="ko-KR" altLang="en-US" dirty="0"/>
              <a:t>그래서 </a:t>
            </a:r>
            <a:r>
              <a:rPr kumimoji="1" lang="ko-KR" altLang="en-US" dirty="0" err="1"/>
              <a:t>파인튜닝을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해야하는데</a:t>
            </a:r>
            <a:r>
              <a:rPr kumimoji="1" lang="ko-KR" altLang="en-US" dirty="0"/>
              <a:t> 아직 못했습니다</a:t>
            </a:r>
            <a:endParaRPr kumimoji="1" lang="en-US" altLang="ko-KR" dirty="0"/>
          </a:p>
          <a:p>
            <a:pPr marL="457200" lvl="1" indent="0">
              <a:buNone/>
            </a:pPr>
            <a:endParaRPr kumimoji="1" lang="en-US" altLang="ko-KR" dirty="0"/>
          </a:p>
          <a:p>
            <a:pPr lvl="1"/>
            <a:r>
              <a:rPr kumimoji="1" lang="ko-KR" altLang="en-US" b="1" dirty="0"/>
              <a:t>서류부분</a:t>
            </a:r>
            <a:r>
              <a:rPr kumimoji="1" lang="en-US" altLang="ko-KR" b="1" dirty="0"/>
              <a:t>:</a:t>
            </a:r>
            <a:r>
              <a:rPr kumimoji="1" lang="ko-KR" altLang="en-US" b="1" dirty="0"/>
              <a:t> 소프트웨어 기본적 </a:t>
            </a:r>
            <a:r>
              <a:rPr kumimoji="1" lang="en-US" altLang="ko-KR" b="1" dirty="0"/>
              <a:t>(security 1</a:t>
            </a:r>
            <a:r>
              <a:rPr kumimoji="1" lang="ko-KR" altLang="en-US" b="1" dirty="0"/>
              <a:t>이면서 소프트웨어인 것만 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펌웨어 </a:t>
            </a:r>
            <a:r>
              <a:rPr kumimoji="1" lang="en-US" altLang="ko-KR" b="1" dirty="0"/>
              <a:t>x) )</a:t>
            </a:r>
          </a:p>
          <a:p>
            <a:pPr marL="457200" lvl="1" indent="0">
              <a:buNone/>
            </a:pPr>
            <a:r>
              <a:rPr kumimoji="1" lang="ko-KR" altLang="en-US" dirty="0"/>
              <a:t>이미 문서 자체가 보안수준 </a:t>
            </a:r>
            <a:r>
              <a:rPr kumimoji="1" lang="en-US" altLang="ko-KR" dirty="0"/>
              <a:t>1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해당하는 소프트웨어 </a:t>
            </a:r>
            <a:r>
              <a:rPr kumimoji="1" lang="ko-KR" altLang="en-US" dirty="0" err="1"/>
              <a:t>암호모듈을</a:t>
            </a:r>
            <a:r>
              <a:rPr kumimoji="1" lang="ko-KR" altLang="en-US" dirty="0"/>
              <a:t> 대상으로 함</a:t>
            </a:r>
            <a:endParaRPr kumimoji="1" lang="en-US" altLang="ko-KR" dirty="0"/>
          </a:p>
          <a:p>
            <a:pPr marL="457200" lvl="1" indent="0">
              <a:buNone/>
            </a:pPr>
            <a:endParaRPr kumimoji="1"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8817CF-1E2C-1AFF-A7E3-1BB7C1BB2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8CC06E-6376-13FD-6484-DC550E83F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25</a:t>
            </a:fld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8A792B6-2FCE-1D74-0B2D-710678B89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756875"/>
            <a:ext cx="7772400" cy="242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70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9AA73-B435-DF63-7272-36E12FF05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피드백 진행사항 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6EA556-9DCF-0F8D-0D62-D7D3D10E2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kumimoji="1" lang="en-US" altLang="ko-KR" dirty="0"/>
          </a:p>
          <a:p>
            <a:pPr marL="457200" lvl="1" indent="0">
              <a:buNone/>
            </a:pPr>
            <a:r>
              <a:rPr kumimoji="1" lang="ko-KR" altLang="en-US" dirty="0"/>
              <a:t> </a:t>
            </a:r>
            <a:r>
              <a:rPr kumimoji="1" lang="en-US" altLang="ko-KR" dirty="0">
                <a:sym typeface="Wingdings" pitchFamily="2" charset="2"/>
              </a:rPr>
              <a:t></a:t>
            </a:r>
            <a:r>
              <a:rPr kumimoji="1" lang="ko-KR" altLang="en-US" dirty="0">
                <a:sym typeface="Wingdings" pitchFamily="2" charset="2"/>
              </a:rPr>
              <a:t> </a:t>
            </a:r>
            <a:r>
              <a:rPr kumimoji="1" lang="ko-KR" altLang="en-US" b="1" dirty="0">
                <a:sym typeface="Wingdings" pitchFamily="2" charset="2"/>
              </a:rPr>
              <a:t>이 부분도 </a:t>
            </a:r>
            <a:r>
              <a:rPr kumimoji="1" lang="ko-KR" altLang="en-US" b="1" dirty="0" err="1">
                <a:sym typeface="Wingdings" pitchFamily="2" charset="2"/>
              </a:rPr>
              <a:t>크롭해서</a:t>
            </a:r>
            <a:r>
              <a:rPr kumimoji="1" lang="ko-KR" altLang="en-US" b="1" dirty="0">
                <a:sym typeface="Wingdings" pitchFamily="2" charset="2"/>
              </a:rPr>
              <a:t> 넣도록 하라 </a:t>
            </a:r>
            <a:r>
              <a:rPr kumimoji="1" lang="en-US" altLang="ko-KR" b="1" dirty="0">
                <a:sym typeface="Wingdings" pitchFamily="2" charset="2"/>
              </a:rPr>
              <a:t>?</a:t>
            </a:r>
            <a:r>
              <a:rPr kumimoji="1" lang="ko-KR" altLang="en-US" b="1" dirty="0">
                <a:sym typeface="Wingdings" pitchFamily="2" charset="2"/>
              </a:rPr>
              <a:t> </a:t>
            </a:r>
            <a:r>
              <a:rPr kumimoji="1" lang="en-US" altLang="ko-KR" b="1" dirty="0">
                <a:sym typeface="Wingdings" pitchFamily="2" charset="2"/>
              </a:rPr>
              <a:t>?</a:t>
            </a:r>
          </a:p>
          <a:p>
            <a:pPr marL="457200" lvl="1" indent="0">
              <a:buNone/>
            </a:pPr>
            <a:endParaRPr kumimoji="1" lang="en-US" altLang="ko-KR" dirty="0"/>
          </a:p>
          <a:p>
            <a:pPr lvl="1"/>
            <a:r>
              <a:rPr kumimoji="1" lang="ko-KR" altLang="en-US" b="1" dirty="0"/>
              <a:t>진행도 </a:t>
            </a:r>
            <a:r>
              <a:rPr kumimoji="1" lang="en-US" altLang="ko-KR" b="1" dirty="0"/>
              <a:t>: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4</a:t>
            </a:r>
            <a:r>
              <a:rPr kumimoji="1" lang="ko-KR" altLang="en-US" b="1" dirty="0"/>
              <a:t>페이지 이내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양식</a:t>
            </a:r>
            <a:r>
              <a:rPr kumimoji="1" lang="en-US" altLang="ko-KR" b="1" dirty="0"/>
              <a:t>)</a:t>
            </a:r>
          </a:p>
          <a:p>
            <a:pPr marL="457200" lvl="1" indent="0">
              <a:buNone/>
            </a:pPr>
            <a:r>
              <a:rPr kumimoji="1" lang="ko-KR" altLang="en-US" dirty="0"/>
              <a:t>아마 역할 분담하면 이틀 만에도 진행할 수 있음 </a:t>
            </a:r>
            <a:r>
              <a:rPr kumimoji="1" lang="en-US" altLang="ko-KR" dirty="0"/>
              <a:t>(</a:t>
            </a:r>
            <a:r>
              <a:rPr kumimoji="1" lang="ko-KR" altLang="en-US" dirty="0"/>
              <a:t>프레임워크 완성</a:t>
            </a:r>
            <a:r>
              <a:rPr kumimoji="1" lang="en-US" altLang="ko-KR" dirty="0">
                <a:sym typeface="Wingdings" pitchFamily="2" charset="2"/>
              </a:rPr>
              <a:t></a:t>
            </a:r>
            <a:r>
              <a:rPr kumimoji="1" lang="ko-KR" altLang="en-US" dirty="0">
                <a:sym typeface="Wingdings" pitchFamily="2" charset="2"/>
              </a:rPr>
              <a:t> 실험</a:t>
            </a:r>
            <a:r>
              <a:rPr kumimoji="1" lang="en-US" altLang="ko-KR" dirty="0">
                <a:sym typeface="Wingdings" pitchFamily="2" charset="2"/>
              </a:rPr>
              <a:t></a:t>
            </a:r>
            <a:r>
              <a:rPr kumimoji="1" lang="ko-KR" altLang="en-US" dirty="0">
                <a:sym typeface="Wingdings" pitchFamily="2" charset="2"/>
              </a:rPr>
              <a:t>논문</a:t>
            </a:r>
            <a:r>
              <a:rPr kumimoji="1" lang="en-US" altLang="ko-KR" dirty="0">
                <a:sym typeface="Wingdings" pitchFamily="2" charset="2"/>
              </a:rPr>
              <a:t>)</a:t>
            </a:r>
            <a:endParaRPr kumimoji="1" lang="en-US" altLang="ko-KR" dirty="0"/>
          </a:p>
          <a:p>
            <a:pPr marL="457200" lvl="1" indent="0">
              <a:buNone/>
            </a:pPr>
            <a:endParaRPr kumimoji="1" lang="en-US" altLang="ko-KR" dirty="0"/>
          </a:p>
          <a:p>
            <a:pPr lvl="1"/>
            <a:r>
              <a:rPr kumimoji="1" lang="ko-KR" altLang="en-US" b="1" dirty="0"/>
              <a:t>논문</a:t>
            </a:r>
            <a:r>
              <a:rPr kumimoji="1" lang="en-US" altLang="ko-KR" b="1" dirty="0"/>
              <a:t>:</a:t>
            </a:r>
            <a:r>
              <a:rPr kumimoji="1" lang="ko-KR" altLang="en-US" b="1" dirty="0"/>
              <a:t>  </a:t>
            </a:r>
            <a:r>
              <a:rPr kumimoji="1" lang="en-US" altLang="ko-KR" b="1" dirty="0"/>
              <a:t>phase</a:t>
            </a:r>
            <a:r>
              <a:rPr kumimoji="1" lang="ko-KR" altLang="en-US" b="1" dirty="0"/>
              <a:t>그림 다이어그램 ⭐️ </a:t>
            </a:r>
            <a:r>
              <a:rPr kumimoji="1" lang="en-US" altLang="ko-KR" b="1" dirty="0"/>
              <a:t>+</a:t>
            </a:r>
            <a:r>
              <a:rPr kumimoji="1" lang="ko-KR" altLang="en-US" b="1" dirty="0"/>
              <a:t> 화면 포함 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선택</a:t>
            </a:r>
            <a:r>
              <a:rPr kumimoji="1" lang="en-US" altLang="ko-KR" b="1" dirty="0"/>
              <a:t>),</a:t>
            </a:r>
            <a:r>
              <a:rPr kumimoji="1" lang="ko-KR" altLang="en-US" b="1" dirty="0"/>
              <a:t> 참고문헌 </a:t>
            </a:r>
            <a:r>
              <a:rPr kumimoji="1" lang="ko-KR" altLang="en-US" b="1" dirty="0" err="1"/>
              <a:t>할루시네이션을</a:t>
            </a:r>
            <a:r>
              <a:rPr kumimoji="1" lang="ko-KR" altLang="en-US" b="1" dirty="0"/>
              <a:t> 조심하라</a:t>
            </a:r>
            <a:r>
              <a:rPr kumimoji="1" lang="en-US" altLang="ko-KR" b="1" dirty="0"/>
              <a:t>!!!(</a:t>
            </a:r>
            <a:r>
              <a:rPr kumimoji="1" lang="ko-KR" altLang="en-US" b="1" dirty="0"/>
              <a:t>이중 검증을 하라</a:t>
            </a:r>
            <a:r>
              <a:rPr kumimoji="1" lang="en-US" altLang="ko-KR" b="1" dirty="0"/>
              <a:t>…)</a:t>
            </a:r>
            <a:r>
              <a:rPr kumimoji="1" lang="ko-KR" altLang="en-US" b="1" dirty="0"/>
              <a:t> </a:t>
            </a:r>
            <a:endParaRPr kumimoji="1" lang="en-US" altLang="ko-KR" b="1" dirty="0"/>
          </a:p>
          <a:p>
            <a:pPr marL="457200" lvl="1" indent="0">
              <a:buNone/>
            </a:pPr>
            <a:r>
              <a:rPr kumimoji="1" lang="en-US" altLang="ko-KR" dirty="0">
                <a:sym typeface="Wingdings" pitchFamily="2" charset="2"/>
              </a:rPr>
              <a:t></a:t>
            </a:r>
            <a:r>
              <a:rPr kumimoji="1" lang="ko-KR" altLang="en-US" dirty="0">
                <a:sym typeface="Wingdings" pitchFamily="2" charset="2"/>
              </a:rPr>
              <a:t> 다이어그램은 </a:t>
            </a:r>
            <a:r>
              <a:rPr kumimoji="1" lang="ko-KR" altLang="en-US" dirty="0" err="1">
                <a:sym typeface="Wingdings" pitchFamily="2" charset="2"/>
              </a:rPr>
              <a:t>드롭박스</a:t>
            </a:r>
            <a:r>
              <a:rPr kumimoji="1" lang="ko-KR" altLang="en-US" dirty="0">
                <a:sym typeface="Wingdings" pitchFamily="2" charset="2"/>
              </a:rPr>
              <a:t> </a:t>
            </a:r>
            <a:r>
              <a:rPr kumimoji="1" lang="en-US" altLang="ko-KR" dirty="0">
                <a:sym typeface="Wingdings" pitchFamily="2" charset="2"/>
              </a:rPr>
              <a:t>ppt</a:t>
            </a:r>
            <a:r>
              <a:rPr kumimoji="1" lang="ko-KR" altLang="en-US" dirty="0">
                <a:sym typeface="Wingdings" pitchFamily="2" charset="2"/>
              </a:rPr>
              <a:t> 내에 </a:t>
            </a:r>
            <a:r>
              <a:rPr kumimoji="1" lang="ko-KR" altLang="en-US" dirty="0" err="1">
                <a:sym typeface="Wingdings" pitchFamily="2" charset="2"/>
              </a:rPr>
              <a:t>만들예정</a:t>
            </a:r>
            <a:endParaRPr kumimoji="1" lang="ko-Kore-KR" altLang="en-US" dirty="0"/>
          </a:p>
          <a:p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560AF2-4983-578A-69A0-18D26DB02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56E554-B16C-F8DD-282E-1EE4C61B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26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9578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9D228-8593-D68D-631D-C409CE2D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LEA </a:t>
            </a:r>
            <a:r>
              <a:rPr kumimoji="1" lang="ko-KR" altLang="en-US" dirty="0" err="1"/>
              <a:t>룰셋</a:t>
            </a:r>
            <a:r>
              <a:rPr kumimoji="1" lang="ko-KR" altLang="en-US" dirty="0"/>
              <a:t> 가이드라인 예시 </a:t>
            </a:r>
            <a:r>
              <a:rPr kumimoji="1" lang="en-US" altLang="ko-KR" dirty="0"/>
              <a:t>1</a:t>
            </a:r>
            <a:r>
              <a:rPr kumimoji="1" lang="ko-KR" altLang="en-US" dirty="0"/>
              <a:t> 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AFC9EC-D636-F3F9-87B6-0C501EB3A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ore-KR" altLang="en-US" dirty="0"/>
              <a:t>자세한</a:t>
            </a:r>
            <a:r>
              <a:rPr kumimoji="1" lang="ko-KR" altLang="en-US" dirty="0"/>
              <a:t> 내용은 </a:t>
            </a:r>
            <a:r>
              <a:rPr kumimoji="1" lang="ko-KR" altLang="en-US" dirty="0" err="1"/>
              <a:t>드롭박스</a:t>
            </a:r>
            <a:r>
              <a:rPr kumimoji="1" lang="ko-KR" altLang="en-US" dirty="0"/>
              <a:t> </a:t>
            </a:r>
            <a:r>
              <a:rPr kumimoji="1" lang="en-US" altLang="ko-KR" dirty="0"/>
              <a:t>KCMVP/</a:t>
            </a:r>
            <a:r>
              <a:rPr kumimoji="1" lang="ko-KR" altLang="en-US" dirty="0" err="1"/>
              <a:t>룰설계</a:t>
            </a:r>
            <a:r>
              <a:rPr kumimoji="1" lang="ko-KR" altLang="en-US" dirty="0"/>
              <a:t> 가이드라인 자료 마크다운 파일에 있음 </a:t>
            </a:r>
            <a:r>
              <a:rPr kumimoji="1" lang="en-US" altLang="ko-KR" dirty="0"/>
              <a:t>(</a:t>
            </a:r>
            <a:r>
              <a:rPr kumimoji="1" lang="ko-KR" altLang="en-US" dirty="0"/>
              <a:t>가독성이 </a:t>
            </a:r>
            <a:r>
              <a:rPr kumimoji="1" lang="ko-KR" altLang="en-US" dirty="0" err="1"/>
              <a:t>별로면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마크다운 뷰어로 보는 것을 추천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예시 이미지는 </a:t>
            </a:r>
            <a:r>
              <a:rPr kumimoji="1" lang="en-US" altLang="ko-KR" dirty="0"/>
              <a:t>LEA </a:t>
            </a:r>
            <a:r>
              <a:rPr kumimoji="1" lang="ko-KR" altLang="en-US" dirty="0"/>
              <a:t>표준 규격서 </a:t>
            </a:r>
            <a:r>
              <a:rPr kumimoji="1" lang="en-US" altLang="ko-KR" dirty="0"/>
              <a:t>+</a:t>
            </a:r>
            <a:r>
              <a:rPr kumimoji="1" lang="ko-KR" altLang="en-US" dirty="0"/>
              <a:t> 소스코드 사용법에서 가져옴</a:t>
            </a: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AD2A8C-8897-02DC-4858-1F9A3825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DBC143-9852-9249-3DAE-4B4BB1403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27</a:t>
            </a:fld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EDCC24-E9DC-2723-D973-82A175C31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9" y="2979445"/>
            <a:ext cx="5385703" cy="24622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3A0395-8238-FCDE-D20E-9823DC94C38E}"/>
              </a:ext>
            </a:extLst>
          </p:cNvPr>
          <p:cNvSpPr txBox="1"/>
          <p:nvPr/>
        </p:nvSpPr>
        <p:spPr>
          <a:xfrm>
            <a:off x="6096000" y="2979446"/>
            <a:ext cx="5662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</a:t>
            </a:r>
            <a:r>
              <a:rPr kumimoji="1" lang="ko-KR" altLang="en-US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 </a:t>
            </a:r>
            <a:r>
              <a:rPr kumimoji="1" lang="en-US" altLang="ko-KR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LEA-128</a:t>
            </a:r>
            <a:r>
              <a:rPr kumimoji="1" lang="ko-KR" altLang="en-US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의 경우</a:t>
            </a:r>
            <a:r>
              <a:rPr kumimoji="1" lang="en-US" altLang="ko-KR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,</a:t>
            </a:r>
            <a:r>
              <a:rPr kumimoji="1" lang="ko-KR" altLang="en-US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  </a:t>
            </a:r>
            <a:r>
              <a:rPr kumimoji="1" lang="en-US" altLang="ko-KR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Nr(</a:t>
            </a:r>
            <a:r>
              <a:rPr kumimoji="1" lang="ko-KR" altLang="en-US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라운드 수</a:t>
            </a:r>
            <a:r>
              <a:rPr kumimoji="1" lang="en-US" altLang="ko-KR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)</a:t>
            </a:r>
            <a:r>
              <a:rPr kumimoji="1" lang="ko-KR" altLang="en-US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가 </a:t>
            </a:r>
            <a:r>
              <a:rPr kumimoji="1" lang="en-US" altLang="ko-KR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24</a:t>
            </a:r>
            <a:r>
              <a:rPr kumimoji="1" lang="ko-KR" altLang="en-US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여야 함</a:t>
            </a:r>
            <a:r>
              <a:rPr kumimoji="1" lang="en-US" altLang="ko-KR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.</a:t>
            </a:r>
            <a:r>
              <a:rPr kumimoji="1" lang="ko-KR" altLang="en-US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 즉</a:t>
            </a:r>
            <a:endParaRPr kumimoji="1" lang="ko-Kore-KR" altLang="en-US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976208-F959-E52E-94EF-8A6A8AFC0F91}"/>
              </a:ext>
            </a:extLst>
          </p:cNvPr>
          <p:cNvSpPr txBox="1"/>
          <p:nvPr/>
        </p:nvSpPr>
        <p:spPr>
          <a:xfrm>
            <a:off x="6235657" y="3528165"/>
            <a:ext cx="5662411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ore-KR" sz="1400" dirty="0">
                <a:effectLst/>
                <a:latin typeface="Paperlogy 4 Regular" pitchFamily="2" charset="-127"/>
                <a:ea typeface="Paperlogy 4 Regular" pitchFamily="2" charset="-127"/>
              </a:rPr>
              <a:t>rules:</a:t>
            </a:r>
          </a:p>
          <a:p>
            <a:pPr>
              <a:buNone/>
            </a:pPr>
            <a:r>
              <a:rPr lang="en" altLang="ko-Kore-KR" sz="1400" dirty="0">
                <a:effectLst/>
                <a:latin typeface="Paperlogy 4 Regular" pitchFamily="2" charset="-127"/>
                <a:ea typeface="Paperlogy 4 Regular" pitchFamily="2" charset="-127"/>
              </a:rPr>
              <a:t>  - id: LEA-001</a:t>
            </a:r>
          </a:p>
          <a:p>
            <a:pPr>
              <a:buNone/>
            </a:pPr>
            <a:r>
              <a:rPr lang="en" altLang="ko-Kore-KR" sz="1400" dirty="0">
                <a:effectLst/>
                <a:latin typeface="Paperlogy 4 Regular" pitchFamily="2" charset="-127"/>
                <a:ea typeface="Paperlogy 4 Regular" pitchFamily="2" charset="-127"/>
              </a:rPr>
              <a:t>    category: algorithm</a:t>
            </a:r>
          </a:p>
          <a:p>
            <a:pPr>
              <a:buNone/>
            </a:pPr>
            <a:r>
              <a:rPr lang="en" altLang="ko-Kore-KR" sz="1400" dirty="0">
                <a:effectLst/>
                <a:latin typeface="Paperlogy 4 Regular" pitchFamily="2" charset="-127"/>
                <a:ea typeface="Paperlogy 4 Regular" pitchFamily="2" charset="-127"/>
              </a:rPr>
              <a:t>    algorithm: LEA</a:t>
            </a:r>
          </a:p>
          <a:p>
            <a:pPr>
              <a:buNone/>
            </a:pPr>
            <a:r>
              <a:rPr lang="en" altLang="ko-Kore-KR" sz="1400" dirty="0">
                <a:effectLst/>
                <a:latin typeface="Paperlogy 4 Regular" pitchFamily="2" charset="-127"/>
                <a:ea typeface="Paperlogy 4 Regular" pitchFamily="2" charset="-127"/>
              </a:rPr>
              <a:t>    name: "LEA-128 </a:t>
            </a: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라운드 수 준수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"</a:t>
            </a:r>
          </a:p>
          <a:p>
            <a:pPr>
              <a:buNone/>
            </a:pP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    </a:t>
            </a:r>
            <a:r>
              <a:rPr lang="en" altLang="ko-Kore-KR" sz="1400" dirty="0">
                <a:effectLst/>
                <a:latin typeface="Paperlogy 4 Regular" pitchFamily="2" charset="-127"/>
                <a:ea typeface="Paperlogy 4 Regular" pitchFamily="2" charset="-127"/>
              </a:rPr>
              <a:t>description: "LEA-128 </a:t>
            </a: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구현에서 라운드 수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(</a:t>
            </a:r>
            <a:r>
              <a:rPr lang="en" altLang="ko-Kore-KR" sz="1400" dirty="0">
                <a:effectLst/>
                <a:latin typeface="Paperlogy 4 Regular" pitchFamily="2" charset="-127"/>
                <a:ea typeface="Paperlogy 4 Regular" pitchFamily="2" charset="-127"/>
              </a:rPr>
              <a:t>Nr)</a:t>
            </a: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가 표준 규격인 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24</a:t>
            </a: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회로 정의되어 있는지 검사함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"</a:t>
            </a:r>
          </a:p>
          <a:p>
            <a:pPr>
              <a:buNone/>
            </a:pP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    </a:t>
            </a:r>
            <a:r>
              <a:rPr lang="en" altLang="ko-Kore-KR" sz="1400" dirty="0" err="1">
                <a:effectLst/>
                <a:latin typeface="Paperlogy 4 Regular" pitchFamily="2" charset="-127"/>
                <a:ea typeface="Paperlogy 4 Regular" pitchFamily="2" charset="-127"/>
              </a:rPr>
              <a:t>pattern_type</a:t>
            </a:r>
            <a:r>
              <a:rPr lang="en" altLang="ko-Kore-KR" sz="1400" dirty="0">
                <a:effectLst/>
                <a:latin typeface="Paperlogy 4 Regular" pitchFamily="2" charset="-127"/>
                <a:ea typeface="Paperlogy 4 Regular" pitchFamily="2" charset="-127"/>
              </a:rPr>
              <a:t>: "regex"</a:t>
            </a:r>
          </a:p>
          <a:p>
            <a:pPr>
              <a:buNone/>
            </a:pPr>
            <a:r>
              <a:rPr lang="en" altLang="ko-Kore-KR" sz="1400" dirty="0">
                <a:effectLst/>
                <a:latin typeface="Paperlogy 4 Regular" pitchFamily="2" charset="-127"/>
                <a:ea typeface="Paperlogy 4 Regular" pitchFamily="2" charset="-127"/>
              </a:rPr>
              <a:t>    pattern: "#define\\s+LEA128_NR\\s+24"</a:t>
            </a:r>
          </a:p>
          <a:p>
            <a:pPr>
              <a:buNone/>
            </a:pPr>
            <a:r>
              <a:rPr lang="en" altLang="ko-Kore-KR" sz="1400" dirty="0">
                <a:effectLst/>
                <a:latin typeface="Paperlogy 4 Regular" pitchFamily="2" charset="-127"/>
                <a:ea typeface="Paperlogy 4 Regular" pitchFamily="2" charset="-127"/>
              </a:rPr>
              <a:t>    severity: high</a:t>
            </a:r>
          </a:p>
          <a:p>
            <a:pPr>
              <a:buNone/>
            </a:pPr>
            <a:r>
              <a:rPr lang="en" altLang="ko-Kore-KR" sz="1400" dirty="0">
                <a:effectLst/>
                <a:latin typeface="Paperlogy 4 Regular" pitchFamily="2" charset="-127"/>
                <a:ea typeface="Paperlogy 4 Regular" pitchFamily="2" charset="-127"/>
              </a:rPr>
              <a:t>    </a:t>
            </a:r>
            <a:r>
              <a:rPr lang="en" altLang="ko-Kore-KR" sz="1400" dirty="0" err="1">
                <a:effectLst/>
                <a:latin typeface="Paperlogy 4 Regular" pitchFamily="2" charset="-127"/>
                <a:ea typeface="Paperlogy 4 Regular" pitchFamily="2" charset="-127"/>
              </a:rPr>
              <a:t>kcmvp_ref</a:t>
            </a:r>
            <a:r>
              <a:rPr lang="en" altLang="ko-Kore-KR" sz="1400" dirty="0">
                <a:effectLst/>
                <a:latin typeface="Paperlogy 4 Regular" pitchFamily="2" charset="-127"/>
                <a:ea typeface="Paperlogy 4 Regular" pitchFamily="2" charset="-127"/>
              </a:rPr>
              <a:t>: "LEA </a:t>
            </a:r>
            <a:r>
              <a:rPr lang="ko-KR" altLang="en-US" sz="1400" dirty="0">
                <a:effectLst/>
                <a:latin typeface="Paperlogy 4 Regular" pitchFamily="2" charset="-127"/>
                <a:ea typeface="Paperlogy 4 Regular" pitchFamily="2" charset="-127"/>
              </a:rPr>
              <a:t>표준 </a:t>
            </a:r>
            <a:r>
              <a:rPr lang="en-US" altLang="ko-KR" sz="1400" dirty="0">
                <a:effectLst/>
                <a:latin typeface="Paperlogy 4 Regular" pitchFamily="2" charset="-127"/>
                <a:ea typeface="Paperlogy 4 Regular" pitchFamily="2" charset="-127"/>
              </a:rPr>
              <a:t>§5.1"</a:t>
            </a:r>
          </a:p>
        </p:txBody>
      </p:sp>
    </p:spTree>
    <p:extLst>
      <p:ext uri="{BB962C8B-B14F-4D97-AF65-F5344CB8AC3E}">
        <p14:creationId xmlns:p14="http://schemas.microsoft.com/office/powerpoint/2010/main" val="7435153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45DED-E908-0C74-BA86-DFB6744FB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LEA </a:t>
            </a:r>
            <a:r>
              <a:rPr kumimoji="1" lang="ko-KR" altLang="en-US" dirty="0" err="1"/>
              <a:t>룰셋</a:t>
            </a:r>
            <a:r>
              <a:rPr kumimoji="1" lang="ko-KR" altLang="en-US" dirty="0"/>
              <a:t> 가이드라인 예시 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3FA5ED-C7E4-00EB-94E8-0DD4EE41D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ore-KR" altLang="en-US" dirty="0"/>
              <a:t>키</a:t>
            </a:r>
            <a:r>
              <a:rPr kumimoji="1" lang="ko-KR" altLang="en-US" dirty="0"/>
              <a:t> 스케줄 함수에서 아래와 같은 상수를 정상적으로 사용해야 하므로</a:t>
            </a: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682893-49C7-ACE6-7AC9-B24570366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4C117D-96A5-325F-D9DC-EE1F3169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28</a:t>
            </a:fld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CF2FFB-EA5F-3DE0-F29B-0C4BE153F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182948"/>
            <a:ext cx="5549961" cy="19699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02307A0-73C5-56C2-59F6-0B28F0336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713016"/>
            <a:ext cx="5029200" cy="26433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C6003B-519E-897C-96E4-342ECBB79610}"/>
              </a:ext>
            </a:extLst>
          </p:cNvPr>
          <p:cNvSpPr txBox="1"/>
          <p:nvPr/>
        </p:nvSpPr>
        <p:spPr>
          <a:xfrm>
            <a:off x="6845361" y="2396410"/>
            <a:ext cx="4863921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ko-Kore-KR"/>
            </a:defPPr>
            <a:lvl1pPr>
              <a:buNone/>
              <a:defRPr sz="1400">
                <a:effectLst/>
                <a:latin typeface="Paperlogy 4 Regular" pitchFamily="2" charset="-127"/>
                <a:ea typeface="Paperlogy 4 Regular" pitchFamily="2" charset="-127"/>
              </a:defRPr>
            </a:lvl1pPr>
          </a:lstStyle>
          <a:p>
            <a:r>
              <a:rPr lang="en" altLang="ko-Kore-KR" dirty="0"/>
              <a:t>rules:</a:t>
            </a:r>
          </a:p>
          <a:p>
            <a:r>
              <a:rPr lang="en" altLang="ko-Kore-KR" dirty="0"/>
              <a:t>  - id: LEA-002</a:t>
            </a:r>
          </a:p>
          <a:p>
            <a:r>
              <a:rPr lang="en" altLang="ko-Kore-KR" dirty="0"/>
              <a:t>    category: algorithm</a:t>
            </a:r>
          </a:p>
          <a:p>
            <a:r>
              <a:rPr lang="en" altLang="ko-Kore-KR" dirty="0"/>
              <a:t>    algorithm: LEA</a:t>
            </a:r>
          </a:p>
          <a:p>
            <a:r>
              <a:rPr lang="en" altLang="ko-Kore-KR" dirty="0"/>
              <a:t>    name: "</a:t>
            </a:r>
            <a:r>
              <a:rPr lang="ko-KR" altLang="en-US" dirty="0"/>
              <a:t>표준 상수 </a:t>
            </a:r>
            <a:r>
              <a:rPr lang="en" altLang="ko-Kore-KR" dirty="0"/>
              <a:t>delta[0] </a:t>
            </a:r>
            <a:r>
              <a:rPr lang="ko-KR" altLang="en-US" dirty="0"/>
              <a:t>사용 확인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    </a:t>
            </a:r>
            <a:r>
              <a:rPr lang="en" altLang="ko-Kore-KR" dirty="0"/>
              <a:t>description: "</a:t>
            </a:r>
            <a:r>
              <a:rPr lang="ko-KR" altLang="en-US" dirty="0"/>
              <a:t>키 스케줄 함수 내부에서 표준 상수 </a:t>
            </a:r>
            <a:r>
              <a:rPr lang="en-US" altLang="ko-KR" dirty="0"/>
              <a:t>0</a:t>
            </a:r>
            <a:r>
              <a:rPr lang="en" altLang="ko-Kore-KR" dirty="0"/>
              <a:t>xc3efe9db</a:t>
            </a:r>
            <a:r>
              <a:rPr lang="ko-KR" altLang="en-US" dirty="0"/>
              <a:t>가 정상적으로 사용되는지 검사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    </a:t>
            </a:r>
            <a:r>
              <a:rPr lang="en" altLang="ko-Kore-KR" dirty="0" err="1"/>
              <a:t>pattern_type</a:t>
            </a:r>
            <a:r>
              <a:rPr lang="en" altLang="ko-Kore-KR" dirty="0"/>
              <a:t>: ”missing"</a:t>
            </a:r>
          </a:p>
          <a:p>
            <a:r>
              <a:rPr lang="en" altLang="ko-Kore-KR" dirty="0"/>
              <a:t>    pattern: "0xc3efe9db"</a:t>
            </a:r>
          </a:p>
          <a:p>
            <a:r>
              <a:rPr lang="en" altLang="ko-Kore-KR" dirty="0"/>
              <a:t>    severity: medium</a:t>
            </a:r>
          </a:p>
          <a:p>
            <a:r>
              <a:rPr lang="en" altLang="ko-Kore-KR" dirty="0"/>
              <a:t>    </a:t>
            </a:r>
            <a:r>
              <a:rPr lang="en" altLang="ko-Kore-KR" dirty="0" err="1"/>
              <a:t>kcmvp_ref</a:t>
            </a:r>
            <a:r>
              <a:rPr lang="en" altLang="ko-Kore-KR" dirty="0"/>
              <a:t>: "LEA </a:t>
            </a:r>
            <a:r>
              <a:rPr lang="ko-KR" altLang="en-US" dirty="0"/>
              <a:t>표준 </a:t>
            </a:r>
            <a:r>
              <a:rPr lang="en-US" altLang="ko-KR" dirty="0"/>
              <a:t>§5.2.2”</a:t>
            </a:r>
          </a:p>
          <a:p>
            <a:endParaRPr lang="en-US" altLang="ko-Kore-KR" dirty="0"/>
          </a:p>
          <a:p>
            <a:r>
              <a:rPr lang="en-US" altLang="ko-KR" dirty="0"/>
              <a:t>+</a:t>
            </a:r>
            <a:r>
              <a:rPr lang="ko-KR" altLang="en-US" dirty="0"/>
              <a:t> 추가적으로 </a:t>
            </a:r>
            <a:r>
              <a:rPr lang="en-US" altLang="ko-KR" dirty="0"/>
              <a:t>pattern</a:t>
            </a:r>
            <a:r>
              <a:rPr lang="ko-KR" altLang="en-US" dirty="0"/>
              <a:t>에는 </a:t>
            </a:r>
            <a:r>
              <a:rPr lang="en-US" altLang="ko-KR" dirty="0"/>
              <a:t>and </a:t>
            </a:r>
            <a:r>
              <a:rPr lang="ko-KR" altLang="en-US" dirty="0" err="1"/>
              <a:t>연산자같은</a:t>
            </a:r>
            <a:r>
              <a:rPr lang="ko-KR" altLang="en-US" dirty="0"/>
              <a:t> 게 없어서</a:t>
            </a:r>
            <a:r>
              <a:rPr lang="en-US" altLang="ko-KR" dirty="0"/>
              <a:t>,</a:t>
            </a:r>
            <a:r>
              <a:rPr lang="ko-KR" altLang="en-US" dirty="0"/>
              <a:t> 저 모든 상수들을 확인해서 확실히 하고 싶다면 룰을 </a:t>
            </a:r>
            <a:r>
              <a:rPr lang="en-US" altLang="ko-KR" dirty="0"/>
              <a:t>8</a:t>
            </a:r>
            <a:r>
              <a:rPr lang="ko-KR" altLang="en-US" dirty="0"/>
              <a:t>개 만들어서 하는 방법으로 진행할 수 있음 </a:t>
            </a:r>
            <a:r>
              <a:rPr lang="en-US" altLang="ko-KR" dirty="0"/>
              <a:t>(</a:t>
            </a:r>
            <a:r>
              <a:rPr lang="ko-KR" altLang="en-US" dirty="0"/>
              <a:t>각각의 룰에 패턴을 적는 방식으로</a:t>
            </a:r>
            <a:r>
              <a:rPr lang="en-US" altLang="ko-KR" dirty="0"/>
              <a:t>…)</a:t>
            </a:r>
            <a:r>
              <a:rPr lang="ko-KR" altLang="en-US" dirty="0"/>
              <a:t> </a:t>
            </a:r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954322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5EB03B-0972-978A-F6B5-BC023BB7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LEA </a:t>
            </a:r>
            <a:r>
              <a:rPr kumimoji="1" lang="ko-Kore-KR" altLang="en-US" dirty="0"/>
              <a:t>룰셋</a:t>
            </a:r>
            <a:r>
              <a:rPr kumimoji="1" lang="ko-KR" altLang="en-US" dirty="0"/>
              <a:t> 가이드라인 예시 </a:t>
            </a:r>
            <a:r>
              <a:rPr kumimoji="1" lang="en-US" altLang="ko-KR" dirty="0"/>
              <a:t>3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39B426-9ACD-173D-6380-A96EC229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ore-KR" altLang="en-US" dirty="0"/>
              <a:t>숫자로만</a:t>
            </a:r>
            <a:r>
              <a:rPr kumimoji="1" lang="ko-KR" altLang="en-US" dirty="0"/>
              <a:t> 특정하기 어려운 숫자이므로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ast</a:t>
            </a:r>
            <a:r>
              <a:rPr kumimoji="1" lang="ko-KR" altLang="en-US" dirty="0"/>
              <a:t>구조를 통해서 원하는 함수나 벡터 안에 </a:t>
            </a:r>
            <a:r>
              <a:rPr kumimoji="1" lang="ko-KR" altLang="en-US" dirty="0" err="1"/>
              <a:t>들어가있는지</a:t>
            </a:r>
            <a:r>
              <a:rPr kumimoji="1" lang="ko-KR" altLang="en-US" dirty="0"/>
              <a:t> 판단해야 함</a:t>
            </a:r>
            <a:r>
              <a:rPr kumimoji="1" lang="en-US" altLang="ko-KR" dirty="0"/>
              <a:t>.</a:t>
            </a:r>
          </a:p>
          <a:p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62E9D1-098D-73A3-E656-9CDECD0F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08124A-9E79-469F-4009-27CAC3AFB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29</a:t>
            </a:fld>
            <a:endParaRPr kumimoji="1"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CC91D4-A0EA-DFC7-250F-B3B2FB10A953}"/>
              </a:ext>
            </a:extLst>
          </p:cNvPr>
          <p:cNvSpPr txBox="1"/>
          <p:nvPr/>
        </p:nvSpPr>
        <p:spPr>
          <a:xfrm>
            <a:off x="5380149" y="2896503"/>
            <a:ext cx="6098146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ko-Kore-KR"/>
            </a:defPPr>
            <a:lvl1pPr>
              <a:buNone/>
              <a:defRPr sz="1400">
                <a:effectLst/>
                <a:latin typeface="Paperlogy 4 Regular" pitchFamily="2" charset="-127"/>
                <a:ea typeface="Paperlogy 4 Regular" pitchFamily="2" charset="-127"/>
              </a:defRPr>
            </a:lvl1pPr>
          </a:lstStyle>
          <a:p>
            <a:r>
              <a:rPr lang="ko-Kore-KR" altLang="en-US" dirty="0"/>
              <a:t>rules:</a:t>
            </a:r>
          </a:p>
          <a:p>
            <a:r>
              <a:rPr lang="ko-Kore-KR" altLang="en-US" dirty="0"/>
              <a:t>  - id: CBC-C-002</a:t>
            </a:r>
          </a:p>
          <a:p>
            <a:r>
              <a:rPr lang="ko-Kore-KR" altLang="en-US" dirty="0"/>
              <a:t>    category: mode</a:t>
            </a:r>
          </a:p>
          <a:p>
            <a:r>
              <a:rPr lang="ko-Kore-KR" altLang="en-US" dirty="0"/>
              <a:t>    mode: CBC</a:t>
            </a:r>
          </a:p>
          <a:p>
            <a:r>
              <a:rPr lang="ko-Kore-KR" altLang="en-US" dirty="0"/>
              <a:t>    name: "IV 배열 크기 고정 검사"</a:t>
            </a:r>
          </a:p>
          <a:p>
            <a:r>
              <a:rPr lang="ko-Kore-KR" altLang="en-US" dirty="0"/>
              <a:t>    description: "CBC 모드에서 사용되는 IV는 반드시 16바이트 크기의 배열로 선언되어야 함"</a:t>
            </a:r>
          </a:p>
          <a:p>
            <a:r>
              <a:rPr lang="ko-Kore-KR" altLang="en-US" dirty="0"/>
              <a:t>    pattern_type: "ast"</a:t>
            </a:r>
          </a:p>
          <a:p>
            <a:r>
              <a:rPr lang="ko-Kore-KR" altLang="en-US" dirty="0"/>
              <a:t>    severity: high</a:t>
            </a:r>
          </a:p>
          <a:p>
            <a:r>
              <a:rPr lang="ko-Kore-KR" altLang="en-US" dirty="0"/>
              <a:t>    kcmvp_ref: "매뉴얼 §4.3.4"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6EC37AD-AF61-28DF-507C-31CE0CACB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93" y="2653047"/>
            <a:ext cx="5043161" cy="332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55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48A4A-53E9-B27A-394E-CEE2B872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설계서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룰셋</a:t>
            </a:r>
            <a:r>
              <a:rPr kumimoji="1" lang="ko-KR" altLang="en-US" dirty="0"/>
              <a:t> 가이드라인 예시 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34A0ED-4D6B-3337-4A33-0FA12A12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952429-ED8D-0676-082C-0C8964099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30</a:t>
            </a:fld>
            <a:endParaRPr kumimoji="1" lang="ko-Kore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5AC8D89-F21F-93F6-5807-1E1B924C5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078" y="1387736"/>
            <a:ext cx="4352120" cy="4789227"/>
          </a:xfrm>
        </p:spPr>
        <p:txBody>
          <a:bodyPr/>
          <a:lstStyle/>
          <a:p>
            <a:r>
              <a:rPr lang="ko-Kore-KR" altLang="en-US" dirty="0"/>
              <a:t>반드시</a:t>
            </a:r>
            <a:r>
              <a:rPr lang="ko-KR" altLang="en-US" dirty="0"/>
              <a:t> 인가되지 않은 </a:t>
            </a:r>
            <a:r>
              <a:rPr lang="en-US" altLang="ko-KR" dirty="0"/>
              <a:t>CSP</a:t>
            </a:r>
            <a:r>
              <a:rPr lang="ko-Kore-KR" altLang="en-US" dirty="0"/>
              <a:t>에</a:t>
            </a:r>
            <a:r>
              <a:rPr lang="ko-KR" altLang="en-US" dirty="0"/>
              <a:t> 대한 보호방법 명세가 필요하다고 하였으므로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CSP</a:t>
            </a:r>
            <a:r>
              <a:rPr lang="ko-KR" altLang="en-US" dirty="0"/>
              <a:t>키워드 포함 </a:t>
            </a:r>
            <a:r>
              <a:rPr lang="en-US" altLang="ko-KR" dirty="0"/>
              <a:t>+</a:t>
            </a:r>
            <a:r>
              <a:rPr lang="ko-KR" altLang="en-US" dirty="0"/>
              <a:t> 주위 맥락 혹은 내용을 살펴서 이 부분이 보호방법 명세인지 확인이 필요함 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349FD6-C689-19E5-1BB3-72064F68FFD1}"/>
              </a:ext>
            </a:extLst>
          </p:cNvPr>
          <p:cNvSpPr txBox="1"/>
          <p:nvPr/>
        </p:nvSpPr>
        <p:spPr>
          <a:xfrm>
            <a:off x="5255654" y="3499307"/>
            <a:ext cx="6098146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ko-Kore-KR"/>
            </a:defPPr>
            <a:lvl1pPr>
              <a:buNone/>
              <a:defRPr sz="1400">
                <a:effectLst/>
                <a:latin typeface="Paperlogy 4 Regular" pitchFamily="2" charset="-127"/>
                <a:ea typeface="Paperlogy 4 Regular" pitchFamily="2" charset="-127"/>
              </a:defRPr>
            </a:lvl1pPr>
          </a:lstStyle>
          <a:p>
            <a:r>
              <a:rPr lang="en" altLang="ko-Kore-KR" dirty="0"/>
              <a:t>- id: DOC-011</a:t>
            </a:r>
          </a:p>
          <a:p>
            <a:r>
              <a:rPr lang="en" altLang="ko-Kore-KR" dirty="0"/>
              <a:t>  </a:t>
            </a:r>
            <a:r>
              <a:rPr lang="en" altLang="ko-Kore-KR" dirty="0" err="1"/>
              <a:t>doc_type</a:t>
            </a:r>
            <a:r>
              <a:rPr lang="en" altLang="ko-Kore-KR" dirty="0"/>
              <a:t>: design</a:t>
            </a:r>
          </a:p>
          <a:p>
            <a:r>
              <a:rPr lang="en" altLang="ko-Kore-KR" dirty="0"/>
              <a:t>  name: ”</a:t>
            </a:r>
            <a:r>
              <a:rPr lang="en-US" altLang="ko-Kore-KR" dirty="0"/>
              <a:t>CSP</a:t>
            </a:r>
            <a:r>
              <a:rPr lang="ko-KR" altLang="en-US" dirty="0" err="1"/>
              <a:t>에</a:t>
            </a:r>
            <a:r>
              <a:rPr lang="ko-KR" altLang="en-US" dirty="0"/>
              <a:t> 대한 보호방법 명세 필요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  </a:t>
            </a:r>
            <a:r>
              <a:rPr lang="en" altLang="ko-Kore-KR" dirty="0"/>
              <a:t>description: ＂</a:t>
            </a:r>
            <a:r>
              <a:rPr lang="ko-KR" altLang="en-US" dirty="0"/>
              <a:t>암호 모듈 내에서 인가되지 않은 접근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…</a:t>
            </a:r>
            <a:r>
              <a:rPr lang="ko-KR" altLang="en-US" dirty="0"/>
              <a:t>로부터 모든 </a:t>
            </a:r>
            <a:r>
              <a:rPr lang="en-US" altLang="ko-KR" dirty="0"/>
              <a:t>CSP</a:t>
            </a:r>
            <a:r>
              <a:rPr lang="ko-KR" altLang="en-US" dirty="0" err="1"/>
              <a:t>에</a:t>
            </a:r>
            <a:r>
              <a:rPr lang="ko-KR" altLang="en-US" dirty="0"/>
              <a:t> 대한 보호 방법 명세가 필요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  </a:t>
            </a:r>
            <a:r>
              <a:rPr lang="en" altLang="ko-Kore-KR" dirty="0" err="1"/>
              <a:t>pattern_type</a:t>
            </a:r>
            <a:r>
              <a:rPr lang="en" altLang="ko-Kore-KR" dirty="0"/>
              <a:t>: ”</a:t>
            </a:r>
            <a:r>
              <a:rPr lang="en-US" altLang="ko-Kore-KR" dirty="0"/>
              <a:t>semantic</a:t>
            </a:r>
            <a:r>
              <a:rPr lang="en" altLang="ko-Kore-KR" dirty="0"/>
              <a:t>"</a:t>
            </a:r>
          </a:p>
          <a:p>
            <a:r>
              <a:rPr lang="en" altLang="ko-Kore-KR" dirty="0"/>
              <a:t>  pattern: ”CSP | ~…"</a:t>
            </a:r>
          </a:p>
          <a:p>
            <a:r>
              <a:rPr lang="en" altLang="ko-Kore-KR" dirty="0"/>
              <a:t>  severity: medium</a:t>
            </a:r>
          </a:p>
          <a:p>
            <a:r>
              <a:rPr lang="en" altLang="ko-Kore-KR" dirty="0"/>
              <a:t>  kcmvp_ref:”2025 </a:t>
            </a:r>
            <a:r>
              <a:rPr lang="ko-KR" altLang="en-US" dirty="0"/>
              <a:t>최신 </a:t>
            </a:r>
            <a:r>
              <a:rPr lang="ko-KR" altLang="en-US" dirty="0" err="1"/>
              <a:t>암호모듈</a:t>
            </a:r>
            <a:r>
              <a:rPr lang="ko-KR" altLang="en-US" dirty="0"/>
              <a:t> 제출 안내서 </a:t>
            </a:r>
            <a:r>
              <a:rPr lang="en-US" altLang="ko-KR" dirty="0"/>
              <a:t>AS09.01</a:t>
            </a:r>
            <a:r>
              <a:rPr lang="ko-KR" altLang="en-US" dirty="0"/>
              <a:t>의  </a:t>
            </a:r>
            <a:r>
              <a:rPr lang="ko-KR" altLang="en-US" dirty="0" err="1"/>
              <a:t>암호모듈</a:t>
            </a:r>
            <a:r>
              <a:rPr lang="ko-KR" altLang="en-US" dirty="0"/>
              <a:t> 내의 </a:t>
            </a:r>
            <a:r>
              <a:rPr lang="en-US" altLang="ko-KR" dirty="0"/>
              <a:t>CSP</a:t>
            </a:r>
            <a:r>
              <a:rPr lang="ko-KR" altLang="en-US" dirty="0" err="1"/>
              <a:t>에</a:t>
            </a:r>
            <a:r>
              <a:rPr lang="ko-KR" altLang="en-US" dirty="0"/>
              <a:t> 대한 보호</a:t>
            </a:r>
            <a:r>
              <a:rPr lang="en" altLang="ko-Kore-KR" dirty="0"/>
              <a:t>"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E8BFAAF-EFA3-F81D-AAE8-8DDB38D95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198" y="1387736"/>
            <a:ext cx="6098146" cy="175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037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D2C258-ACC3-D0A8-4420-DBC053B54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설계서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룰셋</a:t>
            </a:r>
            <a:r>
              <a:rPr kumimoji="1" lang="ko-KR" altLang="en-US" dirty="0"/>
              <a:t> 가이드라인 예시</a:t>
            </a:r>
            <a:r>
              <a:rPr kumimoji="1" lang="en-US" altLang="ko-KR" dirty="0"/>
              <a:t>2</a:t>
            </a:r>
            <a:r>
              <a:rPr kumimoji="1" lang="ko-KR" altLang="en-US" dirty="0"/>
              <a:t>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4890AB-62CD-D9EA-081C-45EF6653F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4EACE2-61CB-B23A-B8D0-AE062631A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C38D27-87D1-7D6B-8586-103AA62B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31</a:t>
            </a:fld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20CEF84-4827-E0A2-4127-47F0E857D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86086"/>
            <a:ext cx="5936110" cy="41925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931C1A-23B1-4A24-5610-B9B169699E8A}"/>
              </a:ext>
            </a:extLst>
          </p:cNvPr>
          <p:cNvSpPr txBox="1"/>
          <p:nvPr/>
        </p:nvSpPr>
        <p:spPr>
          <a:xfrm>
            <a:off x="6751750" y="1840633"/>
            <a:ext cx="4602050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ko-Kore-KR"/>
            </a:defPPr>
            <a:lvl1pPr>
              <a:buNone/>
              <a:defRPr sz="1400">
                <a:effectLst/>
                <a:latin typeface="Paperlogy 4 Regular" pitchFamily="2" charset="-127"/>
                <a:ea typeface="Paperlogy 4 Regular" pitchFamily="2" charset="-127"/>
              </a:defRPr>
            </a:lvl1pPr>
          </a:lstStyle>
          <a:p>
            <a:r>
              <a:rPr lang="ko-Kore-KR" altLang="en-US" dirty="0"/>
              <a:t>- id: DOC-030</a:t>
            </a:r>
          </a:p>
          <a:p>
            <a:r>
              <a:rPr lang="ko-Kore-KR" altLang="en-US" dirty="0"/>
              <a:t>  doc_type: design</a:t>
            </a:r>
          </a:p>
          <a:p>
            <a:r>
              <a:rPr lang="ko-Kore-KR" altLang="en-US" dirty="0"/>
              <a:t>  name: "동작모드·서비스 간 CSP 독립적 분리 요구사항"</a:t>
            </a:r>
          </a:p>
          <a:p>
            <a:r>
              <a:rPr lang="ko-Kore-KR" altLang="en-US" dirty="0"/>
              <a:t>  description: "설계서에 동작모드 간·서비스 간 CSP에 대한 독립적 분리가 필요하다는 보안요구사항 개요가 포함되어야 함 (AS02.22)"</a:t>
            </a:r>
          </a:p>
          <a:p>
            <a:r>
              <a:rPr lang="ko-Kore-KR" altLang="en-US" dirty="0"/>
              <a:t>  pattern_type: "missing"</a:t>
            </a:r>
          </a:p>
          <a:p>
            <a:r>
              <a:rPr lang="ko-Kore-KR" altLang="en-US" dirty="0"/>
              <a:t>  pattern: "동작모드.*CSP|서비스.*CSP|CSP.*독립|CSP.*분리"</a:t>
            </a:r>
          </a:p>
          <a:p>
            <a:r>
              <a:rPr lang="ko-Kore-KR" altLang="en-US" dirty="0"/>
              <a:t>  severity: high</a:t>
            </a:r>
          </a:p>
          <a:p>
            <a:r>
              <a:rPr lang="ko-Kore-KR" altLang="en-US" dirty="0"/>
              <a:t>  kcmvp_ref: "2025 최신 암호모듈 제출물 작성 안내서 AS02.22 - 보안요구사항 개요”</a:t>
            </a:r>
            <a:endParaRPr lang="en-US" altLang="ko-Kore-KR" dirty="0"/>
          </a:p>
          <a:p>
            <a:endParaRPr lang="en-US" altLang="ko-Kore-KR" dirty="0"/>
          </a:p>
          <a:p>
            <a:r>
              <a:rPr lang="en-US" altLang="ko-Kore-KR" dirty="0">
                <a:sym typeface="Wingdings" pitchFamily="2" charset="2"/>
              </a:rPr>
              <a:t></a:t>
            </a:r>
            <a:r>
              <a:rPr lang="ko-Kore-KR" altLang="en-US" dirty="0">
                <a:sym typeface="Wingdings" pitchFamily="2" charset="2"/>
              </a:rPr>
              <a:t> 단어가</a:t>
            </a:r>
            <a:r>
              <a:rPr lang="ko-KR" altLang="en-US" dirty="0">
                <a:sym typeface="Wingdings" pitchFamily="2" charset="2"/>
              </a:rPr>
              <a:t> 확정이 될 수 있을 것 같은 단어라 </a:t>
            </a:r>
            <a:r>
              <a:rPr lang="en-US" altLang="ko-KR" dirty="0">
                <a:sym typeface="Wingdings" pitchFamily="2" charset="2"/>
              </a:rPr>
              <a:t>missing</a:t>
            </a:r>
            <a:r>
              <a:rPr lang="ko-KR" altLang="en-US" dirty="0" err="1">
                <a:sym typeface="Wingdings" pitchFamily="2" charset="2"/>
              </a:rPr>
              <a:t>으로</a:t>
            </a:r>
            <a:r>
              <a:rPr lang="ko-KR" altLang="en-US" dirty="0">
                <a:sym typeface="Wingdings" pitchFamily="2" charset="2"/>
              </a:rPr>
              <a:t> 하긴 했는데</a:t>
            </a:r>
            <a:r>
              <a:rPr lang="en-US" altLang="ko-KR" dirty="0">
                <a:sym typeface="Wingdings" pitchFamily="2" charset="2"/>
              </a:rPr>
              <a:t>,</a:t>
            </a:r>
            <a:r>
              <a:rPr lang="ko-KR" altLang="en-US" dirty="0">
                <a:sym typeface="Wingdings" pitchFamily="2" charset="2"/>
              </a:rPr>
              <a:t> 확실하게 하려면 </a:t>
            </a:r>
            <a:r>
              <a:rPr lang="en-US" altLang="ko-KR" dirty="0">
                <a:sym typeface="Wingdings" pitchFamily="2" charset="2"/>
              </a:rPr>
              <a:t>semantic</a:t>
            </a:r>
            <a:r>
              <a:rPr lang="ko-KR" altLang="en-US" dirty="0">
                <a:sym typeface="Wingdings" pitchFamily="2" charset="2"/>
              </a:rPr>
              <a:t>이나 </a:t>
            </a:r>
            <a:r>
              <a:rPr lang="en-US" altLang="ko-KR" dirty="0" err="1">
                <a:sym typeface="Wingdings" pitchFamily="2" charset="2"/>
              </a:rPr>
              <a:t>ast</a:t>
            </a:r>
            <a:r>
              <a:rPr lang="ko-KR" altLang="en-US" dirty="0">
                <a:sym typeface="Wingdings" pitchFamily="2" charset="2"/>
              </a:rPr>
              <a:t>도 괜찮음</a:t>
            </a:r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9566441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3601F-5014-E84C-E246-2D17CB018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설계서</a:t>
            </a:r>
            <a:r>
              <a:rPr kumimoji="1" lang="ko-KR" altLang="en-US" dirty="0"/>
              <a:t> 가이드라인 도움이 될만한</a:t>
            </a:r>
            <a:r>
              <a:rPr kumimoji="1" lang="en-US" altLang="ko-KR" dirty="0"/>
              <a:t>…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F55A67-D649-0C42-88D9-674567B09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b="1" dirty="0"/>
              <a:t>GOOGLE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–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NOTEBOOK LM</a:t>
            </a:r>
          </a:p>
          <a:p>
            <a:pPr lvl="1"/>
            <a:r>
              <a:rPr kumimoji="1" lang="ko-KR" altLang="en-US" dirty="0"/>
              <a:t>설계서나 알고리즘 규격서 같은 경우에는 길어서 다 못 읽고</a:t>
            </a:r>
            <a:endParaRPr kumimoji="1" lang="en-US" altLang="ko-KR" dirty="0"/>
          </a:p>
          <a:p>
            <a:pPr lvl="1"/>
            <a:r>
              <a:rPr kumimoji="1" lang="ko-KR" altLang="en-US" dirty="0" err="1"/>
              <a:t>룰셋도</a:t>
            </a:r>
            <a:r>
              <a:rPr kumimoji="1" lang="ko-KR" altLang="en-US" dirty="0"/>
              <a:t> 설계해달라고 하니까 좀 이상하게 설계해주는 경우가 많았음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NOTEBOOK LM</a:t>
            </a:r>
            <a:r>
              <a:rPr kumimoji="1" lang="ko-KR" altLang="en-US" dirty="0"/>
              <a:t>은 인식 범위도 좀 넓은 것 같고 </a:t>
            </a:r>
            <a:r>
              <a:rPr kumimoji="1" lang="en-US" altLang="ko-KR" dirty="0"/>
              <a:t>+</a:t>
            </a:r>
            <a:r>
              <a:rPr kumimoji="1" lang="ko-KR" altLang="en-US" dirty="0"/>
              <a:t> 설계서 관련 내용해서 공부하기도 좋은 것 같아서 추천합니다</a:t>
            </a:r>
            <a:endParaRPr kumimoji="1" lang="en-US" altLang="ko-KR" dirty="0"/>
          </a:p>
          <a:p>
            <a:pPr marL="457200" lvl="1" indent="0">
              <a:buNone/>
            </a:pP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762A09-18A5-0EB7-E14A-8FCC63185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7ED8F8-F661-B628-D1E2-E7D2FB0B8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32</a:t>
            </a:fld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7DCABF-813D-9BA4-E74B-DC2C2CE44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296" y="4044509"/>
            <a:ext cx="5819408" cy="142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903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51584-F66C-4521-6F6B-00B743EA8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Notebook LM 1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0C9C72-02F9-C27E-4096-00A09E44B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C4D33E-BA30-D898-B407-94B6820C0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BC6A1A-F054-ACC0-BA74-C268E3DA8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33</a:t>
            </a:fld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F8654A-0142-E3E6-D702-2359A3E9F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47888"/>
            <a:ext cx="10587304" cy="492907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2AB93EA-153A-1F6D-EB08-93456763B725}"/>
              </a:ext>
            </a:extLst>
          </p:cNvPr>
          <p:cNvSpPr/>
          <p:nvPr/>
        </p:nvSpPr>
        <p:spPr>
          <a:xfrm>
            <a:off x="10098157" y="2531165"/>
            <a:ext cx="1139686" cy="4373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02EC5E-7677-761B-DE4F-6346C64E589D}"/>
              </a:ext>
            </a:extLst>
          </p:cNvPr>
          <p:cNvSpPr/>
          <p:nvPr/>
        </p:nvSpPr>
        <p:spPr>
          <a:xfrm>
            <a:off x="838199" y="3354616"/>
            <a:ext cx="2580861" cy="124388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86155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B8904-5078-1035-F4FA-F4B3ACE0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Notebook LM 2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DAC8CB-47EC-4C7A-F916-B6FC9EB3F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39D201-402E-AA9C-7310-C40CAE1EB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00DF8A-1FEC-29E3-21E4-618EC75AA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34</a:t>
            </a:fld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FEF257-B161-8C72-2EEC-687F303EE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035" y="1304783"/>
            <a:ext cx="9081052" cy="496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43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22029-F243-5E62-7531-A30299014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마크다운</a:t>
            </a:r>
            <a:r>
              <a:rPr kumimoji="1" lang="ko-KR" altLang="en-US" dirty="0"/>
              <a:t> 뷰어</a:t>
            </a: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41AF99-13FE-C116-0ECD-BFCE985E1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DF33EC-085A-AAD0-3032-DAA5A674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35</a:t>
            </a:fld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8C4A79-28B4-46CB-C1A8-9019F3D2F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931" y="2821663"/>
            <a:ext cx="6944137" cy="3355300"/>
          </a:xfrm>
          <a:prstGeom prst="rect">
            <a:avLst/>
          </a:prstGeom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A1F408C-42A9-6DF1-9CCE-64EC79DC9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ore-KR" dirty="0"/>
              <a:t>IDE</a:t>
            </a:r>
            <a:r>
              <a:rPr lang="ko-KR" altLang="en-US" dirty="0"/>
              <a:t>에서 돋보기 모양 클릭</a:t>
            </a:r>
            <a:r>
              <a:rPr lang="en-US" altLang="ko-KR" dirty="0"/>
              <a:t>!!!!</a:t>
            </a:r>
            <a:endParaRPr lang="ko-Kore-KR" altLang="en-US" dirty="0"/>
          </a:p>
        </p:txBody>
      </p:sp>
      <p:pic>
        <p:nvPicPr>
          <p:cNvPr id="9" name="내용 개체 틀 5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A12133-5FA7-9443-45D7-C2C009ABF1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15"/>
          <a:stretch>
            <a:fillRect/>
          </a:stretch>
        </p:blipFill>
        <p:spPr>
          <a:xfrm>
            <a:off x="1802317" y="2171486"/>
            <a:ext cx="7765752" cy="436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535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63B43-012C-74B6-A037-86D95D467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진행사항</a:t>
            </a:r>
            <a:r>
              <a:rPr kumimoji="1" lang="ko-KR" altLang="en-US" dirty="0"/>
              <a:t>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11545A-F0E9-9AF3-495B-B1998734F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L2 AI </a:t>
            </a:r>
            <a:r>
              <a:rPr kumimoji="1" lang="ko-KR" altLang="en-US" dirty="0"/>
              <a:t>학습의 경우 데이터셋을 전부 다 학습시키는 것보다 </a:t>
            </a:r>
            <a:r>
              <a:rPr kumimoji="1" lang="en-US" altLang="ko-KR" dirty="0">
                <a:sym typeface="Wingdings" pitchFamily="2" charset="2"/>
              </a:rPr>
              <a:t></a:t>
            </a:r>
            <a:r>
              <a:rPr kumimoji="1" lang="ko-KR" altLang="en-US" dirty="0">
                <a:sym typeface="Wingdings" pitchFamily="2" charset="2"/>
              </a:rPr>
              <a:t> </a:t>
            </a:r>
            <a:r>
              <a:rPr kumimoji="1" lang="en-US" altLang="ko-KR" dirty="0">
                <a:sym typeface="Wingdings" pitchFamily="2" charset="2"/>
              </a:rPr>
              <a:t>L1 </a:t>
            </a:r>
            <a:r>
              <a:rPr kumimoji="1" lang="ko-KR" altLang="en-US" dirty="0" err="1">
                <a:sym typeface="Wingdings" pitchFamily="2" charset="2"/>
              </a:rPr>
              <a:t>룰셋</a:t>
            </a:r>
            <a:r>
              <a:rPr kumimoji="1" lang="ko-KR" altLang="en-US" dirty="0">
                <a:sym typeface="Wingdings" pitchFamily="2" charset="2"/>
              </a:rPr>
              <a:t> </a:t>
            </a:r>
            <a:r>
              <a:rPr kumimoji="1" lang="en-US" altLang="ko-KR" dirty="0">
                <a:sym typeface="Wingdings" pitchFamily="2" charset="2"/>
              </a:rPr>
              <a:t>semantic </a:t>
            </a:r>
            <a:r>
              <a:rPr kumimoji="1" lang="ko-KR" altLang="en-US" dirty="0">
                <a:sym typeface="Wingdings" pitchFamily="2" charset="2"/>
              </a:rPr>
              <a:t>기반으로 기준을 좁게 잡고 </a:t>
            </a:r>
            <a:r>
              <a:rPr kumimoji="1" lang="ko-KR" altLang="en-US" dirty="0" err="1">
                <a:sym typeface="Wingdings" pitchFamily="2" charset="2"/>
              </a:rPr>
              <a:t>오탐</a:t>
            </a:r>
            <a:r>
              <a:rPr kumimoji="1" lang="ko-KR" altLang="en-US" dirty="0">
                <a:sym typeface="Wingdings" pitchFamily="2" charset="2"/>
              </a:rPr>
              <a:t> 예시</a:t>
            </a:r>
            <a:r>
              <a:rPr kumimoji="1" lang="en-US" altLang="ko-KR" dirty="0">
                <a:sym typeface="Wingdings" pitchFamily="2" charset="2"/>
              </a:rPr>
              <a:t>(</a:t>
            </a:r>
            <a:r>
              <a:rPr kumimoji="1" lang="ko-KR" altLang="en-US" dirty="0">
                <a:sym typeface="Wingdings" pitchFamily="2" charset="2"/>
              </a:rPr>
              <a:t>실제로 문제가 아닌데 문제로 잡은 것</a:t>
            </a:r>
            <a:r>
              <a:rPr kumimoji="1" lang="en-US" altLang="ko-KR" dirty="0">
                <a:sym typeface="Wingdings" pitchFamily="2" charset="2"/>
              </a:rPr>
              <a:t>)</a:t>
            </a:r>
            <a:r>
              <a:rPr kumimoji="1" lang="ko-KR" altLang="en-US" dirty="0">
                <a:sym typeface="Wingdings" pitchFamily="2" charset="2"/>
              </a:rPr>
              <a:t> </a:t>
            </a:r>
            <a:r>
              <a:rPr kumimoji="1" lang="en-US" altLang="ko-KR" dirty="0">
                <a:sym typeface="Wingdings" pitchFamily="2" charset="2"/>
              </a:rPr>
              <a:t>&amp;</a:t>
            </a:r>
            <a:r>
              <a:rPr kumimoji="1" lang="ko-KR" altLang="en-US" dirty="0">
                <a:sym typeface="Wingdings" pitchFamily="2" charset="2"/>
              </a:rPr>
              <a:t> 실제 오류 예시 셋을 많이 하는 게 좋을 것 같음</a:t>
            </a:r>
            <a:endParaRPr kumimoji="1" lang="en-US" altLang="ko-KR" dirty="0">
              <a:sym typeface="Wingdings" pitchFamily="2" charset="2"/>
            </a:endParaRPr>
          </a:p>
          <a:p>
            <a:pPr marL="0" indent="0">
              <a:buNone/>
            </a:pPr>
            <a:endParaRPr kumimoji="1" lang="en-US" altLang="ko-Kore-KR" dirty="0">
              <a:sym typeface="Wingdings" pitchFamily="2" charset="2"/>
            </a:endParaRPr>
          </a:p>
          <a:p>
            <a:r>
              <a:rPr kumimoji="1" lang="ko-KR" altLang="en-US" dirty="0">
                <a:sym typeface="Wingdings" pitchFamily="2" charset="2"/>
              </a:rPr>
              <a:t>그래서 </a:t>
            </a:r>
            <a:r>
              <a:rPr kumimoji="1" lang="en-US" altLang="ko-KR" dirty="0">
                <a:sym typeface="Wingdings" pitchFamily="2" charset="2"/>
              </a:rPr>
              <a:t>L3 </a:t>
            </a:r>
            <a:r>
              <a:rPr kumimoji="1" lang="ko-KR" altLang="en-US" dirty="0">
                <a:sym typeface="Wingdings" pitchFamily="2" charset="2"/>
              </a:rPr>
              <a:t>데이터베이스 우선적으로 진행</a:t>
            </a:r>
            <a:endParaRPr kumimoji="1" lang="en-US" altLang="ko-KR" dirty="0">
              <a:sym typeface="Wingdings" pitchFamily="2" charset="2"/>
            </a:endParaRPr>
          </a:p>
          <a:p>
            <a:endParaRPr kumimoji="1" lang="en-US" altLang="ko-Kore-KR" dirty="0">
              <a:sym typeface="Wingdings" pitchFamily="2" charset="2"/>
            </a:endParaRPr>
          </a:p>
          <a:p>
            <a:r>
              <a:rPr kumimoji="1" lang="ko-KR" altLang="en-US" dirty="0">
                <a:sym typeface="Wingdings" pitchFamily="2" charset="2"/>
              </a:rPr>
              <a:t>문서 추출 </a:t>
            </a:r>
            <a:r>
              <a:rPr kumimoji="1" lang="en-US" altLang="ko-KR" dirty="0">
                <a:sym typeface="Wingdings" pitchFamily="2" charset="2"/>
              </a:rPr>
              <a:t>AI :</a:t>
            </a:r>
          </a:p>
          <a:p>
            <a:pPr lvl="1"/>
            <a:r>
              <a:rPr kumimoji="1" lang="en-US" altLang="ko-KR" dirty="0">
                <a:sym typeface="Wingdings" pitchFamily="2" charset="2"/>
              </a:rPr>
              <a:t> </a:t>
            </a:r>
            <a:r>
              <a:rPr kumimoji="1" lang="en-US" altLang="ko-KR" dirty="0">
                <a:sym typeface="Wingdings" pitchFamily="2" charset="2"/>
                <a:hlinkClick r:id="rId2"/>
              </a:rPr>
              <a:t>https://cloud.google.com/document-ai</a:t>
            </a:r>
            <a:endParaRPr kumimoji="1" lang="en-US" altLang="ko-KR" dirty="0">
              <a:sym typeface="Wingdings" pitchFamily="2" charset="2"/>
            </a:endParaRPr>
          </a:p>
          <a:p>
            <a:pPr lvl="1"/>
            <a:r>
              <a:rPr kumimoji="1" lang="en-US" altLang="ko-KR" dirty="0">
                <a:sym typeface="Wingdings" pitchFamily="2" charset="2"/>
                <a:hlinkClick r:id="rId3"/>
              </a:rPr>
              <a:t>https://www.lomin.ai/</a:t>
            </a:r>
            <a:r>
              <a:rPr kumimoji="1" lang="en-US" altLang="ko-KR" dirty="0">
                <a:sym typeface="Wingdings" pitchFamily="2" charset="2"/>
              </a:rPr>
              <a:t> 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6FDBC2-0855-6955-0234-C45A79EF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991505-A6E9-D6D1-C387-61303841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36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545480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95469-A0FC-CD3B-3C4D-B64C7E4F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L3 </a:t>
            </a:r>
            <a:r>
              <a:rPr kumimoji="1" lang="ko-Kore-KR" altLang="en-US" dirty="0"/>
              <a:t>데이터베이스</a:t>
            </a:r>
            <a:r>
              <a:rPr kumimoji="1" lang="ko-KR" altLang="en-US" dirty="0"/>
              <a:t> 설계 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F436F3-CBA4-D36E-3FDF-6C6E2887C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ore-KR" altLang="en-US" b="1" dirty="0"/>
              <a:t>구분자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섹션 카테고리</a:t>
            </a:r>
            <a:r>
              <a:rPr kumimoji="1" lang="en-US" altLang="ko-KR" b="1" dirty="0"/>
              <a:t>,</a:t>
            </a:r>
            <a:r>
              <a:rPr kumimoji="1" lang="ko-KR" altLang="en-US" b="1" dirty="0"/>
              <a:t> 섹션 이름</a:t>
            </a:r>
            <a:r>
              <a:rPr kumimoji="1" lang="en-US" altLang="ko-KR" b="1" dirty="0"/>
              <a:t>,</a:t>
            </a:r>
            <a:r>
              <a:rPr kumimoji="1" lang="ko-KR" altLang="en-US" b="1" dirty="0"/>
              <a:t> 요구사항 번호 포함</a:t>
            </a:r>
            <a:r>
              <a:rPr kumimoji="1" lang="en-US" altLang="ko-KR" b="1" dirty="0"/>
              <a:t>)</a:t>
            </a:r>
          </a:p>
          <a:p>
            <a:endParaRPr kumimoji="1" lang="en-US" altLang="ko-KR" b="1" dirty="0"/>
          </a:p>
          <a:p>
            <a:endParaRPr kumimoji="1" lang="en-US" altLang="ko-KR" b="1" dirty="0"/>
          </a:p>
          <a:p>
            <a:endParaRPr kumimoji="1" lang="en-US" altLang="ko-KR" b="1" dirty="0"/>
          </a:p>
          <a:p>
            <a:r>
              <a:rPr kumimoji="1" lang="ko-KR" altLang="en-US" b="1" dirty="0"/>
              <a:t>보안 요구사항 개요 및 상세 요구사항 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문서에 있는 내용 요약</a:t>
            </a:r>
            <a:r>
              <a:rPr kumimoji="1" lang="en-US" altLang="ko-KR" b="1" dirty="0"/>
              <a:t>)</a:t>
            </a:r>
            <a:r>
              <a:rPr kumimoji="1" lang="ko-KR" altLang="en-US" b="1" dirty="0"/>
              <a:t> </a:t>
            </a:r>
            <a:endParaRPr kumimoji="1" lang="ko-Kore-KR" altLang="en-US" b="1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FD100B-97ED-9727-389E-5855967F1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F8BF54-A1A1-5230-2490-D41A7F07D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37</a:t>
            </a:fld>
            <a:endParaRPr kumimoji="1"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80A00-3A2A-FCA9-CA03-9592631BDC23}"/>
              </a:ext>
            </a:extLst>
          </p:cNvPr>
          <p:cNvSpPr txBox="1"/>
          <p:nvPr/>
        </p:nvSpPr>
        <p:spPr>
          <a:xfrm>
            <a:off x="990600" y="1951672"/>
            <a:ext cx="9412356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ore-KR" b="0" dirty="0">
                <a:effectLst/>
                <a:latin typeface="Paperlogy 4 Regular" pitchFamily="2" charset="-127"/>
                <a:ea typeface="Paperlogy 4 Regular" pitchFamily="2" charset="-127"/>
              </a:rPr>
              <a:t>---</a:t>
            </a:r>
          </a:p>
          <a:p>
            <a:pPr>
              <a:buNone/>
            </a:pPr>
            <a:r>
              <a:rPr lang="en" altLang="ko-Kore-KR" b="0" dirty="0">
                <a:effectLst/>
                <a:latin typeface="Paperlogy 4 Regular" pitchFamily="2" charset="-127"/>
                <a:ea typeface="Paperlogy 4 Regular" pitchFamily="2" charset="-127"/>
              </a:rPr>
              <a:t>category: "</a:t>
            </a:r>
            <a:r>
              <a:rPr lang="ko-KR" altLang="en-US" b="0" dirty="0" err="1">
                <a:effectLst/>
                <a:latin typeface="Paperlogy 4 Regular" pitchFamily="2" charset="-127"/>
                <a:ea typeface="Paperlogy 4 Regular" pitchFamily="2" charset="-127"/>
              </a:rPr>
              <a:t>암호모듈경계</a:t>
            </a:r>
            <a:r>
              <a:rPr lang="en-US" altLang="ko-KR" b="0" dirty="0">
                <a:effectLst/>
                <a:latin typeface="Paperlogy 4 Regular" pitchFamily="2" charset="-127"/>
                <a:ea typeface="Paperlogy 4 Regular" pitchFamily="2" charset="-127"/>
              </a:rPr>
              <a:t>"</a:t>
            </a:r>
          </a:p>
          <a:p>
            <a:pPr>
              <a:buNone/>
            </a:pPr>
            <a:r>
              <a:rPr lang="en" altLang="ko-Kore-KR" b="0" dirty="0" err="1">
                <a:effectLst/>
                <a:latin typeface="Paperlogy 4 Regular" pitchFamily="2" charset="-127"/>
                <a:ea typeface="Paperlogy 4 Regular" pitchFamily="2" charset="-127"/>
              </a:rPr>
              <a:t>item_id</a:t>
            </a:r>
            <a:r>
              <a:rPr lang="en" altLang="ko-Kore-KR" b="0" dirty="0">
                <a:effectLst/>
                <a:latin typeface="Paperlogy 4 Regular" pitchFamily="2" charset="-127"/>
                <a:ea typeface="Paperlogy 4 Regular" pitchFamily="2" charset="-127"/>
              </a:rPr>
              <a:t>: "AS02.03"</a:t>
            </a:r>
          </a:p>
          <a:p>
            <a:pPr>
              <a:buNone/>
            </a:pPr>
            <a:r>
              <a:rPr lang="en" altLang="ko-Kore-KR" b="0" dirty="0">
                <a:effectLst/>
                <a:latin typeface="Paperlogy 4 Regular" pitchFamily="2" charset="-127"/>
                <a:ea typeface="Paperlogy 4 Regular" pitchFamily="2" charset="-127"/>
              </a:rPr>
              <a:t>requirements: ["VE02.03.01", "VE02.03.02"]</a:t>
            </a:r>
          </a:p>
          <a:p>
            <a:pPr>
              <a:buNone/>
            </a:pPr>
            <a:r>
              <a:rPr lang="en" altLang="ko-Kore-KR" b="0" dirty="0">
                <a:effectLst/>
                <a:latin typeface="Paperlogy 4 Regular" pitchFamily="2" charset="-127"/>
                <a:ea typeface="Paperlogy 4 Regular" pitchFamily="2" charset="-127"/>
              </a:rPr>
              <a:t>---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8721C-D84A-C257-5C9B-A98E7FA86BD8}"/>
              </a:ext>
            </a:extLst>
          </p:cNvPr>
          <p:cNvSpPr txBox="1"/>
          <p:nvPr/>
        </p:nvSpPr>
        <p:spPr>
          <a:xfrm>
            <a:off x="990600" y="3992936"/>
            <a:ext cx="9412357" cy="1754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>
                <a:effectLst/>
                <a:latin typeface="Paperlogy 4 Regular" pitchFamily="2" charset="-127"/>
                <a:ea typeface="Paperlogy 4 Regular" pitchFamily="2" charset="-127"/>
              </a:rPr>
              <a:t>## 1. </a:t>
            </a:r>
            <a:r>
              <a:rPr lang="ko-KR" altLang="en-US" b="0" dirty="0">
                <a:effectLst/>
                <a:latin typeface="Paperlogy 4 Regular" pitchFamily="2" charset="-127"/>
                <a:ea typeface="Paperlogy 4 Regular" pitchFamily="2" charset="-127"/>
              </a:rPr>
              <a:t>보안요구사항 개요</a:t>
            </a:r>
          </a:p>
          <a:p>
            <a:pPr>
              <a:buNone/>
            </a:pPr>
            <a:r>
              <a:rPr lang="ko-KR" altLang="en-US" b="0" dirty="0" err="1">
                <a:effectLst/>
                <a:latin typeface="Paperlogy 4 Regular" pitchFamily="2" charset="-127"/>
                <a:ea typeface="Paperlogy 4 Regular" pitchFamily="2" charset="-127"/>
              </a:rPr>
              <a:t>암호모듈의</a:t>
            </a:r>
            <a:r>
              <a:rPr lang="ko-KR" altLang="en-US" b="0" dirty="0">
                <a:effectLst/>
                <a:latin typeface="Paperlogy 4 Regular" pitchFamily="2" charset="-127"/>
                <a:ea typeface="Paperlogy 4 Regular" pitchFamily="2" charset="-127"/>
              </a:rPr>
              <a:t> 물리적</a:t>
            </a:r>
            <a:r>
              <a:rPr lang="en-US" altLang="ko-KR" b="0" dirty="0">
                <a:effectLst/>
                <a:latin typeface="Paperlogy 4 Regular" pitchFamily="2" charset="-127"/>
                <a:ea typeface="Paperlogy 4 Regular" pitchFamily="2" charset="-127"/>
              </a:rPr>
              <a:t>/</a:t>
            </a:r>
            <a:r>
              <a:rPr lang="ko-KR" altLang="en-US" b="0" dirty="0">
                <a:effectLst/>
                <a:latin typeface="Paperlogy 4 Regular" pitchFamily="2" charset="-127"/>
                <a:ea typeface="Paperlogy 4 Regular" pitchFamily="2" charset="-127"/>
              </a:rPr>
              <a:t>논리적 형태를 정의하고</a:t>
            </a:r>
            <a:r>
              <a:rPr lang="en-US" altLang="ko-KR" b="0" dirty="0">
                <a:effectLst/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en-US" b="0" dirty="0">
                <a:effectLst/>
                <a:latin typeface="Paperlogy 4 Regular" pitchFamily="2" charset="-127"/>
                <a:ea typeface="Paperlogy 4 Regular" pitchFamily="2" charset="-127"/>
              </a:rPr>
              <a:t>해당 유형을 선택한 타당한 근거를 설계서에 명시해야 함</a:t>
            </a:r>
            <a:r>
              <a:rPr lang="en-US" altLang="ko-KR" b="0" dirty="0"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  <a:br>
              <a:rPr lang="en-US" altLang="ko-KR" b="0" dirty="0">
                <a:effectLst/>
                <a:latin typeface="Paperlogy 4 Regular" pitchFamily="2" charset="-127"/>
                <a:ea typeface="Paperlogy 4 Regular" pitchFamily="2" charset="-127"/>
              </a:rPr>
            </a:br>
            <a:endParaRPr lang="en-US" altLang="ko-KR" b="0" dirty="0"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>
              <a:buNone/>
            </a:pPr>
            <a:r>
              <a:rPr lang="en-US" altLang="ko-KR" b="0" dirty="0">
                <a:effectLst/>
                <a:latin typeface="Paperlogy 4 Regular" pitchFamily="2" charset="-127"/>
                <a:ea typeface="Paperlogy 4 Regular" pitchFamily="2" charset="-127"/>
              </a:rPr>
              <a:t>## 2. </a:t>
            </a:r>
            <a:r>
              <a:rPr lang="ko-KR" altLang="en-US" b="0" dirty="0">
                <a:effectLst/>
                <a:latin typeface="Paperlogy 4 Regular" pitchFamily="2" charset="-127"/>
                <a:ea typeface="Paperlogy 4 Regular" pitchFamily="2" charset="-127"/>
              </a:rPr>
              <a:t>상세 요구사항 </a:t>
            </a:r>
            <a:r>
              <a:rPr lang="en-US" altLang="ko-KR" b="0" dirty="0">
                <a:effectLst/>
                <a:latin typeface="Paperlogy 4 Regular" pitchFamily="2" charset="-127"/>
                <a:ea typeface="Paperlogy 4 Regular" pitchFamily="2" charset="-127"/>
              </a:rPr>
              <a:t>(</a:t>
            </a:r>
            <a:r>
              <a:rPr lang="en" altLang="ko-Kore-KR" b="0" dirty="0">
                <a:effectLst/>
                <a:latin typeface="Paperlogy 4 Regular" pitchFamily="2" charset="-127"/>
                <a:ea typeface="Paperlogy 4 Regular" pitchFamily="2" charset="-127"/>
              </a:rPr>
              <a:t>Requirements)</a:t>
            </a:r>
          </a:p>
          <a:p>
            <a:pPr>
              <a:buNone/>
            </a:pPr>
            <a:r>
              <a:rPr lang="en" altLang="ko-Kore-KR" b="0" dirty="0">
                <a:effectLst/>
                <a:latin typeface="Paperlogy 4 Regular" pitchFamily="2" charset="-127"/>
                <a:ea typeface="Paperlogy 4 Regular" pitchFamily="2" charset="-127"/>
              </a:rPr>
              <a:t>- **VE02.03.01**: </a:t>
            </a:r>
            <a:r>
              <a:rPr lang="ko-KR" altLang="en-US" b="0" dirty="0">
                <a:effectLst/>
                <a:latin typeface="Paperlogy 4 Regular" pitchFamily="2" charset="-127"/>
                <a:ea typeface="Paperlogy 4 Regular" pitchFamily="2" charset="-127"/>
              </a:rPr>
              <a:t>소프트웨어</a:t>
            </a:r>
            <a:r>
              <a:rPr lang="en-US" altLang="ko-KR" b="0" dirty="0">
                <a:effectLst/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en-US" b="0" dirty="0">
                <a:effectLst/>
                <a:latin typeface="Paperlogy 4 Regular" pitchFamily="2" charset="-127"/>
                <a:ea typeface="Paperlogy 4 Regular" pitchFamily="2" charset="-127"/>
              </a:rPr>
              <a:t>하드웨어</a:t>
            </a:r>
            <a:r>
              <a:rPr lang="en-US" altLang="ko-KR" b="0" dirty="0">
                <a:effectLst/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en-US" b="0" dirty="0">
                <a:effectLst/>
                <a:latin typeface="Paperlogy 4 Regular" pitchFamily="2" charset="-127"/>
                <a:ea typeface="Paperlogy 4 Regular" pitchFamily="2" charset="-127"/>
              </a:rPr>
              <a:t>펌웨어 등 모듈 유형 선택 근거 제시</a:t>
            </a:r>
            <a:r>
              <a:rPr lang="en-US" altLang="ko-KR" b="0" dirty="0"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  <a:p>
            <a:pPr>
              <a:buNone/>
            </a:pPr>
            <a:r>
              <a:rPr lang="en-US" altLang="ko-KR" b="0" dirty="0">
                <a:effectLst/>
                <a:latin typeface="Paperlogy 4 Regular" pitchFamily="2" charset="-127"/>
                <a:ea typeface="Paperlogy 4 Regular" pitchFamily="2" charset="-127"/>
              </a:rPr>
              <a:t>-</a:t>
            </a:r>
            <a:r>
              <a:rPr lang="ko-KR" altLang="en-US" b="0" dirty="0">
                <a:effectLst/>
                <a:latin typeface="Paperlogy 4 Regular" pitchFamily="2" charset="-127"/>
                <a:ea typeface="Paperlogy 4 Regular" pitchFamily="2" charset="-127"/>
              </a:rPr>
              <a:t> **</a:t>
            </a:r>
            <a:r>
              <a:rPr lang="en" altLang="ko-Kore-KR" b="0" dirty="0">
                <a:effectLst/>
                <a:latin typeface="Paperlogy 4 Regular" pitchFamily="2" charset="-127"/>
                <a:ea typeface="Paperlogy 4 Regular" pitchFamily="2" charset="-127"/>
              </a:rPr>
              <a:t>VE02.03.02**: </a:t>
            </a:r>
            <a:r>
              <a:rPr lang="ko-KR" altLang="en-US" b="0" dirty="0">
                <a:effectLst/>
                <a:latin typeface="Paperlogy 4 Regular" pitchFamily="2" charset="-127"/>
                <a:ea typeface="Paperlogy 4 Regular" pitchFamily="2" charset="-127"/>
              </a:rPr>
              <a:t>모듈을 구성하는 모든 실행 파일 및 라이브러리 식별</a:t>
            </a:r>
            <a:r>
              <a:rPr lang="en-US" altLang="ko-KR" b="0" dirty="0"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83282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7F4B14-696B-A365-F926-151C11348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L3 </a:t>
            </a:r>
            <a:r>
              <a:rPr kumimoji="1" lang="ko-Kore-KR" altLang="en-US" dirty="0"/>
              <a:t>데이터베이스</a:t>
            </a:r>
            <a:r>
              <a:rPr kumimoji="1" lang="ko-KR" altLang="en-US" dirty="0"/>
              <a:t> 설계 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B31132-BB19-1870-E6DE-6D0A40FCA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5378FB-DA08-ED6D-4922-DCE6CBDF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38</a:t>
            </a:fld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CD4C1-9EDC-CDFF-BF70-8512BC5254D5}"/>
              </a:ext>
            </a:extLst>
          </p:cNvPr>
          <p:cNvSpPr txBox="1"/>
          <p:nvPr/>
        </p:nvSpPr>
        <p:spPr>
          <a:xfrm>
            <a:off x="838200" y="1581746"/>
            <a:ext cx="10293626" cy="44012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ore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# [AS02.03] </a:t>
            </a:r>
            <a:r>
              <a:rPr lang="ko-KR" altLang="en-US" sz="1400" b="0" dirty="0" err="1">
                <a:effectLst/>
                <a:latin typeface="Paperlogy 4 Regular" pitchFamily="2" charset="-127"/>
                <a:ea typeface="Paperlogy 4 Regular" pitchFamily="2" charset="-127"/>
              </a:rPr>
              <a:t>암호모듈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 유형의 선택 및 근거 제시</a:t>
            </a:r>
            <a:b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</a:br>
            <a:endParaRPr lang="en-US" altLang="ko-KR" sz="1400" b="0" dirty="0"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## 3.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작성 예시 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(</a:t>
            </a:r>
            <a:r>
              <a:rPr lang="en" altLang="ko-Kore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Examples)</a:t>
            </a:r>
          </a:p>
          <a:p>
            <a:pPr>
              <a:buNone/>
            </a:pPr>
            <a:r>
              <a:rPr lang="en" altLang="ko-Kore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### 3.1.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표 형식 예시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|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항목 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|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내용 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|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| :--- | :--- |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|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모듈 유형 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|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소프트웨어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(</a:t>
            </a:r>
            <a:r>
              <a:rPr lang="en" altLang="ko-Kore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SW) </a:t>
            </a:r>
            <a:r>
              <a:rPr lang="ko-KR" altLang="en-US" sz="1400" b="0" dirty="0" err="1">
                <a:effectLst/>
                <a:latin typeface="Paperlogy 4 Regular" pitchFamily="2" charset="-127"/>
                <a:ea typeface="Paperlogy 4 Regular" pitchFamily="2" charset="-127"/>
              </a:rPr>
              <a:t>암호모듈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 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|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|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선택 근거 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|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다중 운영환경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(</a:t>
            </a:r>
            <a:r>
              <a:rPr lang="en" altLang="ko-Kore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Windows, Linux)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지원 및 배포 편의성 고려 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|</a:t>
            </a:r>
          </a:p>
          <a:p>
            <a:pPr>
              <a:buNone/>
            </a:pPr>
            <a:endParaRPr lang="en-US" altLang="ko-KR" sz="1400" b="0" dirty="0"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### 3.2.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서술형 예시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"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본 모듈은 별도의 하드웨어 없이 범용 </a:t>
            </a:r>
            <a:r>
              <a:rPr lang="en" altLang="ko-Kore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OS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위에서 동작하는 소프트웨어 형태의 </a:t>
            </a:r>
            <a:r>
              <a:rPr lang="ko-KR" altLang="en-US" sz="1400" b="0" dirty="0" err="1">
                <a:effectLst/>
                <a:latin typeface="Paperlogy 4 Regular" pitchFamily="2" charset="-127"/>
                <a:ea typeface="Paperlogy 4 Regular" pitchFamily="2" charset="-127"/>
              </a:rPr>
              <a:t>암호모듈로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 설계되었다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.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이는 서버 엔진에 라이브러리 형태로 통합되기 위함이다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."</a:t>
            </a:r>
            <a:b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</a:br>
            <a:endParaRPr lang="en-US" altLang="ko-KR" sz="1400" b="0" dirty="0"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## 4.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구조도 및 시각 자료 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(</a:t>
            </a:r>
            <a:r>
              <a:rPr lang="en" altLang="ko-Kore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Visuals)</a:t>
            </a:r>
          </a:p>
          <a:p>
            <a:pPr>
              <a:buNone/>
            </a:pPr>
            <a:r>
              <a:rPr lang="en" altLang="ko-Kore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&gt; **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알림**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: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본 섹션은 별도의 아키텍처 다이어그램을 포함하지 않음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. 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&gt;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**논리 흐름**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: [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사용자 애플리케이션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] -&gt; [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동적 라이브러리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(</a:t>
            </a:r>
            <a:r>
              <a:rPr lang="en" altLang="ko-Kore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DLL)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호출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] -&gt; [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암호 서비스 실행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]</a:t>
            </a:r>
            <a:b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</a:br>
            <a:endParaRPr lang="en-US" altLang="ko-KR" sz="1400" b="0" dirty="0">
              <a:effectLst/>
              <a:latin typeface="Paperlogy 4 Regular" pitchFamily="2" charset="-127"/>
              <a:ea typeface="Paperlogy 4 Regular" pitchFamily="2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## 5.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해설 및 증빙 가이드 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(</a:t>
            </a:r>
            <a:r>
              <a:rPr lang="en" altLang="ko-Kore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Guide)</a:t>
            </a:r>
          </a:p>
          <a:p>
            <a:pPr>
              <a:buNone/>
            </a:pPr>
            <a:r>
              <a:rPr lang="en" altLang="ko-Kore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-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소프트웨어 모듈의 경우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,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소스 코드가 아닌 **</a:t>
            </a:r>
            <a:r>
              <a:rPr lang="ko-KR" altLang="en-US" sz="1400" b="0" dirty="0" err="1">
                <a:effectLst/>
                <a:latin typeface="Paperlogy 4 Regular" pitchFamily="2" charset="-127"/>
                <a:ea typeface="Paperlogy 4 Regular" pitchFamily="2" charset="-127"/>
              </a:rPr>
              <a:t>컴파일된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 결과물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(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파일 목록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)**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을 기준으로 구성요소를 작성해야 함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-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 선택 근거는 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'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개발 편의성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'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보다는 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'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보안 요구사항 충족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' </a:t>
            </a:r>
            <a:r>
              <a:rPr lang="ko-KR" altLang="en-US" sz="1400" b="0" dirty="0">
                <a:effectLst/>
                <a:latin typeface="Paperlogy 4 Regular" pitchFamily="2" charset="-127"/>
                <a:ea typeface="Paperlogy 4 Regular" pitchFamily="2" charset="-127"/>
              </a:rPr>
              <a:t>관점에서 서술하는 것이 유리함</a:t>
            </a:r>
            <a:r>
              <a:rPr lang="en-US" altLang="ko-KR" sz="1400" b="0" dirty="0">
                <a:effectLst/>
                <a:latin typeface="Paperlogy 4 Regular" pitchFamily="2" charset="-127"/>
                <a:ea typeface="Paperlogy 4 Regular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17427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B9F93-5CC5-01A8-8CBE-9235508A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테스트용</a:t>
            </a:r>
            <a:r>
              <a:rPr kumimoji="1" lang="ko-KR" altLang="en-US" dirty="0"/>
              <a:t> 데이터셋 수집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51CE10-789B-01EC-11E0-2FC9EBC58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ore-KR" altLang="en-US" dirty="0"/>
              <a:t>국가</a:t>
            </a:r>
            <a:r>
              <a:rPr kumimoji="1" lang="ko-KR" altLang="en-US" dirty="0"/>
              <a:t>사이버안보센터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암호모듈검증제도</a:t>
            </a:r>
            <a:endParaRPr kumimoji="1" lang="en-US" altLang="ko-KR" dirty="0"/>
          </a:p>
          <a:p>
            <a:pPr lvl="1"/>
            <a:r>
              <a:rPr kumimoji="1" lang="en-US" altLang="ko-KR" dirty="0">
                <a:hlinkClick r:id="rId2"/>
              </a:rPr>
              <a:t>https://www.ncsc.go.kr/PageLink.do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여기서 검증필 </a:t>
            </a:r>
            <a:r>
              <a:rPr kumimoji="1" lang="ko-KR" altLang="en-US" dirty="0" err="1"/>
              <a:t>암호모듈에</a:t>
            </a:r>
            <a:r>
              <a:rPr kumimoji="1" lang="ko-KR" altLang="en-US" dirty="0"/>
              <a:t> 대한 보안 정책서를 참고하려고 함</a:t>
            </a:r>
            <a:endParaRPr kumimoji="1"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83D8C7-4B4D-C3CF-FAA3-A23C32780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33C21A-5986-0DB2-6C29-658F16DBD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39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16936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53E3D-E54C-A842-C0D4-A4BA7AEE7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EAFB4-7614-5055-614E-0EF64120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97429"/>
            <a:ext cx="9144000" cy="121253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ko-Kore-KR" dirty="0"/>
              <a:t>AI </a:t>
            </a:r>
            <a:r>
              <a:rPr kumimoji="1" lang="ko-KR" altLang="en-US" dirty="0"/>
              <a:t>기반 </a:t>
            </a:r>
            <a:r>
              <a:rPr kumimoji="1" lang="en-US" altLang="ko-KR" dirty="0"/>
              <a:t>KCMVP </a:t>
            </a:r>
            <a:r>
              <a:rPr kumimoji="1" lang="ko-KR" altLang="en-US" dirty="0"/>
              <a:t>사전 적합성 검증 도구</a:t>
            </a:r>
            <a:endParaRPr kumimoji="1" lang="ko-Kore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F691F4-7DE2-9E6F-EB6A-6524E93C45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ore-KR" dirty="0"/>
              <a:t>2</a:t>
            </a:r>
            <a:r>
              <a:rPr kumimoji="1" lang="en-US" altLang="ko-KR" dirty="0"/>
              <a:t>026.02.25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부채널</a:t>
            </a:r>
            <a:r>
              <a:rPr kumimoji="1" lang="ko-KR" altLang="en-US" dirty="0"/>
              <a:t> 공모전 </a:t>
            </a:r>
            <a:r>
              <a:rPr kumimoji="1" lang="en-US" altLang="ko-KR" dirty="0"/>
              <a:t>Project L3_2</a:t>
            </a:r>
          </a:p>
          <a:p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진행 사항 공유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kumimoji="1" lang="en-US" altLang="ko-KR" dirty="0"/>
              <a:t>20260313</a:t>
            </a:r>
            <a:r>
              <a:rPr kumimoji="1" lang="ko-KR" altLang="en-US" dirty="0"/>
              <a:t> 금요일 회의</a:t>
            </a:r>
            <a:endParaRPr kumimoji="1"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ED18A4-A950-D7AF-9642-03ADEFC68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10519F-7ADA-B815-76B3-9006AED7D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40</a:t>
            </a:fld>
            <a:endParaRPr kumimoji="1" lang="ko-Kore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2FE1DD-6003-0D8B-EB71-F6D5D2D7C2F0}"/>
              </a:ext>
            </a:extLst>
          </p:cNvPr>
          <p:cNvSpPr txBox="1"/>
          <p:nvPr/>
        </p:nvSpPr>
        <p:spPr>
          <a:xfrm>
            <a:off x="4892233" y="1024879"/>
            <a:ext cx="24075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800" b="1" dirty="0">
                <a:latin typeface="Paperlogy 9 Black" pitchFamily="2" charset="-127"/>
                <a:ea typeface="Paperlogy 9 Black" pitchFamily="2" charset="-127"/>
              </a:rPr>
              <a:t>4</a:t>
            </a:r>
            <a:endParaRPr kumimoji="1" lang="ko-Kore-KR" altLang="en-US" sz="8800" b="1" dirty="0">
              <a:latin typeface="Paperlogy 9 Black" pitchFamily="2" charset="-127"/>
              <a:ea typeface="Paperlogy 9 Black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85366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538D1-14D1-2849-63AA-2592E38AB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964322-759B-E7E0-2D9E-DB3FF734D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피드백 개선 및 진행사항 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8DE9FB-E61C-36F9-42A0-E3164B392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dirty="0"/>
              <a:t>기존 </a:t>
            </a:r>
            <a:r>
              <a:rPr kumimoji="1" lang="en-US" altLang="ko-KR" dirty="0"/>
              <a:t>AI:</a:t>
            </a:r>
            <a:r>
              <a:rPr kumimoji="1" lang="ko-KR" altLang="en-US" dirty="0"/>
              <a:t> </a:t>
            </a:r>
            <a:r>
              <a:rPr kumimoji="1" lang="en-US" altLang="ko-KR" dirty="0"/>
              <a:t>Gemini API </a:t>
            </a:r>
            <a:r>
              <a:rPr kumimoji="1" lang="ko-KR" altLang="en-US" dirty="0"/>
              <a:t>사용 </a:t>
            </a:r>
            <a:r>
              <a:rPr lang="en-US" altLang="ko-KR" sz="2000" dirty="0"/>
              <a:t>(</a:t>
            </a:r>
            <a:r>
              <a:rPr lang="en" altLang="ko-Kore-KR" sz="2000" dirty="0" err="1"/>
              <a:t>gemini</a:t>
            </a:r>
            <a:r>
              <a:rPr lang="en" altLang="ko-Kore-KR" sz="2000" dirty="0"/>
              <a:t>-flash-lite-latest</a:t>
            </a:r>
            <a:r>
              <a:rPr lang="en-US" altLang="ko-KR" sz="2000" dirty="0"/>
              <a:t>)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b="1" dirty="0">
                <a:sym typeface="Wingdings" pitchFamily="2" charset="2"/>
              </a:rPr>
              <a:t></a:t>
            </a:r>
            <a:r>
              <a:rPr kumimoji="1" lang="ko-KR" altLang="en-US" b="1" dirty="0">
                <a:sym typeface="Wingdings" pitchFamily="2" charset="2"/>
              </a:rPr>
              <a:t> </a:t>
            </a:r>
            <a:r>
              <a:rPr kumimoji="1" lang="en-US" altLang="ko-KR" b="1" dirty="0"/>
              <a:t>AI</a:t>
            </a:r>
            <a:r>
              <a:rPr kumimoji="1" lang="ko-Kore-KR" altLang="en-US" b="1" dirty="0"/>
              <a:t>는</a:t>
            </a:r>
            <a:r>
              <a:rPr kumimoji="1" lang="ko-KR" altLang="en-US" b="1" dirty="0"/>
              <a:t> 로컬 모델로 진행</a:t>
            </a:r>
            <a:r>
              <a:rPr kumimoji="1" lang="en-US" altLang="ko-KR" b="1" dirty="0"/>
              <a:t>(7B</a:t>
            </a:r>
            <a:r>
              <a:rPr kumimoji="1" lang="ko-KR" altLang="en-US" b="1" dirty="0"/>
              <a:t>급</a:t>
            </a:r>
            <a:r>
              <a:rPr kumimoji="1" lang="en-US" altLang="ko-KR" b="1" dirty="0"/>
              <a:t>),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R2-R3</a:t>
            </a:r>
            <a:r>
              <a:rPr kumimoji="1" lang="ko-KR" altLang="en-US" b="1" dirty="0"/>
              <a:t>레이어 단계에서 동일한 </a:t>
            </a:r>
            <a:r>
              <a:rPr kumimoji="1" lang="en-US" altLang="ko-KR" b="1" dirty="0"/>
              <a:t>AI</a:t>
            </a:r>
            <a:r>
              <a:rPr kumimoji="1" lang="ko-KR" altLang="en-US" b="1" dirty="0"/>
              <a:t>로</a:t>
            </a:r>
            <a:endParaRPr kumimoji="1" lang="en-US" altLang="ko-KR" b="1" dirty="0"/>
          </a:p>
          <a:p>
            <a:pPr lvl="1"/>
            <a:r>
              <a:rPr kumimoji="1" lang="ko-KR" altLang="en-US" dirty="0"/>
              <a:t>목표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Hugging Face</a:t>
            </a:r>
            <a:r>
              <a:rPr kumimoji="1" lang="ko-KR" altLang="en-US" dirty="0"/>
              <a:t>의 </a:t>
            </a:r>
            <a:r>
              <a:rPr lang="en" altLang="ko-Kore-KR" dirty="0"/>
              <a:t>`</a:t>
            </a:r>
            <a:r>
              <a:rPr lang="en" altLang="ko-Kore-KR" dirty="0" err="1"/>
              <a:t>mistralai</a:t>
            </a:r>
            <a:r>
              <a:rPr lang="en" altLang="ko-Kore-KR" dirty="0"/>
              <a:t>/Mistral-7B-Instruct-v0.3`</a:t>
            </a:r>
          </a:p>
          <a:p>
            <a:pPr marL="457200" lvl="1" indent="0">
              <a:buNone/>
            </a:pPr>
            <a:r>
              <a:rPr kumimoji="1" lang="en" altLang="ko-KR" dirty="0">
                <a:hlinkClick r:id="rId2"/>
              </a:rPr>
              <a:t>https://huggingface.co/mistralai/Mistral-7B-Instruct-v0.3</a:t>
            </a:r>
            <a:endParaRPr kumimoji="1" lang="en" altLang="ko-KR" dirty="0"/>
          </a:p>
          <a:p>
            <a:pPr marL="457200" lvl="1" indent="0">
              <a:buNone/>
            </a:pPr>
            <a:r>
              <a:rPr kumimoji="1" lang="en" altLang="ko-KR" dirty="0"/>
              <a:t>	 : </a:t>
            </a:r>
            <a:r>
              <a:rPr kumimoji="1" lang="ko-KR" altLang="en-US" dirty="0"/>
              <a:t>양자화 진행해서 성능 빠르게</a:t>
            </a:r>
            <a:r>
              <a:rPr kumimoji="1" lang="en-US" altLang="ko-KR" dirty="0"/>
              <a:t>…</a:t>
            </a:r>
            <a:endParaRPr kumimoji="1" lang="en" altLang="ko-KR" dirty="0"/>
          </a:p>
          <a:p>
            <a:pPr marL="457200" lvl="1" indent="0">
              <a:buNone/>
            </a:pPr>
            <a:r>
              <a:rPr kumimoji="1" lang="en" altLang="ko-KR" dirty="0"/>
              <a:t>	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그러나 만약 너무 무겁다면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3B/4B</a:t>
            </a:r>
            <a:r>
              <a:rPr kumimoji="1" lang="ko-KR" altLang="en-US" dirty="0"/>
              <a:t>로 진행</a:t>
            </a:r>
            <a:endParaRPr kumimoji="1" lang="en" altLang="ko-KR" dirty="0"/>
          </a:p>
          <a:p>
            <a:pPr lvl="1"/>
            <a:r>
              <a:rPr kumimoji="1" lang="ko-KR" altLang="en-US" dirty="0" err="1"/>
              <a:t>파인튜닝은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google </a:t>
            </a:r>
            <a:r>
              <a:rPr kumimoji="1" lang="en-US" altLang="ko-KR" dirty="0" err="1"/>
              <a:t>colab</a:t>
            </a:r>
            <a:r>
              <a:rPr kumimoji="1" lang="ko-KR" altLang="en-US" dirty="0"/>
              <a:t>에서 진행할 예정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원래 </a:t>
            </a:r>
            <a:r>
              <a:rPr kumimoji="1" lang="ko-KR" altLang="en-US" dirty="0" err="1"/>
              <a:t>파인튜닝을</a:t>
            </a:r>
            <a:r>
              <a:rPr kumimoji="1" lang="ko-KR" altLang="en-US" dirty="0"/>
              <a:t> 진행할 예정이었으나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R1</a:t>
            </a:r>
            <a:r>
              <a:rPr kumimoji="1" lang="ko-KR" altLang="en-US" dirty="0"/>
              <a:t>에서의 </a:t>
            </a:r>
            <a:r>
              <a:rPr kumimoji="1" lang="ko-KR" altLang="en-US" dirty="0" err="1"/>
              <a:t>룰셋을</a:t>
            </a:r>
            <a:r>
              <a:rPr kumimoji="1" lang="ko-KR" altLang="en-US" dirty="0"/>
              <a:t> 기반으로 매칭해서 데이터셋 만들면 좋을 것 같아서 </a:t>
            </a:r>
            <a:r>
              <a:rPr kumimoji="1" lang="en-US" altLang="ko-KR" dirty="0"/>
              <a:t>R1</a:t>
            </a:r>
            <a:r>
              <a:rPr kumimoji="1" lang="ko-KR" altLang="en-US" dirty="0" err="1"/>
              <a:t>룰셋</a:t>
            </a:r>
            <a:r>
              <a:rPr kumimoji="1" lang="ko-KR" altLang="en-US" dirty="0"/>
              <a:t> 설계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R3 </a:t>
            </a:r>
            <a:r>
              <a:rPr kumimoji="1" lang="ko-KR" altLang="en-US" dirty="0"/>
              <a:t>데이터베이스 생성 우선해서 진행 </a:t>
            </a:r>
            <a:endParaRPr kumimoji="1" lang="en-US" altLang="ko-KR" dirty="0"/>
          </a:p>
          <a:p>
            <a:pPr marL="457200" lvl="1" indent="0">
              <a:buNone/>
            </a:pPr>
            <a:r>
              <a:rPr kumimoji="1" lang="en-US" altLang="ko-KR" dirty="0"/>
              <a:t>	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: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R1</a:t>
            </a:r>
            <a:r>
              <a:rPr kumimoji="1" lang="ko-KR" altLang="en-US" b="1" dirty="0"/>
              <a:t> </a:t>
            </a:r>
            <a:r>
              <a:rPr kumimoji="1" lang="ko-KR" altLang="en-US" b="1" dirty="0" err="1"/>
              <a:t>룰셋</a:t>
            </a:r>
            <a:r>
              <a:rPr kumimoji="1" lang="ko-KR" altLang="en-US" b="1" dirty="0"/>
              <a:t> 설계의 경우 이번주 내로 완료될 예정</a:t>
            </a:r>
            <a:endParaRPr kumimoji="1" lang="en-US" altLang="ko-KR" b="1" dirty="0"/>
          </a:p>
          <a:p>
            <a:pPr marL="457200" lvl="1" indent="0">
              <a:buNone/>
            </a:pPr>
            <a:r>
              <a:rPr kumimoji="1" lang="en-US" altLang="ko-KR" b="1" dirty="0"/>
              <a:t>	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: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R3 </a:t>
            </a:r>
            <a:r>
              <a:rPr kumimoji="1" lang="ko-KR" altLang="en-US" b="1" dirty="0"/>
              <a:t>데이터베이스의 경우 설계서는 완료</a:t>
            </a:r>
            <a:r>
              <a:rPr kumimoji="1" lang="en-US" altLang="ko-KR" b="1" dirty="0"/>
              <a:t>,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LEA</a:t>
            </a:r>
            <a:r>
              <a:rPr kumimoji="1" lang="ko-KR" altLang="en-US" b="1" dirty="0"/>
              <a:t>는 이번주 내로 완료될 예정</a:t>
            </a:r>
            <a:endParaRPr kumimoji="1" lang="en-US" altLang="ko-KR" b="1" dirty="0"/>
          </a:p>
          <a:p>
            <a:pPr marL="457200" lvl="1" indent="0">
              <a:buNone/>
            </a:pPr>
            <a:endParaRPr kumimoji="1"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0A7D60-1658-D3ED-AFBB-C1F2F3B1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 dirty="0" err="1"/>
              <a:t>부채널</a:t>
            </a:r>
            <a:r>
              <a:rPr kumimoji="1" lang="ko-KR" altLang="en-US" dirty="0"/>
              <a:t> 공모전</a:t>
            </a:r>
            <a:r>
              <a:rPr kumimoji="1" lang="en-US" altLang="ko-KR" dirty="0"/>
              <a:t>: </a:t>
            </a:r>
            <a:r>
              <a:rPr kumimoji="1" lang="en" altLang="ko-Kore-KR" dirty="0"/>
              <a:t>AI </a:t>
            </a:r>
            <a:r>
              <a:rPr kumimoji="1" lang="ko-KR" altLang="en-US" dirty="0"/>
              <a:t>기반 </a:t>
            </a:r>
            <a:r>
              <a:rPr kumimoji="1" lang="en" altLang="ko-Kore-KR" dirty="0"/>
              <a:t>KCMVP </a:t>
            </a:r>
            <a:r>
              <a:rPr kumimoji="1" lang="ko-KR" altLang="en-US" dirty="0"/>
              <a:t>사전 점검</a:t>
            </a:r>
            <a:endParaRPr kumimoji="1" lang="ko-Kore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BC0AE6-F0D5-5523-36E9-EDF7C319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41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778178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9028D-98A9-2582-A51C-F618BAC5B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738017-F149-9078-B466-9CF86CD2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피드백 개선 및 진행사항 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8F278C-7409-5BCD-8006-C3E21DDEB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dirty="0"/>
              <a:t>서류부분</a:t>
            </a:r>
            <a:r>
              <a:rPr kumimoji="1" lang="en-US" altLang="ko-KR" dirty="0"/>
              <a:t>:</a:t>
            </a:r>
            <a:r>
              <a:rPr kumimoji="1" lang="ko-KR" altLang="en-US" dirty="0"/>
              <a:t> 보안수준 </a:t>
            </a:r>
            <a:r>
              <a:rPr kumimoji="1" lang="en-US" altLang="ko-KR" dirty="0"/>
              <a:t>1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해당하는 소프트웨어 </a:t>
            </a:r>
            <a:r>
              <a:rPr kumimoji="1" lang="ko-KR" altLang="en-US" dirty="0" err="1"/>
              <a:t>암호모듈을</a:t>
            </a:r>
            <a:r>
              <a:rPr kumimoji="1" lang="ko-KR" altLang="en-US" dirty="0"/>
              <a:t> 기준</a:t>
            </a:r>
            <a:endParaRPr kumimoji="1" lang="en-US" altLang="ko-KR" sz="2000" dirty="0"/>
          </a:p>
          <a:p>
            <a:pPr>
              <a:buFont typeface="Wingdings" pitchFamily="2" charset="2"/>
              <a:buChar char="à"/>
            </a:pPr>
            <a:r>
              <a:rPr kumimoji="1" lang="ko-KR" altLang="en-US" b="1" dirty="0">
                <a:sym typeface="Wingdings" pitchFamily="2" charset="2"/>
              </a:rPr>
              <a:t>가이드 문서 자체가 보안수준 </a:t>
            </a:r>
            <a:r>
              <a:rPr kumimoji="1" lang="en-US" altLang="ko-KR" b="1" dirty="0">
                <a:sym typeface="Wingdings" pitchFamily="2" charset="2"/>
              </a:rPr>
              <a:t>1</a:t>
            </a:r>
            <a:r>
              <a:rPr kumimoji="1" lang="ko-KR" altLang="en-US" b="1" dirty="0" err="1">
                <a:sym typeface="Wingdings" pitchFamily="2" charset="2"/>
              </a:rPr>
              <a:t>에</a:t>
            </a:r>
            <a:r>
              <a:rPr kumimoji="1" lang="ko-KR" altLang="en-US" b="1" dirty="0">
                <a:sym typeface="Wingdings" pitchFamily="2" charset="2"/>
              </a:rPr>
              <a:t> 해당하는 소프트웨어 </a:t>
            </a:r>
            <a:r>
              <a:rPr kumimoji="1" lang="ko-KR" altLang="en-US" b="1" dirty="0" err="1">
                <a:sym typeface="Wingdings" pitchFamily="2" charset="2"/>
              </a:rPr>
              <a:t>암호모듈을</a:t>
            </a:r>
            <a:r>
              <a:rPr kumimoji="1" lang="ko-KR" altLang="en-US" b="1" dirty="0">
                <a:sym typeface="Wingdings" pitchFamily="2" charset="2"/>
              </a:rPr>
              <a:t> 기준으로 하므로</a:t>
            </a:r>
            <a:r>
              <a:rPr kumimoji="1" lang="en-US" altLang="ko-KR" b="1" dirty="0">
                <a:sym typeface="Wingdings" pitchFamily="2" charset="2"/>
              </a:rPr>
              <a:t>,</a:t>
            </a:r>
            <a:r>
              <a:rPr kumimoji="1" lang="ko-KR" altLang="en-US" b="1" dirty="0">
                <a:sym typeface="Wingdings" pitchFamily="2" charset="2"/>
              </a:rPr>
              <a:t> 이 문서를 기준으로 설계하도록 진행</a:t>
            </a:r>
            <a:endParaRPr kumimoji="1" lang="en-US" altLang="ko-KR" b="1" dirty="0">
              <a:sym typeface="Wingdings" pitchFamily="2" charset="2"/>
            </a:endParaRPr>
          </a:p>
          <a:p>
            <a:pPr marL="457200" lvl="1" indent="0" algn="ctr">
              <a:buNone/>
            </a:pPr>
            <a:endParaRPr kumimoji="1" lang="en-US" altLang="ko-KR" dirty="0">
              <a:sym typeface="Wingdings" pitchFamily="2" charset="2"/>
            </a:endParaRPr>
          </a:p>
          <a:p>
            <a:pPr marL="457200" lvl="1" indent="0" algn="ctr">
              <a:buNone/>
            </a:pPr>
            <a:r>
              <a:rPr kumimoji="1" lang="ko-KR" altLang="en-US" dirty="0">
                <a:sym typeface="Wingdings" pitchFamily="2" charset="2"/>
              </a:rPr>
              <a:t>문서</a:t>
            </a:r>
            <a:r>
              <a:rPr kumimoji="1" lang="en-US" altLang="ko-KR" dirty="0">
                <a:sym typeface="Wingdings" pitchFamily="2" charset="2"/>
              </a:rPr>
              <a:t>:</a:t>
            </a:r>
            <a:r>
              <a:rPr kumimoji="1" lang="ko-KR" altLang="en-US" dirty="0">
                <a:sym typeface="Wingdings" pitchFamily="2" charset="2"/>
              </a:rPr>
              <a:t> </a:t>
            </a:r>
            <a:r>
              <a:rPr kumimoji="1" lang="en-US" altLang="ko-KR" dirty="0">
                <a:sym typeface="Wingdings" pitchFamily="2" charset="2"/>
              </a:rPr>
              <a:t>KISA_</a:t>
            </a:r>
            <a:r>
              <a:rPr kumimoji="1" lang="ko-KR" altLang="en-US" dirty="0" err="1">
                <a:sym typeface="Wingdings" pitchFamily="2" charset="2"/>
              </a:rPr>
              <a:t>암호모듈</a:t>
            </a:r>
            <a:r>
              <a:rPr kumimoji="1" lang="ko-KR" altLang="en-US" dirty="0">
                <a:sym typeface="Wingdings" pitchFamily="2" charset="2"/>
              </a:rPr>
              <a:t> 제출물 작성 안내서 </a:t>
            </a:r>
            <a:endParaRPr kumimoji="1" lang="en-US" altLang="ko-KR" dirty="0"/>
          </a:p>
          <a:p>
            <a:pPr marL="457200" lvl="1" indent="0">
              <a:buNone/>
            </a:pPr>
            <a:endParaRPr kumimoji="1" lang="en-US" altLang="ko-KR" dirty="0"/>
          </a:p>
          <a:p>
            <a:pPr marL="457200" lvl="1" indent="0">
              <a:buNone/>
            </a:pPr>
            <a:endParaRPr kumimoji="1"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8999AB-5626-B3BE-4A68-A3455D21D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7BA2E9-A6EB-089A-E5FC-AAFA4EDC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42</a:t>
            </a:fld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C35E5F-1B4F-504B-B1D9-F2DB3BC23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834" y="3606767"/>
            <a:ext cx="7772400" cy="242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3394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C0161-FEE6-2993-FBF5-DD41F9CB6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575BC3-2F04-3112-A498-BD6302D2D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일정 목표 수정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505172-D0B4-F02F-24C9-1C19BD9E2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b="1" dirty="0"/>
              <a:t>일정 목표</a:t>
            </a:r>
            <a:endParaRPr kumimoji="1" lang="en-US" altLang="ko-KR" sz="2000" b="1" dirty="0"/>
          </a:p>
          <a:p>
            <a:pPr lvl="1"/>
            <a:r>
              <a:rPr kumimoji="1" lang="en-US" altLang="ko-KR" sz="2800" dirty="0"/>
              <a:t>~3</a:t>
            </a:r>
            <a:r>
              <a:rPr kumimoji="1" lang="ko-KR" altLang="en-US" sz="2800" dirty="0"/>
              <a:t>월 </a:t>
            </a:r>
            <a:r>
              <a:rPr kumimoji="1" lang="en-US" altLang="ko-KR" sz="2800" dirty="0"/>
              <a:t>16</a:t>
            </a:r>
            <a:r>
              <a:rPr kumimoji="1" lang="ko-KR" altLang="en-US" sz="2800" dirty="0"/>
              <a:t>일</a:t>
            </a:r>
            <a:r>
              <a:rPr kumimoji="1" lang="en-US" altLang="ko-KR" sz="2800" dirty="0"/>
              <a:t>(</a:t>
            </a:r>
            <a:r>
              <a:rPr kumimoji="1" lang="ko-KR" altLang="en-US" sz="2800" dirty="0"/>
              <a:t>월</a:t>
            </a:r>
            <a:r>
              <a:rPr kumimoji="1" lang="en-US" altLang="ko-KR" sz="2800" dirty="0"/>
              <a:t>): DB</a:t>
            </a:r>
            <a:r>
              <a:rPr kumimoji="1" lang="ko-KR" altLang="en-US" sz="2800" dirty="0"/>
              <a:t> 및 </a:t>
            </a:r>
            <a:r>
              <a:rPr kumimoji="1" lang="ko-KR" altLang="en-US" sz="2800" dirty="0" err="1"/>
              <a:t>룰셋</a:t>
            </a:r>
            <a:r>
              <a:rPr kumimoji="1" lang="ko-KR" altLang="en-US" sz="2800" dirty="0"/>
              <a:t> 설계는 전체 완료 </a:t>
            </a:r>
            <a:r>
              <a:rPr kumimoji="1" lang="en-US" altLang="ko-KR" sz="2800" dirty="0"/>
              <a:t>–</a:t>
            </a:r>
            <a:r>
              <a:rPr kumimoji="1" lang="ko-KR" altLang="en-US" sz="2800" dirty="0"/>
              <a:t> 가능하면 </a:t>
            </a:r>
            <a:r>
              <a:rPr kumimoji="1" lang="en-US" altLang="ko-KR" sz="2800" dirty="0"/>
              <a:t>AI</a:t>
            </a:r>
            <a:r>
              <a:rPr kumimoji="1" lang="ko-KR" altLang="en-US" sz="2800" dirty="0"/>
              <a:t> 연동 </a:t>
            </a:r>
            <a:endParaRPr kumimoji="1" lang="en-US" altLang="ko-KR" sz="2800" dirty="0"/>
          </a:p>
          <a:p>
            <a:pPr lvl="1"/>
            <a:r>
              <a:rPr kumimoji="1" lang="en-US" altLang="ko-KR" sz="2800" dirty="0"/>
              <a:t>~3</a:t>
            </a:r>
            <a:r>
              <a:rPr kumimoji="1" lang="ko-KR" altLang="en-US" sz="2800" dirty="0"/>
              <a:t>월 </a:t>
            </a:r>
            <a:r>
              <a:rPr kumimoji="1" lang="en-US" altLang="ko-KR" sz="2800" dirty="0"/>
              <a:t>23</a:t>
            </a:r>
            <a:r>
              <a:rPr kumimoji="1" lang="ko-KR" altLang="en-US" sz="2800" dirty="0"/>
              <a:t>일</a:t>
            </a:r>
            <a:r>
              <a:rPr kumimoji="1" lang="en-US" altLang="ko-KR" sz="2800" dirty="0"/>
              <a:t>(</a:t>
            </a:r>
            <a:r>
              <a:rPr kumimoji="1" lang="ko-KR" altLang="en-US" sz="2800" dirty="0"/>
              <a:t>월</a:t>
            </a:r>
            <a:r>
              <a:rPr kumimoji="1" lang="en-US" altLang="ko-KR" sz="2800" dirty="0"/>
              <a:t>):</a:t>
            </a:r>
            <a:r>
              <a:rPr kumimoji="1" lang="ko-KR" altLang="en-US" sz="2800" dirty="0"/>
              <a:t> </a:t>
            </a:r>
            <a:r>
              <a:rPr kumimoji="1" lang="en-US" altLang="ko-KR" sz="2800" dirty="0"/>
              <a:t>(</a:t>
            </a:r>
            <a:r>
              <a:rPr kumimoji="1" lang="ko-KR" altLang="en-US" sz="2800" dirty="0"/>
              <a:t>학부생 회의 때까지</a:t>
            </a:r>
            <a:r>
              <a:rPr kumimoji="1" lang="en-US" altLang="ko-KR" sz="2800" dirty="0"/>
              <a:t>)</a:t>
            </a:r>
            <a:r>
              <a:rPr kumimoji="1" lang="ko-KR" altLang="en-US" sz="2800" dirty="0"/>
              <a:t> 구현 완성</a:t>
            </a:r>
            <a:endParaRPr kumimoji="1" lang="en-US" altLang="ko-KR" sz="2800" dirty="0"/>
          </a:p>
          <a:p>
            <a:pPr lvl="1"/>
            <a:r>
              <a:rPr kumimoji="1" lang="en-US" altLang="ko-KR" sz="2800" dirty="0"/>
              <a:t>~3</a:t>
            </a:r>
            <a:r>
              <a:rPr kumimoji="1" lang="ko-KR" altLang="en-US" sz="2800" dirty="0"/>
              <a:t>월 </a:t>
            </a:r>
            <a:r>
              <a:rPr kumimoji="1" lang="en-US" altLang="ko-KR" sz="2800" dirty="0"/>
              <a:t>29</a:t>
            </a:r>
            <a:r>
              <a:rPr kumimoji="1" lang="ko-KR" altLang="en-US" sz="2800" dirty="0"/>
              <a:t>일</a:t>
            </a:r>
            <a:r>
              <a:rPr kumimoji="1" lang="en-US" altLang="ko-KR" sz="2800" dirty="0"/>
              <a:t>(</a:t>
            </a:r>
            <a:r>
              <a:rPr kumimoji="1" lang="ko-KR" altLang="en-US" sz="2800" dirty="0"/>
              <a:t>일</a:t>
            </a:r>
            <a:r>
              <a:rPr kumimoji="1" lang="en-US" altLang="ko-KR" sz="2800" dirty="0"/>
              <a:t>):</a:t>
            </a:r>
            <a:r>
              <a:rPr kumimoji="1" lang="ko-KR" altLang="en-US" sz="2800" dirty="0"/>
              <a:t> 문서 작성 완료 </a:t>
            </a:r>
            <a:endParaRPr kumimoji="1" lang="en-US" altLang="ko-KR" sz="2800" dirty="0"/>
          </a:p>
          <a:p>
            <a:pPr marL="457200" lvl="1" indent="0">
              <a:buNone/>
            </a:pPr>
            <a:endParaRPr kumimoji="1" lang="en-US" altLang="ko-KR" dirty="0"/>
          </a:p>
          <a:p>
            <a:pPr marL="457200" lvl="1" indent="0">
              <a:buNone/>
            </a:pPr>
            <a:endParaRPr kumimoji="1" lang="en-US" altLang="ko-KR" dirty="0"/>
          </a:p>
          <a:p>
            <a:pPr marL="457200" lvl="1" indent="0">
              <a:buNone/>
            </a:pPr>
            <a:endParaRPr kumimoji="1"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60092F-64A2-997C-0C99-DC28AEBFF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E032A9-660E-70A4-3C0E-DD41E21E9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43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321309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3EEAC-04EA-A727-E03D-6BD2586A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룰셋</a:t>
            </a:r>
            <a:r>
              <a:rPr kumimoji="1" lang="ko-KR" altLang="en-US" dirty="0"/>
              <a:t> 설계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ABFF91-299B-4DCD-C89E-E6DCAFC06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ore-KR" altLang="en-US" dirty="0"/>
              <a:t>룰셋</a:t>
            </a:r>
            <a:r>
              <a:rPr kumimoji="1" lang="ko-KR" altLang="en-US" dirty="0"/>
              <a:t> 구조</a:t>
            </a: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832519-5551-7871-7893-8D185CA0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047C1A-521C-928B-B0F2-394E5412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44</a:t>
            </a:fld>
            <a:endParaRPr kumimoji="1" lang="ko-Kore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4366622-07A5-8AA2-B5B8-6FC9C1D9B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303" y="1918151"/>
            <a:ext cx="8399394" cy="443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301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8CC65-CC7A-0FAD-8767-B50569E1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룰셋</a:t>
            </a:r>
            <a:r>
              <a:rPr kumimoji="1" lang="ko-KR" altLang="en-US" dirty="0"/>
              <a:t> 설계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8E3B66-D6F5-900D-D4D4-50C997A2E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ore-KR" altLang="en-US" dirty="0"/>
              <a:t>패턴</a:t>
            </a:r>
            <a:r>
              <a:rPr kumimoji="1" lang="ko-KR" altLang="en-US" dirty="0"/>
              <a:t> 타입 종류</a:t>
            </a:r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AA2773-298C-0197-73C0-98528139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8CB058-9B91-BA5E-C651-C05350DB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45</a:t>
            </a:fld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94F7F95-15AF-736D-32A7-5CF7DCC77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69" y="2368983"/>
            <a:ext cx="10752931" cy="259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1590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3E283-B0FE-13FC-770C-84A998F1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RAG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위한 데이터베이스 설계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DF5C0D-0760-4290-8EB5-C05E13114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736"/>
            <a:ext cx="4727713" cy="4789227"/>
          </a:xfrm>
        </p:spPr>
        <p:txBody>
          <a:bodyPr/>
          <a:lstStyle/>
          <a:p>
            <a:r>
              <a:rPr kumimoji="1" lang="ko-Kore-KR" altLang="en-US" dirty="0"/>
              <a:t>설계서를</a:t>
            </a:r>
            <a:r>
              <a:rPr kumimoji="1" lang="ko-KR" altLang="en-US" dirty="0"/>
              <a:t> 섹션별로 분류하여 </a:t>
            </a:r>
            <a:r>
              <a:rPr kumimoji="1" lang="en-US" altLang="ko-KR" dirty="0"/>
              <a:t>md </a:t>
            </a:r>
            <a:r>
              <a:rPr kumimoji="1" lang="ko-KR" altLang="en-US" dirty="0"/>
              <a:t>파일로 설계</a:t>
            </a:r>
            <a:endParaRPr kumimoji="1" lang="en-US" altLang="ko-KR" dirty="0"/>
          </a:p>
          <a:p>
            <a:r>
              <a:rPr kumimoji="1" lang="en-US" altLang="ko-Kore-KR" dirty="0"/>
              <a:t>AI</a:t>
            </a:r>
            <a:r>
              <a:rPr kumimoji="1" lang="ko-KR" altLang="en-US" dirty="0"/>
              <a:t>가 필요한 부분만 확인할 수 있도록 카테고리 및 </a:t>
            </a:r>
            <a:r>
              <a:rPr kumimoji="1" lang="en-US" altLang="ko-KR" dirty="0"/>
              <a:t>id</a:t>
            </a:r>
            <a:r>
              <a:rPr kumimoji="1" lang="ko-KR" altLang="en-US" dirty="0"/>
              <a:t>기재 </a:t>
            </a:r>
            <a:r>
              <a:rPr kumimoji="1" lang="en-US" altLang="ko-Kore-KR" dirty="0"/>
              <a:t>(</a:t>
            </a:r>
            <a:r>
              <a:rPr kumimoji="1" lang="ko-Kore-KR" altLang="en-US" dirty="0"/>
              <a:t>항목과</a:t>
            </a:r>
            <a:r>
              <a:rPr kumimoji="1" lang="ko-KR" altLang="en-US" dirty="0"/>
              <a:t> 요구사항 번호를 활용</a:t>
            </a:r>
            <a:r>
              <a:rPr kumimoji="1" lang="en-US" altLang="ko-KR" dirty="0"/>
              <a:t>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E9F59C-9B85-1BB4-94E6-5421F736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735B1F-B9A9-88BE-E0F5-30264016A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46</a:t>
            </a:fld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17889A8-D202-6989-834C-816C97970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13" y="1247888"/>
            <a:ext cx="6312372" cy="46711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BCD2106-0D85-AC8D-994C-45B127B8E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32" y="3782349"/>
            <a:ext cx="4696035" cy="188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662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FC80D8-17FE-FAFC-D082-41A87A86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RAG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위한 데이터베이스 설계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FE9C77-51D4-0E45-A18F-99EB5989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904" y="1387736"/>
            <a:ext cx="5761383" cy="4789227"/>
          </a:xfrm>
        </p:spPr>
        <p:txBody>
          <a:bodyPr/>
          <a:lstStyle/>
          <a:p>
            <a:pPr marL="0" indent="0" algn="ctr">
              <a:buNone/>
            </a:pPr>
            <a:r>
              <a:rPr kumimoji="1" lang="en-US" altLang="ko-Kore-KR" dirty="0"/>
              <a:t>Ex)</a:t>
            </a:r>
          </a:p>
          <a:p>
            <a:pPr marL="0" indent="0" algn="ctr">
              <a:buNone/>
            </a:pPr>
            <a:r>
              <a:rPr kumimoji="1" lang="en-US" altLang="ko-Kore-KR" b="1" dirty="0"/>
              <a:t> [AS11.32]</a:t>
            </a:r>
            <a:r>
              <a:rPr kumimoji="1" lang="ko-KR" altLang="en-US" b="1" dirty="0"/>
              <a:t> </a:t>
            </a:r>
            <a:r>
              <a:rPr kumimoji="1" lang="ko-Kore-KR" altLang="en-US" b="1" dirty="0"/>
              <a:t>안전한</a:t>
            </a:r>
            <a:r>
              <a:rPr kumimoji="1" lang="ko-KR" altLang="en-US" b="1" dirty="0"/>
              <a:t> 설치</a:t>
            </a:r>
            <a:r>
              <a:rPr kumimoji="1" lang="en-US" altLang="ko-KR" b="1" dirty="0"/>
              <a:t>,</a:t>
            </a:r>
            <a:r>
              <a:rPr kumimoji="1" lang="ko-KR" altLang="en-US" b="1" dirty="0"/>
              <a:t> 초기화 및 시동 명세 </a:t>
            </a:r>
            <a:endParaRPr kumimoji="1" lang="ko-Kore-KR" altLang="en-US" b="1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2A0D44-E2D4-F694-E50B-81763FB08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38AD1A-D393-914D-408E-A3C97E76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47</a:t>
            </a:fld>
            <a:endParaRPr kumimoji="1" lang="ko-Kore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C145E8-2C6A-CAC2-E36B-3B7B031E4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195746"/>
            <a:ext cx="4114800" cy="51606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A552935-DEBC-6B68-6E54-46FF5672B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01" y="2680528"/>
            <a:ext cx="5495788" cy="10077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9DEFD9A-8F57-8760-17F7-9AE883163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38" y="3853904"/>
            <a:ext cx="4030089" cy="2976770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C0F94DC-EDC5-02D4-403A-6EA444665410}"/>
              </a:ext>
            </a:extLst>
          </p:cNvPr>
          <p:cNvCxnSpPr/>
          <p:nvPr/>
        </p:nvCxnSpPr>
        <p:spPr>
          <a:xfrm>
            <a:off x="4386470" y="4969565"/>
            <a:ext cx="219986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8155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D0214-6BF8-3DC3-2D62-8C4BA296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Q: </a:t>
            </a:r>
            <a:r>
              <a:rPr kumimoji="1" lang="ko-KR" altLang="en-US" dirty="0"/>
              <a:t>테스트 문서에 관하여</a:t>
            </a:r>
            <a:r>
              <a:rPr kumimoji="1" lang="en-US" altLang="ko-KR" dirty="0"/>
              <a:t>…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8D3D7D-8677-25B1-43AF-435E6F70D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ore-KR" altLang="en-US" dirty="0"/>
              <a:t>검증필보안모듈</a:t>
            </a:r>
            <a:r>
              <a:rPr kumimoji="1" lang="ko-KR" altLang="en-US" dirty="0"/>
              <a:t> 보안정책서를 올려서 진행할까 </a:t>
            </a:r>
            <a:r>
              <a:rPr kumimoji="1" lang="ko-KR" altLang="en-US" dirty="0" err="1"/>
              <a:t>생각중</a:t>
            </a:r>
            <a:endParaRPr kumimoji="1" lang="en-US" altLang="ko-KR" dirty="0"/>
          </a:p>
          <a:p>
            <a:r>
              <a:rPr kumimoji="1" lang="ko-KR" altLang="en-US" dirty="0"/>
              <a:t>그런데 모든 내용이 기입되어 있지는 않은데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이걸로 진행해도 될지 아니면 문서를 추가로 만드는 것이 좋을지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ore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49F82C-90D0-4C26-7D1B-6B6175A11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006E60-37C6-0B08-E3D8-79323F5B7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48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373251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D0565-BB2D-5DC2-5188-0A58FE7B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D568F-FBEB-200C-8B51-746AEF72C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97429"/>
            <a:ext cx="9144000" cy="121253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ko-Kore-KR" dirty="0"/>
              <a:t>AI </a:t>
            </a:r>
            <a:r>
              <a:rPr kumimoji="1" lang="ko-KR" altLang="en-US" dirty="0"/>
              <a:t>기반 </a:t>
            </a:r>
            <a:r>
              <a:rPr kumimoji="1" lang="en-US" altLang="ko-KR" dirty="0"/>
              <a:t>KCMVP </a:t>
            </a:r>
            <a:r>
              <a:rPr kumimoji="1" lang="ko-KR" altLang="en-US" dirty="0"/>
              <a:t>사전 적합성 검증 도구</a:t>
            </a:r>
            <a:endParaRPr kumimoji="1" lang="ko-Kore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89B07C-AE1B-4659-60AC-A3B95D3D06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ore-KR" dirty="0"/>
              <a:t>2</a:t>
            </a:r>
            <a:r>
              <a:rPr kumimoji="1" lang="en-US" altLang="ko-KR" dirty="0"/>
              <a:t>026.02.25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부채널</a:t>
            </a:r>
            <a:r>
              <a:rPr kumimoji="1" lang="ko-KR" altLang="en-US" dirty="0"/>
              <a:t> 공모전 </a:t>
            </a:r>
            <a:r>
              <a:rPr kumimoji="1" lang="en-US" altLang="ko-KR" dirty="0"/>
              <a:t>Project L3_2</a:t>
            </a:r>
          </a:p>
          <a:p>
            <a:r>
              <a:rPr kumimoji="1"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진행 사항 공유</a:t>
            </a:r>
            <a:endParaRPr kumimoji="1"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kumimoji="1" lang="en-US" altLang="ko-KR" dirty="0"/>
              <a:t>20260316</a:t>
            </a:r>
            <a:r>
              <a:rPr kumimoji="1" lang="ko-KR" altLang="en-US" dirty="0"/>
              <a:t>일 학부생 회의</a:t>
            </a:r>
            <a:endParaRPr kumimoji="1"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5A0E07-2559-C09F-EC58-DE7E15684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15A6E8-12AD-7F20-0D3C-A19D39A0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49</a:t>
            </a:fld>
            <a:endParaRPr kumimoji="1" lang="ko-Kore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663DB2-1460-D38D-13C4-C1A573107BC0}"/>
              </a:ext>
            </a:extLst>
          </p:cNvPr>
          <p:cNvSpPr txBox="1"/>
          <p:nvPr/>
        </p:nvSpPr>
        <p:spPr>
          <a:xfrm>
            <a:off x="4892233" y="1024879"/>
            <a:ext cx="24075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800" b="1" dirty="0">
                <a:latin typeface="Paperlogy 9 Black" pitchFamily="2" charset="-127"/>
                <a:ea typeface="Paperlogy 9 Black" pitchFamily="2" charset="-127"/>
              </a:rPr>
              <a:t>5</a:t>
            </a:r>
            <a:endParaRPr kumimoji="1" lang="ko-Kore-KR" altLang="en-US" sz="8800" b="1" dirty="0">
              <a:latin typeface="Paperlogy 9 Black" pitchFamily="2" charset="-127"/>
              <a:ea typeface="Paperlogy 9 Black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72365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2E0B3A-3575-F912-E3C6-9BBED93DB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진행사항 보고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FC8011-3752-10C3-AC54-89AED1FAC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ore-KR" altLang="en-US" dirty="0"/>
              <a:t>진행사항 보고</a:t>
            </a:r>
            <a:endParaRPr kumimoji="1" lang="en-US" altLang="ko-Kore-KR" dirty="0"/>
          </a:p>
          <a:p>
            <a:pPr lvl="1"/>
            <a:r>
              <a:rPr kumimoji="1" lang="ko-Kore-KR" altLang="en-US" dirty="0"/>
              <a:t>일단 죄송합니다</a:t>
            </a:r>
            <a:r>
              <a:rPr kumimoji="1" lang="en-US" altLang="ko-Kore-KR" dirty="0"/>
              <a:t>. </a:t>
            </a:r>
            <a:r>
              <a:rPr kumimoji="1" lang="ko-Kore-KR" altLang="en-US" dirty="0"/>
              <a:t>캡스톤 준비 때문에 거의 하지 못하였습니다</a:t>
            </a:r>
            <a:r>
              <a:rPr kumimoji="1" lang="en-US" altLang="ko-Kore-KR" dirty="0"/>
              <a:t>…</a:t>
            </a:r>
            <a:r>
              <a:rPr kumimoji="1" lang="en-US" altLang="ko-KR" dirty="0"/>
              <a:t>.</a:t>
            </a:r>
            <a:endParaRPr kumimoji="1" lang="en-US" altLang="ko-Kore-KR" dirty="0"/>
          </a:p>
          <a:p>
            <a:pPr lvl="1"/>
            <a:r>
              <a:rPr kumimoji="1" lang="en-US" altLang="ko-Kore-KR" dirty="0"/>
              <a:t>LEA </a:t>
            </a:r>
            <a:r>
              <a:rPr kumimoji="1" lang="ko-Kore-KR" altLang="en-US" dirty="0"/>
              <a:t>데이터베이스 넣어야 합니다 </a:t>
            </a:r>
            <a:r>
              <a:rPr kumimoji="1" lang="en-US" altLang="ko-Kore-KR" dirty="0"/>
              <a:t>(</a:t>
            </a:r>
            <a:r>
              <a:rPr kumimoji="1" lang="en-US" altLang="ko-Kore-KR" dirty="0" err="1"/>
              <a:t>ing</a:t>
            </a:r>
            <a:r>
              <a:rPr kumimoji="1" lang="en-US" altLang="ko-Kore-KR" dirty="0"/>
              <a:t>) </a:t>
            </a:r>
          </a:p>
          <a:p>
            <a:endParaRPr kumimoji="1" lang="en-US" altLang="ko-Kore-KR" dirty="0"/>
          </a:p>
          <a:p>
            <a:r>
              <a:rPr kumimoji="1" lang="ko-Kore-KR" altLang="en-US" dirty="0"/>
              <a:t>진행 목표 </a:t>
            </a:r>
            <a:endParaRPr kumimoji="1" lang="en-US" altLang="ko-Kore-KR" dirty="0"/>
          </a:p>
          <a:p>
            <a:pPr lvl="1"/>
            <a:r>
              <a:rPr kumimoji="1" lang="ko-Kore-KR" altLang="en-US" dirty="0"/>
              <a:t>교수님이 </a:t>
            </a:r>
            <a:r>
              <a:rPr kumimoji="1" lang="en-US" altLang="ko-Kore-KR" dirty="0"/>
              <a:t>API</a:t>
            </a:r>
            <a:r>
              <a:rPr kumimoji="1" lang="ko-Kore-KR" altLang="en-US" dirty="0"/>
              <a:t>에 비해 로컬 모델이 </a:t>
            </a:r>
            <a:r>
              <a:rPr kumimoji="1" lang="en-US" altLang="ko-Kore-KR" dirty="0"/>
              <a:t>1</a:t>
            </a:r>
            <a:r>
              <a:rPr kumimoji="1" lang="en-US" altLang="ko-KR" dirty="0"/>
              <a:t>~2</a:t>
            </a:r>
            <a:r>
              <a:rPr kumimoji="1" lang="ko-KR" altLang="en-US" dirty="0"/>
              <a:t>년 뒤쳐졌다고 함</a:t>
            </a:r>
            <a:r>
              <a:rPr kumimoji="1" lang="en-US" altLang="ko-KR" dirty="0"/>
              <a:t>: </a:t>
            </a:r>
            <a:r>
              <a:rPr kumimoji="1" lang="ko-KR" altLang="en-US" dirty="0"/>
              <a:t>이거는 시간 남으면 성능 평가 때 </a:t>
            </a:r>
            <a:r>
              <a:rPr kumimoji="1" lang="en-US" altLang="ko-KR" dirty="0" err="1"/>
              <a:t>gemini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api</a:t>
            </a:r>
            <a:r>
              <a:rPr kumimoji="1" lang="en-US" altLang="ko-KR" dirty="0"/>
              <a:t> (</a:t>
            </a:r>
            <a:r>
              <a:rPr kumimoji="1" lang="ko-KR" altLang="en-US" dirty="0"/>
              <a:t>결제 할 수 있으면 최소한으로 결제해서</a:t>
            </a:r>
            <a:r>
              <a:rPr kumimoji="1" lang="en-US" altLang="ko-KR" dirty="0"/>
              <a:t>) </a:t>
            </a:r>
            <a:r>
              <a:rPr kumimoji="1" lang="ko-KR" altLang="en-US" dirty="0"/>
              <a:t>랑 비교할 수 있으면 하면 좋을 것 같습니다</a:t>
            </a:r>
            <a:r>
              <a:rPr kumimoji="1" lang="en-US" altLang="ko-KR" dirty="0"/>
              <a:t>.</a:t>
            </a:r>
          </a:p>
          <a:p>
            <a:pPr lvl="1"/>
            <a:r>
              <a:rPr lang="ko-KR" altLang="en-US" dirty="0"/>
              <a:t>암호 알고리즘</a:t>
            </a:r>
            <a:r>
              <a:rPr lang="en-US" altLang="ko-KR" dirty="0"/>
              <a:t>(</a:t>
            </a:r>
            <a:r>
              <a:rPr lang="en" altLang="ko-Kore-KR" dirty="0"/>
              <a:t>LEA), </a:t>
            </a:r>
            <a:r>
              <a:rPr lang="ko-KR" altLang="en-US" dirty="0"/>
              <a:t>운영모드</a:t>
            </a:r>
            <a:r>
              <a:rPr lang="en-US" altLang="ko-KR" dirty="0"/>
              <a:t>, </a:t>
            </a:r>
            <a:r>
              <a:rPr lang="ko-KR" altLang="en-US" dirty="0"/>
              <a:t>레벨</a:t>
            </a:r>
            <a:r>
              <a:rPr lang="en-US" altLang="ko-KR" dirty="0"/>
              <a:t>, </a:t>
            </a:r>
            <a:r>
              <a:rPr lang="ko-KR" altLang="en-US" dirty="0"/>
              <a:t>소프트웨어 이거 체크하도록 해서 과부화를 좀 줄이는 방향으로 진행할 것</a:t>
            </a:r>
            <a:endParaRPr kumimoji="1" lang="en-US" altLang="ko-KR" dirty="0"/>
          </a:p>
          <a:p>
            <a:pPr lvl="1"/>
            <a:endParaRPr kumimoji="1" lang="en-US" altLang="ko-Kore-KR" dirty="0"/>
          </a:p>
          <a:p>
            <a:pPr lvl="1"/>
            <a:endParaRPr kumimoji="1" lang="en-US" altLang="ko-Kore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797D9F-07F5-817A-CD9B-D737E465D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A88B8A-F448-8C02-CF72-0937918CC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50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583744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E52C3-C158-6B1F-4FB9-E942F40E4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다음 진행</a:t>
            </a:r>
            <a:r>
              <a:rPr kumimoji="1" lang="en-US" altLang="ko-Kore-KR" dirty="0"/>
              <a:t>…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81F272-D3D7-2E29-2F55-F134B13C3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endParaRPr kumimoji="1" lang="en-US" altLang="ko-Kore-KR" dirty="0"/>
          </a:p>
          <a:p>
            <a:r>
              <a:rPr kumimoji="1" lang="ko-Kore-KR" altLang="en-US" b="1" dirty="0"/>
              <a:t>역할 분배</a:t>
            </a:r>
            <a:endParaRPr kumimoji="1" lang="en-US" altLang="ko-Kore-KR" b="1" dirty="0"/>
          </a:p>
          <a:p>
            <a:pPr lvl="1"/>
            <a:r>
              <a:rPr kumimoji="1" lang="ko-Kore-KR" altLang="en-US" dirty="0"/>
              <a:t>아마 </a:t>
            </a:r>
            <a:r>
              <a:rPr kumimoji="1" lang="en-US" altLang="ko-Kore-KR" dirty="0"/>
              <a:t>AI </a:t>
            </a:r>
            <a:r>
              <a:rPr kumimoji="1" lang="ko-Kore-KR" altLang="en-US" dirty="0"/>
              <a:t>학습 후 테스트 및 문서 검출 오류 맡겨 드릴 것 같은데</a:t>
            </a:r>
            <a:endParaRPr kumimoji="1" lang="en-US" altLang="ko-Kore-KR" dirty="0"/>
          </a:p>
          <a:p>
            <a:pPr lvl="1"/>
            <a:r>
              <a:rPr kumimoji="1" lang="ko-Kore-KR" altLang="en-US" dirty="0"/>
              <a:t>그 전에 코드 리뷰 드리면서 룰셋이 어떻게 검증이 진행되는지 레이어 흐름이랑 같이 알면 좋을 것 같아서 </a:t>
            </a:r>
            <a:endParaRPr kumimoji="1" lang="en-US" altLang="ko-Kore-KR" dirty="0"/>
          </a:p>
          <a:p>
            <a:pPr lvl="1"/>
            <a:endParaRPr kumimoji="1" lang="en-US" altLang="ko-Kore-KR" dirty="0"/>
          </a:p>
          <a:p>
            <a:pPr lvl="1"/>
            <a:r>
              <a:rPr kumimoji="1" lang="ko-Kore-KR" altLang="en-US" b="1" dirty="0"/>
              <a:t>수요일까지</a:t>
            </a:r>
            <a:r>
              <a:rPr kumimoji="1" lang="en-US" altLang="ko-KR" b="1" dirty="0"/>
              <a:t>(3/18) (</a:t>
            </a:r>
            <a:r>
              <a:rPr kumimoji="1" lang="ko-KR" altLang="en-US" b="1" dirty="0"/>
              <a:t>안되면 목요일 새벽에</a:t>
            </a:r>
            <a:r>
              <a:rPr kumimoji="1" lang="en-US" altLang="ko-KR" b="1" dirty="0"/>
              <a:t>):  </a:t>
            </a:r>
          </a:p>
          <a:p>
            <a:pPr marL="457200" lvl="1" indent="0">
              <a:buNone/>
            </a:pPr>
            <a:r>
              <a:rPr kumimoji="1" lang="ko-KR" altLang="en-US" dirty="0"/>
              <a:t>제가 코드 </a:t>
            </a:r>
            <a:r>
              <a:rPr kumimoji="1" lang="ko-KR" altLang="en-US" dirty="0" err="1"/>
              <a:t>리뷰랑</a:t>
            </a:r>
            <a:r>
              <a:rPr kumimoji="1" lang="ko-KR" altLang="en-US" dirty="0"/>
              <a:t> </a:t>
            </a:r>
            <a:r>
              <a:rPr kumimoji="1" lang="en-US" altLang="ko-KR" dirty="0"/>
              <a:t>AI </a:t>
            </a:r>
            <a:r>
              <a:rPr kumimoji="1" lang="ko-KR" altLang="en-US" dirty="0"/>
              <a:t>학습 진행상황 전달 드리도록 하겠습니다</a:t>
            </a:r>
            <a:r>
              <a:rPr kumimoji="1" lang="en-US" altLang="ko-KR" dirty="0"/>
              <a:t>.</a:t>
            </a:r>
          </a:p>
          <a:p>
            <a:pPr lvl="1"/>
            <a:r>
              <a:rPr kumimoji="1" lang="ko-Kore-KR" altLang="en-US" b="1" dirty="0"/>
              <a:t>목요일</a:t>
            </a:r>
            <a:r>
              <a:rPr kumimoji="1" lang="en-US" altLang="ko-KR" b="1" dirty="0"/>
              <a:t>(3/19)</a:t>
            </a:r>
          </a:p>
          <a:p>
            <a:pPr marL="457200" lvl="1" indent="0">
              <a:buNone/>
            </a:pPr>
            <a:r>
              <a:rPr kumimoji="1" lang="ko-KR" altLang="en-US" dirty="0"/>
              <a:t>내용 대략적으로 훑어 보시고 </a:t>
            </a:r>
            <a:endParaRPr kumimoji="1" lang="en-US" altLang="ko-KR" dirty="0"/>
          </a:p>
          <a:p>
            <a:pPr lvl="1"/>
            <a:r>
              <a:rPr kumimoji="1" lang="ko-KR" altLang="en-US" b="1" dirty="0"/>
              <a:t>금요일</a:t>
            </a:r>
            <a:r>
              <a:rPr kumimoji="1" lang="en-US" altLang="ko-KR" b="1" dirty="0"/>
              <a:t>(3/20) </a:t>
            </a:r>
          </a:p>
          <a:p>
            <a:pPr marL="457200" lvl="1" indent="0">
              <a:buNone/>
            </a:pPr>
            <a:r>
              <a:rPr kumimoji="1" lang="ko-KR" altLang="en-US" dirty="0"/>
              <a:t>회의 끝나고 다들 시간 괜찮으시면 코드 </a:t>
            </a:r>
            <a:r>
              <a:rPr kumimoji="1" lang="ko-KR" altLang="en-US" dirty="0" err="1"/>
              <a:t>리뷰랑</a:t>
            </a:r>
            <a:r>
              <a:rPr kumimoji="1" lang="ko-KR" altLang="en-US" dirty="0"/>
              <a:t> 오류 판단하는 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전달 드린 문서 관련해서 부가적인 설명 드리겠습니다</a:t>
            </a:r>
            <a:r>
              <a:rPr kumimoji="1" lang="en-US" altLang="ko-KR" dirty="0"/>
              <a:t>… </a:t>
            </a:r>
            <a:r>
              <a:rPr kumimoji="1" lang="ko-KR" altLang="en-US" dirty="0"/>
              <a:t>안되면 제가 </a:t>
            </a:r>
            <a:r>
              <a:rPr kumimoji="1" lang="ko-KR" altLang="en-US" dirty="0" err="1"/>
              <a:t>영상찍겟습니다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619834-B9E0-B917-8BB3-32708C23C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BE72F2-955B-B12A-141E-0B27A9A6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51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611142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6C106-30AA-5C5E-90BA-149785B7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컨트리뷰션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6C1BBB-7656-4E1F-DFAF-570F12847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ore-KR" altLang="en-US" dirty="0"/>
              <a:t>새로운 역할 분배</a:t>
            </a:r>
            <a:endParaRPr kumimoji="1" lang="en-US" altLang="ko-Kore-KR" dirty="0"/>
          </a:p>
          <a:p>
            <a:pPr lvl="1"/>
            <a:r>
              <a:rPr kumimoji="1" lang="ko-Kore-KR" altLang="en-US" dirty="0"/>
              <a:t>역할 </a:t>
            </a:r>
            <a:r>
              <a:rPr kumimoji="1" lang="en-US" altLang="ko-Kore-KR" dirty="0"/>
              <a:t>1</a:t>
            </a:r>
            <a:r>
              <a:rPr kumimoji="1" lang="en-US" altLang="ko-KR" dirty="0"/>
              <a:t>: (R2) </a:t>
            </a:r>
            <a:r>
              <a:rPr kumimoji="1" lang="ko-Kore-KR" altLang="en-US" dirty="0"/>
              <a:t>아직 </a:t>
            </a:r>
            <a:r>
              <a:rPr kumimoji="1" lang="en-US" altLang="ko-Kore-KR" dirty="0"/>
              <a:t>AI</a:t>
            </a:r>
            <a:r>
              <a:rPr kumimoji="1" lang="ko-Kore-KR" altLang="en-US" dirty="0"/>
              <a:t>용 데이터베이스가 좀 남았음 </a:t>
            </a:r>
            <a:r>
              <a:rPr kumimoji="1" lang="en-US" altLang="ko-Kore-KR" dirty="0"/>
              <a:t>-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근데 제가 이건 코드를 좀 </a:t>
            </a:r>
            <a:r>
              <a:rPr kumimoji="1" lang="ko-KR" altLang="en-US" dirty="0" err="1"/>
              <a:t>손봐야돼서</a:t>
            </a:r>
            <a:r>
              <a:rPr kumimoji="1" lang="ko-KR" altLang="en-US" dirty="0"/>
              <a:t> 지금 </a:t>
            </a:r>
            <a:r>
              <a:rPr kumimoji="1" lang="ko-KR" altLang="en-US" dirty="0" err="1"/>
              <a:t>당장못합니다</a:t>
            </a:r>
            <a:r>
              <a:rPr kumimoji="1" lang="en-US" altLang="ko-KR" dirty="0"/>
              <a:t>. </a:t>
            </a:r>
            <a:r>
              <a:rPr kumimoji="1" lang="en-US" altLang="ko-KR" dirty="0">
                <a:sym typeface="Wingdings" pitchFamily="2" charset="2"/>
              </a:rPr>
              <a:t> </a:t>
            </a:r>
            <a:r>
              <a:rPr kumimoji="1" lang="ko-KR" altLang="en-US" dirty="0">
                <a:sym typeface="Wingdings" pitchFamily="2" charset="2"/>
              </a:rPr>
              <a:t>내가 </a:t>
            </a:r>
            <a:endParaRPr kumimoji="1" lang="en-US" altLang="ko-Kore-KR" dirty="0"/>
          </a:p>
          <a:p>
            <a:pPr lvl="1"/>
            <a:r>
              <a:rPr kumimoji="1" lang="ko-Kore-KR" altLang="en-US" dirty="0">
                <a:sym typeface="Wingdings" pitchFamily="2" charset="2"/>
              </a:rPr>
              <a:t>역할 </a:t>
            </a:r>
            <a:r>
              <a:rPr kumimoji="1" lang="en-US" altLang="ko-Kore-KR" dirty="0">
                <a:sym typeface="Wingdings" pitchFamily="2" charset="2"/>
              </a:rPr>
              <a:t>2</a:t>
            </a:r>
            <a:r>
              <a:rPr kumimoji="1" lang="en-US" altLang="ko-KR" dirty="0">
                <a:sym typeface="Wingdings" pitchFamily="2" charset="2"/>
              </a:rPr>
              <a:t>: AI </a:t>
            </a:r>
            <a:r>
              <a:rPr kumimoji="1" lang="ko-KR" altLang="en-US" dirty="0">
                <a:sym typeface="Wingdings" pitchFamily="2" charset="2"/>
              </a:rPr>
              <a:t>처음 학습하면 좀 멍청할 텐데 관련해서 오류 잡는 역할 </a:t>
            </a:r>
            <a:r>
              <a:rPr kumimoji="1" lang="en-US" altLang="ko-KR" dirty="0">
                <a:sym typeface="Wingdings" pitchFamily="2" charset="2"/>
              </a:rPr>
              <a:t> </a:t>
            </a:r>
            <a:r>
              <a:rPr kumimoji="1" lang="ko-KR" altLang="en-US" dirty="0">
                <a:sym typeface="Wingdings" pitchFamily="2" charset="2"/>
              </a:rPr>
              <a:t>원래 학부생 </a:t>
            </a:r>
            <a:r>
              <a:rPr kumimoji="1" lang="ko-KR" altLang="en-US" dirty="0" err="1">
                <a:sym typeface="Wingdings" pitchFamily="2" charset="2"/>
              </a:rPr>
              <a:t>두분한테</a:t>
            </a:r>
            <a:r>
              <a:rPr kumimoji="1" lang="ko-KR" altLang="en-US" dirty="0">
                <a:sym typeface="Wingdings" pitchFamily="2" charset="2"/>
              </a:rPr>
              <a:t> 맡기려고 했는데 </a:t>
            </a:r>
            <a:r>
              <a:rPr kumimoji="1" lang="en-US" altLang="ko-KR" dirty="0">
                <a:sym typeface="Wingdings" pitchFamily="2" charset="2"/>
              </a:rPr>
              <a:t>--&gt; </a:t>
            </a:r>
            <a:r>
              <a:rPr kumimoji="1" lang="ko-KR" altLang="en-US" dirty="0">
                <a:sym typeface="Wingdings" pitchFamily="2" charset="2"/>
              </a:rPr>
              <a:t>학부생</a:t>
            </a:r>
            <a:endParaRPr kumimoji="1" lang="en-US" altLang="ko-KR" dirty="0">
              <a:sym typeface="Wingdings" pitchFamily="2" charset="2"/>
            </a:endParaRPr>
          </a:p>
          <a:p>
            <a:pPr lvl="1"/>
            <a:r>
              <a:rPr kumimoji="1" lang="ko-KR" altLang="en-US" b="1" dirty="0">
                <a:sym typeface="Wingdings" pitchFamily="2" charset="2"/>
              </a:rPr>
              <a:t>역할 </a:t>
            </a:r>
            <a:r>
              <a:rPr kumimoji="1" lang="en-US" altLang="ko-KR" b="1" dirty="0">
                <a:sym typeface="Wingdings" pitchFamily="2" charset="2"/>
              </a:rPr>
              <a:t>3: </a:t>
            </a:r>
            <a:r>
              <a:rPr kumimoji="1" lang="ko-KR" altLang="en-US" b="1" dirty="0">
                <a:sym typeface="Wingdings" pitchFamily="2" charset="2"/>
              </a:rPr>
              <a:t>테스트용 데이터 만들기 </a:t>
            </a:r>
            <a:r>
              <a:rPr kumimoji="1" lang="en-US" altLang="ko-KR" b="1" dirty="0">
                <a:sym typeface="Wingdings" pitchFamily="2" charset="2"/>
              </a:rPr>
              <a:t>-&gt; </a:t>
            </a:r>
            <a:r>
              <a:rPr kumimoji="1" lang="ko-KR" altLang="en-US" b="1" dirty="0" err="1">
                <a:sym typeface="Wingdings" pitchFamily="2" charset="2"/>
              </a:rPr>
              <a:t>굿인듯</a:t>
            </a:r>
            <a:r>
              <a:rPr kumimoji="1" lang="en-US" altLang="ko-KR" b="1" dirty="0">
                <a:sym typeface="Wingdings" pitchFamily="2" charset="2"/>
              </a:rPr>
              <a:t>?</a:t>
            </a:r>
          </a:p>
          <a:p>
            <a:pPr marL="457200" lvl="1" indent="0">
              <a:buNone/>
            </a:pPr>
            <a:r>
              <a:rPr kumimoji="1" lang="ko-KR" altLang="en-US" b="1" dirty="0">
                <a:sym typeface="Wingdings" pitchFamily="2" charset="2"/>
              </a:rPr>
              <a:t>수요일에 진행사항 전달 드리도록 하겠습니다</a:t>
            </a:r>
            <a:r>
              <a:rPr kumimoji="1" lang="en-US" altLang="ko-KR" b="1" dirty="0">
                <a:sym typeface="Wingdings" pitchFamily="2" charset="2"/>
              </a:rPr>
              <a:t>… -&gt; TLS </a:t>
            </a:r>
            <a:r>
              <a:rPr kumimoji="1" lang="ko-KR" altLang="en-US" b="1" dirty="0" err="1">
                <a:sym typeface="Wingdings" pitchFamily="2" charset="2"/>
              </a:rPr>
              <a:t>팀한테</a:t>
            </a:r>
            <a:endParaRPr kumimoji="1" lang="en-US" altLang="ko-KR" b="1" dirty="0">
              <a:sym typeface="Wingdings" pitchFamily="2" charset="2"/>
            </a:endParaRPr>
          </a:p>
          <a:p>
            <a:pPr marL="457200" lvl="1" indent="0">
              <a:buNone/>
            </a:pPr>
            <a:endParaRPr kumimoji="1" lang="en-US" altLang="ko-Kore-KR" dirty="0">
              <a:sym typeface="Wingdings" pitchFamily="2" charset="2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50EA7F-922C-9EE6-E41F-121F6F82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ko-KR" altLang="en-US"/>
              <a:t>부채널 공모전</a:t>
            </a:r>
            <a:r>
              <a:rPr kumimoji="1" lang="en-US" altLang="ko-KR"/>
              <a:t>: </a:t>
            </a:r>
            <a:r>
              <a:rPr kumimoji="1" lang="en" altLang="ko-Kore-KR"/>
              <a:t>AI </a:t>
            </a:r>
            <a:r>
              <a:rPr kumimoji="1" lang="ko-KR" altLang="en-US"/>
              <a:t>기반 </a:t>
            </a:r>
            <a:r>
              <a:rPr kumimoji="1" lang="en" altLang="ko-Kore-KR"/>
              <a:t>KCMVP </a:t>
            </a:r>
            <a:r>
              <a:rPr kumimoji="1" lang="ko-KR" altLang="en-US"/>
              <a:t>사전 점검</a:t>
            </a:r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867C34-5240-20A4-9981-7CBA6B1FB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FB9F7-4046-8E4D-9F94-47686FFB4962}" type="slidenum">
              <a:rPr kumimoji="1" lang="ko-Kore-KR" altLang="en-US" smtClean="0"/>
              <a:t>52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661992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6882</TotalTime>
  <Words>3728</Words>
  <Application>Microsoft Macintosh PowerPoint</Application>
  <PresentationFormat>와이드스크린</PresentationFormat>
  <Paragraphs>507</Paragraphs>
  <Slides>52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62" baseType="lpstr">
      <vt:lpstr>Arial</vt:lpstr>
      <vt:lpstr>Cambria Math</vt:lpstr>
      <vt:lpstr>Aptos</vt:lpstr>
      <vt:lpstr>Menlo</vt:lpstr>
      <vt:lpstr>Paperlogy 9 Black</vt:lpstr>
      <vt:lpstr>Paperlogy 4 Regular</vt:lpstr>
      <vt:lpstr>Wingdings</vt:lpstr>
      <vt:lpstr>Paperlogy 3 Light</vt:lpstr>
      <vt:lpstr>Paperlogy 7 Bold</vt:lpstr>
      <vt:lpstr>Office 테마</vt:lpstr>
      <vt:lpstr>AI 기반 KCMVP 사전 적합성 검증 도구</vt:lpstr>
      <vt:lpstr>PowerPoint 프레젠테이션</vt:lpstr>
      <vt:lpstr>PowerPoint 프레젠테이션</vt:lpstr>
      <vt:lpstr>1. KCMVP</vt:lpstr>
      <vt:lpstr>2. 기존 KCMVP 검증 절차의 문제</vt:lpstr>
      <vt:lpstr>3. 구현 목표</vt:lpstr>
      <vt:lpstr>4.1. 구체화: AI 룰셋 설계 </vt:lpstr>
      <vt:lpstr>4.2. 구체화: 파이프라인</vt:lpstr>
      <vt:lpstr>4.3. 구체화: 프론트-백엔드 연동 구조 </vt:lpstr>
      <vt:lpstr>5.1. 계획: 일정</vt:lpstr>
      <vt:lpstr>5.2. 계획: 역할 분담</vt:lpstr>
      <vt:lpstr>6. 참고 사이트 정리 </vt:lpstr>
      <vt:lpstr>AI 기반 KCMVP 사전 적합성 검증 도구</vt:lpstr>
      <vt:lpstr>진행 사항 요약: LEA로 진행하기로 함</vt:lpstr>
      <vt:lpstr>진행 사항 요약: LEA로 진행하기로 함</vt:lpstr>
      <vt:lpstr>L1 구체화 </vt:lpstr>
      <vt:lpstr>L1 구체화 코드 부분 (초안)  </vt:lpstr>
      <vt:lpstr>L1 룰셋  구체화 1</vt:lpstr>
      <vt:lpstr>사용할 문서 정리</vt:lpstr>
      <vt:lpstr>화면</vt:lpstr>
      <vt:lpstr>화면</vt:lpstr>
      <vt:lpstr>진행 목표 및 역할 분담</vt:lpstr>
      <vt:lpstr>Q</vt:lpstr>
      <vt:lpstr>AI 기반 KCMVP 사전 적합성 검증 도구</vt:lpstr>
      <vt:lpstr>피드백 진행사항 1</vt:lpstr>
      <vt:lpstr>피드백 진행사항 1</vt:lpstr>
      <vt:lpstr>LEA 룰셋 가이드라인 예시 1  </vt:lpstr>
      <vt:lpstr>LEA 룰셋 가이드라인 예시 2</vt:lpstr>
      <vt:lpstr>LEA 룰셋 가이드라인 예시 3</vt:lpstr>
      <vt:lpstr>설계서 룰셋 가이드라인 예시 1</vt:lpstr>
      <vt:lpstr>설계서 룰셋 가이드라인 예시2 </vt:lpstr>
      <vt:lpstr>설계서 가이드라인 도움이 될만한…</vt:lpstr>
      <vt:lpstr>Notebook LM 1</vt:lpstr>
      <vt:lpstr>Notebook LM 2</vt:lpstr>
      <vt:lpstr>마크다운 뷰어</vt:lpstr>
      <vt:lpstr>진행사항 </vt:lpstr>
      <vt:lpstr>L3 데이터베이스 설계 1</vt:lpstr>
      <vt:lpstr>L3 데이터베이스 설계 2</vt:lpstr>
      <vt:lpstr>테스트용 데이터셋 수집</vt:lpstr>
      <vt:lpstr>AI 기반 KCMVP 사전 적합성 검증 도구</vt:lpstr>
      <vt:lpstr>피드백 개선 및 진행사항 1</vt:lpstr>
      <vt:lpstr>피드백 개선 및 진행사항 1</vt:lpstr>
      <vt:lpstr>일정 목표 수정</vt:lpstr>
      <vt:lpstr>룰셋 설계</vt:lpstr>
      <vt:lpstr>룰셋 설계</vt:lpstr>
      <vt:lpstr>RAG를 위한 데이터베이스 설계</vt:lpstr>
      <vt:lpstr>RAG를 위한 데이터베이스 설계 </vt:lpstr>
      <vt:lpstr>Q: 테스트 문서에 관하여…</vt:lpstr>
      <vt:lpstr>AI 기반 KCMVP 사전 적합성 검증 도구</vt:lpstr>
      <vt:lpstr>진행사항 보고</vt:lpstr>
      <vt:lpstr>다음 진행…</vt:lpstr>
      <vt:lpstr>컨트리뷰션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조수빈</dc:creator>
  <cp:lastModifiedBy>조수빈</cp:lastModifiedBy>
  <cp:revision>50</cp:revision>
  <dcterms:created xsi:type="dcterms:W3CDTF">2026-02-24T15:54:32Z</dcterms:created>
  <dcterms:modified xsi:type="dcterms:W3CDTF">2026-03-16T08:10:59Z</dcterms:modified>
</cp:coreProperties>
</file>